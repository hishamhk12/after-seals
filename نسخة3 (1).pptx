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3" r:id="rId6"/>
    <p:sldId id="264" r:id="rId7"/>
    <p:sldId id="273" r:id="rId8"/>
    <p:sldId id="265" r:id="rId9"/>
    <p:sldId id="266" r:id="rId10"/>
    <p:sldId id="267" r:id="rId11"/>
    <p:sldId id="268" r:id="rId12"/>
    <p:sldId id="274" r:id="rId13"/>
    <p:sldId id="269" r:id="rId14"/>
    <p:sldId id="270" r:id="rId15"/>
    <p:sldId id="272" r:id="rId16"/>
    <p:sldId id="260" r:id="rId17"/>
    <p:sldId id="261" r:id="rId18"/>
    <p:sldId id="262" r:id="rId19"/>
  </p:sldIdLst>
  <p:sldSz cx="18288000" cy="10287000"/>
  <p:notesSz cx="6858000" cy="9144000"/>
  <p:embeddedFontLst>
    <p:embeddedFont>
      <p:font typeface="Calibri" panose="020F0502020204030204" pitchFamily="34" charset="0"/>
      <p:regular r:id="rId20"/>
      <p:bold r:id="rId21"/>
    </p:embeddedFont>
    <p:embeddedFont>
      <p:font typeface="Glacial Indifference" panose="020B0604020202020204" charset="0"/>
      <p:regular r:id="rId22"/>
    </p:embeddedFont>
    <p:embeddedFont>
      <p:font typeface="Glacial Indifference Bold" panose="020B0604020202020204" charset="0"/>
      <p:regular r:id="rId23"/>
    </p:embeddedFont>
    <p:embeddedFont>
      <p:font typeface="Poppins" panose="00000500000000000000" pitchFamily="2" charset="0"/>
      <p:regular r:id="rId24"/>
      <p:bold r:id="rId25"/>
      <p:italic r:id="rId26"/>
      <p:boldItalic r:id="rId27"/>
    </p:embeddedFont>
    <p:embeddedFont>
      <p:font typeface="Poppins Medium" panose="00000600000000000000" pitchFamily="2" charset="0"/>
      <p:regular r:id="rId28"/>
      <p:italic r:id="rId29"/>
    </p:embeddedFont>
    <p:embeddedFont>
      <p:font typeface="Poppins Semi-Bold" panose="020B0604020202020204" charset="0"/>
      <p:regular r:id="rId30"/>
    </p:embeddedFont>
    <p:embeddedFont>
      <p:font typeface="Public Sans Ultra-Bold" panose="020B0604020202020204" charset="0"/>
      <p:regular r:id="rId31"/>
    </p:embeddedFont>
    <p:embeddedFont>
      <p:font typeface="Segoe UI Emoji" panose="020B0502040204020203" pitchFamily="34" charset="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4" d="100"/>
          <a:sy n="54" d="100"/>
        </p:scale>
        <p:origin x="75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20.sv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image" Target="../media/image31.png"/><Relationship Id="rId18" Type="http://schemas.openxmlformats.org/officeDocument/2006/relationships/image" Target="../media/image36.svg"/><Relationship Id="rId26" Type="http://schemas.openxmlformats.org/officeDocument/2006/relationships/image" Target="../media/image44.svg"/><Relationship Id="rId3" Type="http://schemas.openxmlformats.org/officeDocument/2006/relationships/image" Target="../media/image21.png"/><Relationship Id="rId21" Type="http://schemas.openxmlformats.org/officeDocument/2006/relationships/image" Target="../media/image39.png"/><Relationship Id="rId7" Type="http://schemas.openxmlformats.org/officeDocument/2006/relationships/image" Target="../media/image25.png"/><Relationship Id="rId12" Type="http://schemas.openxmlformats.org/officeDocument/2006/relationships/image" Target="../media/image30.svg"/><Relationship Id="rId17" Type="http://schemas.openxmlformats.org/officeDocument/2006/relationships/image" Target="../media/image35.png"/><Relationship Id="rId25" Type="http://schemas.openxmlformats.org/officeDocument/2006/relationships/image" Target="../media/image43.png"/><Relationship Id="rId2" Type="http://schemas.openxmlformats.org/officeDocument/2006/relationships/image" Target="../media/image17.png"/><Relationship Id="rId16" Type="http://schemas.openxmlformats.org/officeDocument/2006/relationships/image" Target="../media/image34.svg"/><Relationship Id="rId20" Type="http://schemas.openxmlformats.org/officeDocument/2006/relationships/image" Target="../media/image38.svg"/><Relationship Id="rId1" Type="http://schemas.openxmlformats.org/officeDocument/2006/relationships/slideLayout" Target="../slideLayouts/slideLayout7.xml"/><Relationship Id="rId6" Type="http://schemas.openxmlformats.org/officeDocument/2006/relationships/image" Target="../media/image24.svg"/><Relationship Id="rId11" Type="http://schemas.openxmlformats.org/officeDocument/2006/relationships/image" Target="../media/image29.png"/><Relationship Id="rId24" Type="http://schemas.openxmlformats.org/officeDocument/2006/relationships/image" Target="../media/image42.svg"/><Relationship Id="rId5" Type="http://schemas.openxmlformats.org/officeDocument/2006/relationships/image" Target="../media/image23.png"/><Relationship Id="rId15" Type="http://schemas.openxmlformats.org/officeDocument/2006/relationships/image" Target="../media/image33.png"/><Relationship Id="rId23" Type="http://schemas.openxmlformats.org/officeDocument/2006/relationships/image" Target="../media/image41.png"/><Relationship Id="rId10" Type="http://schemas.openxmlformats.org/officeDocument/2006/relationships/image" Target="../media/image28.svg"/><Relationship Id="rId19" Type="http://schemas.openxmlformats.org/officeDocument/2006/relationships/image" Target="../media/image37.png"/><Relationship Id="rId4" Type="http://schemas.openxmlformats.org/officeDocument/2006/relationships/image" Target="../media/image22.svg"/><Relationship Id="rId9" Type="http://schemas.openxmlformats.org/officeDocument/2006/relationships/image" Target="../media/image27.png"/><Relationship Id="rId14" Type="http://schemas.openxmlformats.org/officeDocument/2006/relationships/image" Target="../media/image32.svg"/><Relationship Id="rId22" Type="http://schemas.openxmlformats.org/officeDocument/2006/relationships/image" Target="../media/image40.svg"/></Relationships>
</file>

<file path=ppt/slides/_rels/slide18.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Layout" Target="../slideLayouts/slideLayout7.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231711" y="-290778"/>
            <a:ext cx="2173071" cy="3519029"/>
            <a:chOff x="0" y="0"/>
            <a:chExt cx="1212880" cy="1964114"/>
          </a:xfrm>
        </p:grpSpPr>
        <p:sp>
          <p:nvSpPr>
            <p:cNvPr id="3" name="Freeform 3"/>
            <p:cNvSpPr/>
            <p:nvPr/>
          </p:nvSpPr>
          <p:spPr>
            <a:xfrm>
              <a:off x="0" y="0"/>
              <a:ext cx="1212880" cy="1964114"/>
            </a:xfrm>
            <a:custGeom>
              <a:avLst/>
              <a:gdLst/>
              <a:ahLst/>
              <a:cxnLst/>
              <a:rect l="l" t="t" r="r" b="b"/>
              <a:pathLst>
                <a:path w="1212880" h="1964114">
                  <a:moveTo>
                    <a:pt x="89067" y="0"/>
                  </a:moveTo>
                  <a:lnTo>
                    <a:pt x="1123813" y="0"/>
                  </a:lnTo>
                  <a:cubicBezTo>
                    <a:pt x="1147435" y="0"/>
                    <a:pt x="1170090" y="9384"/>
                    <a:pt x="1186793" y="26087"/>
                  </a:cubicBezTo>
                  <a:cubicBezTo>
                    <a:pt x="1203496" y="42790"/>
                    <a:pt x="1212880" y="65445"/>
                    <a:pt x="1212880" y="89067"/>
                  </a:cubicBezTo>
                  <a:lnTo>
                    <a:pt x="1212880" y="1875047"/>
                  </a:lnTo>
                  <a:cubicBezTo>
                    <a:pt x="1212880" y="1898669"/>
                    <a:pt x="1203496" y="1921324"/>
                    <a:pt x="1186793" y="1938027"/>
                  </a:cubicBezTo>
                  <a:cubicBezTo>
                    <a:pt x="1170090" y="1954730"/>
                    <a:pt x="1147435" y="1964114"/>
                    <a:pt x="1123813" y="1964114"/>
                  </a:cubicBezTo>
                  <a:lnTo>
                    <a:pt x="89067" y="1964114"/>
                  </a:lnTo>
                  <a:cubicBezTo>
                    <a:pt x="65445" y="1964114"/>
                    <a:pt x="42790" y="1954730"/>
                    <a:pt x="26087" y="1938027"/>
                  </a:cubicBezTo>
                  <a:cubicBezTo>
                    <a:pt x="9384" y="1921324"/>
                    <a:pt x="0" y="1898669"/>
                    <a:pt x="0" y="1875047"/>
                  </a:cubicBezTo>
                  <a:lnTo>
                    <a:pt x="0" y="89067"/>
                  </a:lnTo>
                  <a:cubicBezTo>
                    <a:pt x="0" y="65445"/>
                    <a:pt x="9384" y="42790"/>
                    <a:pt x="26087" y="26087"/>
                  </a:cubicBezTo>
                  <a:cubicBezTo>
                    <a:pt x="42790" y="9384"/>
                    <a:pt x="65445" y="0"/>
                    <a:pt x="89067" y="0"/>
                  </a:cubicBezTo>
                  <a:close/>
                </a:path>
              </a:pathLst>
            </a:custGeom>
            <a:solidFill>
              <a:srgbClr val="1960BD"/>
            </a:solidFill>
          </p:spPr>
        </p:sp>
        <p:sp>
          <p:nvSpPr>
            <p:cNvPr id="4" name="TextBox 4"/>
            <p:cNvSpPr txBox="1"/>
            <p:nvPr/>
          </p:nvSpPr>
          <p:spPr>
            <a:xfrm>
              <a:off x="0" y="-66675"/>
              <a:ext cx="1212880" cy="2030789"/>
            </a:xfrm>
            <a:prstGeom prst="rect">
              <a:avLst/>
            </a:prstGeom>
          </p:spPr>
          <p:txBody>
            <a:bodyPr lIns="50800" tIns="50800" rIns="50800" bIns="50800" rtlCol="0" anchor="ctr"/>
            <a:lstStyle/>
            <a:p>
              <a:pPr algn="ctr">
                <a:lnSpc>
                  <a:spcPts val="3005"/>
                </a:lnSpc>
              </a:pPr>
              <a:endParaRPr/>
            </a:p>
          </p:txBody>
        </p:sp>
      </p:grpSp>
      <p:grpSp>
        <p:nvGrpSpPr>
          <p:cNvPr id="5" name="Group 5"/>
          <p:cNvGrpSpPr/>
          <p:nvPr/>
        </p:nvGrpSpPr>
        <p:grpSpPr>
          <a:xfrm rot="-5400000">
            <a:off x="15605893" y="1957062"/>
            <a:ext cx="2173071" cy="3997386"/>
            <a:chOff x="0" y="0"/>
            <a:chExt cx="1212880" cy="2231105"/>
          </a:xfrm>
        </p:grpSpPr>
        <p:sp>
          <p:nvSpPr>
            <p:cNvPr id="6" name="Freeform 6"/>
            <p:cNvSpPr/>
            <p:nvPr/>
          </p:nvSpPr>
          <p:spPr>
            <a:xfrm>
              <a:off x="0" y="0"/>
              <a:ext cx="1212880" cy="2231105"/>
            </a:xfrm>
            <a:custGeom>
              <a:avLst/>
              <a:gdLst/>
              <a:ahLst/>
              <a:cxnLst/>
              <a:rect l="l" t="t" r="r" b="b"/>
              <a:pathLst>
                <a:path w="1212880" h="2231105">
                  <a:moveTo>
                    <a:pt x="89067" y="0"/>
                  </a:moveTo>
                  <a:lnTo>
                    <a:pt x="1123813" y="0"/>
                  </a:lnTo>
                  <a:cubicBezTo>
                    <a:pt x="1147435" y="0"/>
                    <a:pt x="1170090" y="9384"/>
                    <a:pt x="1186793" y="26087"/>
                  </a:cubicBezTo>
                  <a:cubicBezTo>
                    <a:pt x="1203496" y="42790"/>
                    <a:pt x="1212880" y="65445"/>
                    <a:pt x="1212880" y="89067"/>
                  </a:cubicBezTo>
                  <a:lnTo>
                    <a:pt x="1212880" y="2142038"/>
                  </a:lnTo>
                  <a:cubicBezTo>
                    <a:pt x="1212880" y="2165660"/>
                    <a:pt x="1203496" y="2188314"/>
                    <a:pt x="1186793" y="2205018"/>
                  </a:cubicBezTo>
                  <a:cubicBezTo>
                    <a:pt x="1170090" y="2221721"/>
                    <a:pt x="1147435" y="2231105"/>
                    <a:pt x="1123813" y="2231105"/>
                  </a:cubicBezTo>
                  <a:lnTo>
                    <a:pt x="89067" y="2231105"/>
                  </a:lnTo>
                  <a:cubicBezTo>
                    <a:pt x="65445" y="2231105"/>
                    <a:pt x="42790" y="2221721"/>
                    <a:pt x="26087" y="2205018"/>
                  </a:cubicBezTo>
                  <a:cubicBezTo>
                    <a:pt x="9384" y="2188314"/>
                    <a:pt x="0" y="2165660"/>
                    <a:pt x="0" y="2142038"/>
                  </a:cubicBezTo>
                  <a:lnTo>
                    <a:pt x="0" y="89067"/>
                  </a:lnTo>
                  <a:cubicBezTo>
                    <a:pt x="0" y="65445"/>
                    <a:pt x="9384" y="42790"/>
                    <a:pt x="26087" y="26087"/>
                  </a:cubicBezTo>
                  <a:cubicBezTo>
                    <a:pt x="42790" y="9384"/>
                    <a:pt x="65445" y="0"/>
                    <a:pt x="89067" y="0"/>
                  </a:cubicBezTo>
                  <a:close/>
                </a:path>
              </a:pathLst>
            </a:custGeom>
            <a:solidFill>
              <a:srgbClr val="1960BD"/>
            </a:solidFill>
          </p:spPr>
        </p:sp>
        <p:sp>
          <p:nvSpPr>
            <p:cNvPr id="7" name="TextBox 7"/>
            <p:cNvSpPr txBox="1"/>
            <p:nvPr/>
          </p:nvSpPr>
          <p:spPr>
            <a:xfrm>
              <a:off x="0" y="-66675"/>
              <a:ext cx="1212880" cy="2297780"/>
            </a:xfrm>
            <a:prstGeom prst="rect">
              <a:avLst/>
            </a:prstGeom>
          </p:spPr>
          <p:txBody>
            <a:bodyPr lIns="50800" tIns="50800" rIns="50800" bIns="50800" rtlCol="0" anchor="ctr"/>
            <a:lstStyle/>
            <a:p>
              <a:pPr algn="ctr">
                <a:lnSpc>
                  <a:spcPts val="3005"/>
                </a:lnSpc>
              </a:pPr>
              <a:endParaRPr/>
            </a:p>
          </p:txBody>
        </p:sp>
      </p:grpSp>
      <p:grpSp>
        <p:nvGrpSpPr>
          <p:cNvPr id="8" name="Group 8"/>
          <p:cNvGrpSpPr/>
          <p:nvPr/>
        </p:nvGrpSpPr>
        <p:grpSpPr>
          <a:xfrm>
            <a:off x="13607200" y="-290778"/>
            <a:ext cx="2173071" cy="3519029"/>
            <a:chOff x="0" y="0"/>
            <a:chExt cx="1212880" cy="1964114"/>
          </a:xfrm>
        </p:grpSpPr>
        <p:sp>
          <p:nvSpPr>
            <p:cNvPr id="9" name="Freeform 9"/>
            <p:cNvSpPr/>
            <p:nvPr/>
          </p:nvSpPr>
          <p:spPr>
            <a:xfrm>
              <a:off x="0" y="0"/>
              <a:ext cx="1212880" cy="1964114"/>
            </a:xfrm>
            <a:custGeom>
              <a:avLst/>
              <a:gdLst/>
              <a:ahLst/>
              <a:cxnLst/>
              <a:rect l="l" t="t" r="r" b="b"/>
              <a:pathLst>
                <a:path w="1212880" h="1964114">
                  <a:moveTo>
                    <a:pt x="89067" y="0"/>
                  </a:moveTo>
                  <a:lnTo>
                    <a:pt x="1123813" y="0"/>
                  </a:lnTo>
                  <a:cubicBezTo>
                    <a:pt x="1147435" y="0"/>
                    <a:pt x="1170090" y="9384"/>
                    <a:pt x="1186793" y="26087"/>
                  </a:cubicBezTo>
                  <a:cubicBezTo>
                    <a:pt x="1203496" y="42790"/>
                    <a:pt x="1212880" y="65445"/>
                    <a:pt x="1212880" y="89067"/>
                  </a:cubicBezTo>
                  <a:lnTo>
                    <a:pt x="1212880" y="1875047"/>
                  </a:lnTo>
                  <a:cubicBezTo>
                    <a:pt x="1212880" y="1898669"/>
                    <a:pt x="1203496" y="1921324"/>
                    <a:pt x="1186793" y="1938027"/>
                  </a:cubicBezTo>
                  <a:cubicBezTo>
                    <a:pt x="1170090" y="1954730"/>
                    <a:pt x="1147435" y="1964114"/>
                    <a:pt x="1123813" y="1964114"/>
                  </a:cubicBezTo>
                  <a:lnTo>
                    <a:pt x="89067" y="1964114"/>
                  </a:lnTo>
                  <a:cubicBezTo>
                    <a:pt x="65445" y="1964114"/>
                    <a:pt x="42790" y="1954730"/>
                    <a:pt x="26087" y="1938027"/>
                  </a:cubicBezTo>
                  <a:cubicBezTo>
                    <a:pt x="9384" y="1921324"/>
                    <a:pt x="0" y="1898669"/>
                    <a:pt x="0" y="1875047"/>
                  </a:cubicBezTo>
                  <a:lnTo>
                    <a:pt x="0" y="89067"/>
                  </a:lnTo>
                  <a:cubicBezTo>
                    <a:pt x="0" y="65445"/>
                    <a:pt x="9384" y="42790"/>
                    <a:pt x="26087" y="26087"/>
                  </a:cubicBezTo>
                  <a:cubicBezTo>
                    <a:pt x="42790" y="9384"/>
                    <a:pt x="65445" y="0"/>
                    <a:pt x="89067" y="0"/>
                  </a:cubicBezTo>
                  <a:close/>
                </a:path>
              </a:pathLst>
            </a:custGeom>
            <a:solidFill>
              <a:srgbClr val="1960BD"/>
            </a:solidFill>
          </p:spPr>
        </p:sp>
        <p:sp>
          <p:nvSpPr>
            <p:cNvPr id="10" name="TextBox 10"/>
            <p:cNvSpPr txBox="1"/>
            <p:nvPr/>
          </p:nvSpPr>
          <p:spPr>
            <a:xfrm>
              <a:off x="0" y="-66675"/>
              <a:ext cx="1212880" cy="2030789"/>
            </a:xfrm>
            <a:prstGeom prst="rect">
              <a:avLst/>
            </a:prstGeom>
          </p:spPr>
          <p:txBody>
            <a:bodyPr lIns="50800" tIns="50800" rIns="50800" bIns="50800" rtlCol="0" anchor="ctr"/>
            <a:lstStyle/>
            <a:p>
              <a:pPr algn="ctr">
                <a:lnSpc>
                  <a:spcPts val="3005"/>
                </a:lnSpc>
              </a:pPr>
              <a:endParaRPr/>
            </a:p>
          </p:txBody>
        </p:sp>
      </p:grpSp>
      <p:grpSp>
        <p:nvGrpSpPr>
          <p:cNvPr id="11" name="Group 11"/>
          <p:cNvGrpSpPr/>
          <p:nvPr/>
        </p:nvGrpSpPr>
        <p:grpSpPr>
          <a:xfrm rot="-5400000">
            <a:off x="15605893" y="4332552"/>
            <a:ext cx="2173071" cy="3997386"/>
            <a:chOff x="0" y="0"/>
            <a:chExt cx="1212880" cy="2231105"/>
          </a:xfrm>
        </p:grpSpPr>
        <p:sp>
          <p:nvSpPr>
            <p:cNvPr id="12" name="Freeform 12"/>
            <p:cNvSpPr/>
            <p:nvPr/>
          </p:nvSpPr>
          <p:spPr>
            <a:xfrm>
              <a:off x="0" y="0"/>
              <a:ext cx="1212880" cy="2231105"/>
            </a:xfrm>
            <a:custGeom>
              <a:avLst/>
              <a:gdLst/>
              <a:ahLst/>
              <a:cxnLst/>
              <a:rect l="l" t="t" r="r" b="b"/>
              <a:pathLst>
                <a:path w="1212880" h="2231105">
                  <a:moveTo>
                    <a:pt x="89067" y="0"/>
                  </a:moveTo>
                  <a:lnTo>
                    <a:pt x="1123813" y="0"/>
                  </a:lnTo>
                  <a:cubicBezTo>
                    <a:pt x="1147435" y="0"/>
                    <a:pt x="1170090" y="9384"/>
                    <a:pt x="1186793" y="26087"/>
                  </a:cubicBezTo>
                  <a:cubicBezTo>
                    <a:pt x="1203496" y="42790"/>
                    <a:pt x="1212880" y="65445"/>
                    <a:pt x="1212880" y="89067"/>
                  </a:cubicBezTo>
                  <a:lnTo>
                    <a:pt x="1212880" y="2142038"/>
                  </a:lnTo>
                  <a:cubicBezTo>
                    <a:pt x="1212880" y="2165660"/>
                    <a:pt x="1203496" y="2188314"/>
                    <a:pt x="1186793" y="2205018"/>
                  </a:cubicBezTo>
                  <a:cubicBezTo>
                    <a:pt x="1170090" y="2221721"/>
                    <a:pt x="1147435" y="2231105"/>
                    <a:pt x="1123813" y="2231105"/>
                  </a:cubicBezTo>
                  <a:lnTo>
                    <a:pt x="89067" y="2231105"/>
                  </a:lnTo>
                  <a:cubicBezTo>
                    <a:pt x="65445" y="2231105"/>
                    <a:pt x="42790" y="2221721"/>
                    <a:pt x="26087" y="2205018"/>
                  </a:cubicBezTo>
                  <a:cubicBezTo>
                    <a:pt x="9384" y="2188314"/>
                    <a:pt x="0" y="2165660"/>
                    <a:pt x="0" y="2142038"/>
                  </a:cubicBezTo>
                  <a:lnTo>
                    <a:pt x="0" y="89067"/>
                  </a:lnTo>
                  <a:cubicBezTo>
                    <a:pt x="0" y="65445"/>
                    <a:pt x="9384" y="42790"/>
                    <a:pt x="26087" y="26087"/>
                  </a:cubicBezTo>
                  <a:cubicBezTo>
                    <a:pt x="42790" y="9384"/>
                    <a:pt x="65445" y="0"/>
                    <a:pt x="89067" y="0"/>
                  </a:cubicBezTo>
                  <a:close/>
                </a:path>
              </a:pathLst>
            </a:custGeom>
            <a:solidFill>
              <a:srgbClr val="1960BD"/>
            </a:solidFill>
          </p:spPr>
        </p:sp>
        <p:sp>
          <p:nvSpPr>
            <p:cNvPr id="13" name="TextBox 13"/>
            <p:cNvSpPr txBox="1"/>
            <p:nvPr/>
          </p:nvSpPr>
          <p:spPr>
            <a:xfrm>
              <a:off x="0" y="-66675"/>
              <a:ext cx="1212880" cy="2297780"/>
            </a:xfrm>
            <a:prstGeom prst="rect">
              <a:avLst/>
            </a:prstGeom>
          </p:spPr>
          <p:txBody>
            <a:bodyPr lIns="50800" tIns="50800" rIns="50800" bIns="50800" rtlCol="0" anchor="ctr"/>
            <a:lstStyle/>
            <a:p>
              <a:pPr algn="ctr">
                <a:lnSpc>
                  <a:spcPts val="3005"/>
                </a:lnSpc>
              </a:pPr>
              <a:endParaRPr/>
            </a:p>
          </p:txBody>
        </p:sp>
      </p:grpSp>
      <p:grpSp>
        <p:nvGrpSpPr>
          <p:cNvPr id="14" name="Group 14"/>
          <p:cNvGrpSpPr/>
          <p:nvPr/>
        </p:nvGrpSpPr>
        <p:grpSpPr>
          <a:xfrm>
            <a:off x="13607200" y="5870843"/>
            <a:ext cx="2173071" cy="4838003"/>
            <a:chOff x="0" y="0"/>
            <a:chExt cx="1212880" cy="2700287"/>
          </a:xfrm>
        </p:grpSpPr>
        <p:sp>
          <p:nvSpPr>
            <p:cNvPr id="15" name="Freeform 15"/>
            <p:cNvSpPr/>
            <p:nvPr/>
          </p:nvSpPr>
          <p:spPr>
            <a:xfrm>
              <a:off x="0" y="0"/>
              <a:ext cx="1212880" cy="2700287"/>
            </a:xfrm>
            <a:custGeom>
              <a:avLst/>
              <a:gdLst/>
              <a:ahLst/>
              <a:cxnLst/>
              <a:rect l="l" t="t" r="r" b="b"/>
              <a:pathLst>
                <a:path w="1212880" h="2700287">
                  <a:moveTo>
                    <a:pt x="89067" y="0"/>
                  </a:moveTo>
                  <a:lnTo>
                    <a:pt x="1123813" y="0"/>
                  </a:lnTo>
                  <a:cubicBezTo>
                    <a:pt x="1147435" y="0"/>
                    <a:pt x="1170090" y="9384"/>
                    <a:pt x="1186793" y="26087"/>
                  </a:cubicBezTo>
                  <a:cubicBezTo>
                    <a:pt x="1203496" y="42790"/>
                    <a:pt x="1212880" y="65445"/>
                    <a:pt x="1212880" y="89067"/>
                  </a:cubicBezTo>
                  <a:lnTo>
                    <a:pt x="1212880" y="2611221"/>
                  </a:lnTo>
                  <a:cubicBezTo>
                    <a:pt x="1212880" y="2634843"/>
                    <a:pt x="1203496" y="2657497"/>
                    <a:pt x="1186793" y="2674200"/>
                  </a:cubicBezTo>
                  <a:cubicBezTo>
                    <a:pt x="1170090" y="2690904"/>
                    <a:pt x="1147435" y="2700287"/>
                    <a:pt x="1123813" y="2700287"/>
                  </a:cubicBezTo>
                  <a:lnTo>
                    <a:pt x="89067" y="2700287"/>
                  </a:lnTo>
                  <a:cubicBezTo>
                    <a:pt x="65445" y="2700287"/>
                    <a:pt x="42790" y="2690904"/>
                    <a:pt x="26087" y="2674200"/>
                  </a:cubicBezTo>
                  <a:cubicBezTo>
                    <a:pt x="9384" y="2657497"/>
                    <a:pt x="0" y="2634843"/>
                    <a:pt x="0" y="2611221"/>
                  </a:cubicBezTo>
                  <a:lnTo>
                    <a:pt x="0" y="89067"/>
                  </a:lnTo>
                  <a:cubicBezTo>
                    <a:pt x="0" y="65445"/>
                    <a:pt x="9384" y="42790"/>
                    <a:pt x="26087" y="26087"/>
                  </a:cubicBezTo>
                  <a:cubicBezTo>
                    <a:pt x="42790" y="9384"/>
                    <a:pt x="65445" y="0"/>
                    <a:pt x="89067" y="0"/>
                  </a:cubicBezTo>
                  <a:close/>
                </a:path>
              </a:pathLst>
            </a:custGeom>
            <a:solidFill>
              <a:srgbClr val="1960BD"/>
            </a:solidFill>
          </p:spPr>
        </p:sp>
        <p:sp>
          <p:nvSpPr>
            <p:cNvPr id="16" name="TextBox 16"/>
            <p:cNvSpPr txBox="1"/>
            <p:nvPr/>
          </p:nvSpPr>
          <p:spPr>
            <a:xfrm>
              <a:off x="0" y="-66675"/>
              <a:ext cx="1212880" cy="2766962"/>
            </a:xfrm>
            <a:prstGeom prst="rect">
              <a:avLst/>
            </a:prstGeom>
          </p:spPr>
          <p:txBody>
            <a:bodyPr lIns="50800" tIns="50800" rIns="50800" bIns="50800" rtlCol="0" anchor="ctr"/>
            <a:lstStyle/>
            <a:p>
              <a:pPr algn="ctr">
                <a:lnSpc>
                  <a:spcPts val="3005"/>
                </a:lnSpc>
              </a:pPr>
              <a:endParaRPr/>
            </a:p>
          </p:txBody>
        </p:sp>
      </p:grpSp>
      <p:grpSp>
        <p:nvGrpSpPr>
          <p:cNvPr id="17" name="Group 17"/>
          <p:cNvGrpSpPr/>
          <p:nvPr/>
        </p:nvGrpSpPr>
        <p:grpSpPr>
          <a:xfrm>
            <a:off x="11231711" y="5870843"/>
            <a:ext cx="2173071" cy="4838003"/>
            <a:chOff x="0" y="0"/>
            <a:chExt cx="1212880" cy="2700287"/>
          </a:xfrm>
        </p:grpSpPr>
        <p:sp>
          <p:nvSpPr>
            <p:cNvPr id="18" name="Freeform 18"/>
            <p:cNvSpPr/>
            <p:nvPr/>
          </p:nvSpPr>
          <p:spPr>
            <a:xfrm>
              <a:off x="0" y="0"/>
              <a:ext cx="1212880" cy="2700287"/>
            </a:xfrm>
            <a:custGeom>
              <a:avLst/>
              <a:gdLst/>
              <a:ahLst/>
              <a:cxnLst/>
              <a:rect l="l" t="t" r="r" b="b"/>
              <a:pathLst>
                <a:path w="1212880" h="2700287">
                  <a:moveTo>
                    <a:pt x="89067" y="0"/>
                  </a:moveTo>
                  <a:lnTo>
                    <a:pt x="1123813" y="0"/>
                  </a:lnTo>
                  <a:cubicBezTo>
                    <a:pt x="1147435" y="0"/>
                    <a:pt x="1170090" y="9384"/>
                    <a:pt x="1186793" y="26087"/>
                  </a:cubicBezTo>
                  <a:cubicBezTo>
                    <a:pt x="1203496" y="42790"/>
                    <a:pt x="1212880" y="65445"/>
                    <a:pt x="1212880" y="89067"/>
                  </a:cubicBezTo>
                  <a:lnTo>
                    <a:pt x="1212880" y="2611221"/>
                  </a:lnTo>
                  <a:cubicBezTo>
                    <a:pt x="1212880" y="2634843"/>
                    <a:pt x="1203496" y="2657497"/>
                    <a:pt x="1186793" y="2674200"/>
                  </a:cubicBezTo>
                  <a:cubicBezTo>
                    <a:pt x="1170090" y="2690904"/>
                    <a:pt x="1147435" y="2700287"/>
                    <a:pt x="1123813" y="2700287"/>
                  </a:cubicBezTo>
                  <a:lnTo>
                    <a:pt x="89067" y="2700287"/>
                  </a:lnTo>
                  <a:cubicBezTo>
                    <a:pt x="65445" y="2700287"/>
                    <a:pt x="42790" y="2690904"/>
                    <a:pt x="26087" y="2674200"/>
                  </a:cubicBezTo>
                  <a:cubicBezTo>
                    <a:pt x="9384" y="2657497"/>
                    <a:pt x="0" y="2634843"/>
                    <a:pt x="0" y="2611221"/>
                  </a:cubicBezTo>
                  <a:lnTo>
                    <a:pt x="0" y="89067"/>
                  </a:lnTo>
                  <a:cubicBezTo>
                    <a:pt x="0" y="65445"/>
                    <a:pt x="9384" y="42790"/>
                    <a:pt x="26087" y="26087"/>
                  </a:cubicBezTo>
                  <a:cubicBezTo>
                    <a:pt x="42790" y="9384"/>
                    <a:pt x="65445" y="0"/>
                    <a:pt x="89067" y="0"/>
                  </a:cubicBezTo>
                  <a:close/>
                </a:path>
              </a:pathLst>
            </a:custGeom>
            <a:solidFill>
              <a:srgbClr val="1960BD"/>
            </a:solidFill>
          </p:spPr>
        </p:sp>
        <p:sp>
          <p:nvSpPr>
            <p:cNvPr id="19" name="TextBox 19"/>
            <p:cNvSpPr txBox="1"/>
            <p:nvPr/>
          </p:nvSpPr>
          <p:spPr>
            <a:xfrm>
              <a:off x="0" y="-66675"/>
              <a:ext cx="1212880" cy="2766962"/>
            </a:xfrm>
            <a:prstGeom prst="rect">
              <a:avLst/>
            </a:prstGeom>
          </p:spPr>
          <p:txBody>
            <a:bodyPr lIns="50800" tIns="50800" rIns="50800" bIns="50800" rtlCol="0" anchor="ctr"/>
            <a:lstStyle/>
            <a:p>
              <a:pPr algn="ctr">
                <a:lnSpc>
                  <a:spcPts val="3005"/>
                </a:lnSpc>
              </a:pPr>
              <a:endParaRPr/>
            </a:p>
          </p:txBody>
        </p:sp>
      </p:grpSp>
      <p:grpSp>
        <p:nvGrpSpPr>
          <p:cNvPr id="20" name="Group 20"/>
          <p:cNvGrpSpPr/>
          <p:nvPr/>
        </p:nvGrpSpPr>
        <p:grpSpPr>
          <a:xfrm rot="5400000">
            <a:off x="5867450" y="405959"/>
            <a:ext cx="2173071" cy="11850571"/>
            <a:chOff x="0" y="0"/>
            <a:chExt cx="1212880" cy="6614288"/>
          </a:xfrm>
        </p:grpSpPr>
        <p:sp>
          <p:nvSpPr>
            <p:cNvPr id="21" name="Freeform 21"/>
            <p:cNvSpPr/>
            <p:nvPr/>
          </p:nvSpPr>
          <p:spPr>
            <a:xfrm>
              <a:off x="0" y="0"/>
              <a:ext cx="1212880" cy="6614289"/>
            </a:xfrm>
            <a:custGeom>
              <a:avLst/>
              <a:gdLst/>
              <a:ahLst/>
              <a:cxnLst/>
              <a:rect l="l" t="t" r="r" b="b"/>
              <a:pathLst>
                <a:path w="1212880" h="6614289">
                  <a:moveTo>
                    <a:pt x="89067" y="0"/>
                  </a:moveTo>
                  <a:lnTo>
                    <a:pt x="1123813" y="0"/>
                  </a:lnTo>
                  <a:cubicBezTo>
                    <a:pt x="1147435" y="0"/>
                    <a:pt x="1170090" y="9384"/>
                    <a:pt x="1186793" y="26087"/>
                  </a:cubicBezTo>
                  <a:cubicBezTo>
                    <a:pt x="1203496" y="42790"/>
                    <a:pt x="1212880" y="65445"/>
                    <a:pt x="1212880" y="89067"/>
                  </a:cubicBezTo>
                  <a:lnTo>
                    <a:pt x="1212880" y="6525222"/>
                  </a:lnTo>
                  <a:cubicBezTo>
                    <a:pt x="1212880" y="6548844"/>
                    <a:pt x="1203496" y="6571498"/>
                    <a:pt x="1186793" y="6588202"/>
                  </a:cubicBezTo>
                  <a:cubicBezTo>
                    <a:pt x="1170090" y="6604905"/>
                    <a:pt x="1147435" y="6614289"/>
                    <a:pt x="1123813" y="6614289"/>
                  </a:cubicBezTo>
                  <a:lnTo>
                    <a:pt x="89067" y="6614289"/>
                  </a:lnTo>
                  <a:cubicBezTo>
                    <a:pt x="65445" y="6614289"/>
                    <a:pt x="42790" y="6604905"/>
                    <a:pt x="26087" y="6588202"/>
                  </a:cubicBezTo>
                  <a:cubicBezTo>
                    <a:pt x="9384" y="6571498"/>
                    <a:pt x="0" y="6548844"/>
                    <a:pt x="0" y="6525222"/>
                  </a:cubicBezTo>
                  <a:lnTo>
                    <a:pt x="0" y="89067"/>
                  </a:lnTo>
                  <a:cubicBezTo>
                    <a:pt x="0" y="65445"/>
                    <a:pt x="9384" y="42790"/>
                    <a:pt x="26087" y="26087"/>
                  </a:cubicBezTo>
                  <a:cubicBezTo>
                    <a:pt x="42790" y="9384"/>
                    <a:pt x="65445" y="0"/>
                    <a:pt x="89067" y="0"/>
                  </a:cubicBezTo>
                  <a:close/>
                </a:path>
              </a:pathLst>
            </a:custGeom>
            <a:solidFill>
              <a:srgbClr val="1960BD"/>
            </a:solidFill>
          </p:spPr>
        </p:sp>
        <p:sp>
          <p:nvSpPr>
            <p:cNvPr id="22" name="TextBox 22"/>
            <p:cNvSpPr txBox="1"/>
            <p:nvPr/>
          </p:nvSpPr>
          <p:spPr>
            <a:xfrm>
              <a:off x="0" y="-66675"/>
              <a:ext cx="1212880" cy="6680963"/>
            </a:xfrm>
            <a:prstGeom prst="rect">
              <a:avLst/>
            </a:prstGeom>
          </p:spPr>
          <p:txBody>
            <a:bodyPr lIns="50800" tIns="50800" rIns="50800" bIns="50800" rtlCol="0" anchor="ctr"/>
            <a:lstStyle/>
            <a:p>
              <a:pPr algn="ctr">
                <a:lnSpc>
                  <a:spcPts val="3005"/>
                </a:lnSpc>
              </a:pPr>
              <a:endParaRPr/>
            </a:p>
          </p:txBody>
        </p:sp>
      </p:grpSp>
      <p:grpSp>
        <p:nvGrpSpPr>
          <p:cNvPr id="23" name="Group 23"/>
          <p:cNvGrpSpPr/>
          <p:nvPr/>
        </p:nvGrpSpPr>
        <p:grpSpPr>
          <a:xfrm>
            <a:off x="1406422" y="5602925"/>
            <a:ext cx="1456263" cy="1456640"/>
            <a:chOff x="0" y="0"/>
            <a:chExt cx="812800" cy="813010"/>
          </a:xfrm>
        </p:grpSpPr>
        <p:sp>
          <p:nvSpPr>
            <p:cNvPr id="24" name="Freeform 24"/>
            <p:cNvSpPr/>
            <p:nvPr/>
          </p:nvSpPr>
          <p:spPr>
            <a:xfrm>
              <a:off x="0" y="0"/>
              <a:ext cx="812800" cy="813010"/>
            </a:xfrm>
            <a:custGeom>
              <a:avLst/>
              <a:gdLst/>
              <a:ahLst/>
              <a:cxnLst/>
              <a:rect l="l" t="t" r="r" b="b"/>
              <a:pathLst>
                <a:path w="812800" h="813010">
                  <a:moveTo>
                    <a:pt x="132907" y="0"/>
                  </a:moveTo>
                  <a:lnTo>
                    <a:pt x="679893" y="0"/>
                  </a:lnTo>
                  <a:cubicBezTo>
                    <a:pt x="715142" y="0"/>
                    <a:pt x="748947" y="14003"/>
                    <a:pt x="773872" y="38928"/>
                  </a:cubicBezTo>
                  <a:cubicBezTo>
                    <a:pt x="798797" y="63853"/>
                    <a:pt x="812800" y="97658"/>
                    <a:pt x="812800" y="132907"/>
                  </a:cubicBezTo>
                  <a:lnTo>
                    <a:pt x="812800" y="680103"/>
                  </a:lnTo>
                  <a:cubicBezTo>
                    <a:pt x="812800" y="715352"/>
                    <a:pt x="798797" y="749158"/>
                    <a:pt x="773872" y="774083"/>
                  </a:cubicBezTo>
                  <a:cubicBezTo>
                    <a:pt x="748947" y="799008"/>
                    <a:pt x="715142" y="813010"/>
                    <a:pt x="679893" y="813010"/>
                  </a:cubicBezTo>
                  <a:lnTo>
                    <a:pt x="132907" y="813010"/>
                  </a:lnTo>
                  <a:cubicBezTo>
                    <a:pt x="97658" y="813010"/>
                    <a:pt x="63853" y="799008"/>
                    <a:pt x="38928" y="774083"/>
                  </a:cubicBezTo>
                  <a:cubicBezTo>
                    <a:pt x="14003" y="749158"/>
                    <a:pt x="0" y="715352"/>
                    <a:pt x="0" y="680103"/>
                  </a:cubicBezTo>
                  <a:lnTo>
                    <a:pt x="0" y="132907"/>
                  </a:lnTo>
                  <a:cubicBezTo>
                    <a:pt x="0" y="97658"/>
                    <a:pt x="14003" y="63853"/>
                    <a:pt x="38928" y="38928"/>
                  </a:cubicBezTo>
                  <a:cubicBezTo>
                    <a:pt x="63853" y="14003"/>
                    <a:pt x="97658" y="0"/>
                    <a:pt x="132907" y="0"/>
                  </a:cubicBezTo>
                  <a:close/>
                </a:path>
              </a:pathLst>
            </a:custGeom>
            <a:solidFill>
              <a:srgbClr val="FFFFFF"/>
            </a:solidFill>
          </p:spPr>
        </p:sp>
        <p:sp>
          <p:nvSpPr>
            <p:cNvPr id="25" name="TextBox 25"/>
            <p:cNvSpPr txBox="1"/>
            <p:nvPr/>
          </p:nvSpPr>
          <p:spPr>
            <a:xfrm>
              <a:off x="0" y="-66675"/>
              <a:ext cx="812800" cy="879685"/>
            </a:xfrm>
            <a:prstGeom prst="rect">
              <a:avLst/>
            </a:prstGeom>
          </p:spPr>
          <p:txBody>
            <a:bodyPr lIns="50800" tIns="50800" rIns="50800" bIns="50800" rtlCol="0" anchor="ctr"/>
            <a:lstStyle/>
            <a:p>
              <a:pPr algn="ctr">
                <a:lnSpc>
                  <a:spcPts val="3005"/>
                </a:lnSpc>
              </a:pPr>
              <a:endParaRPr/>
            </a:p>
          </p:txBody>
        </p:sp>
      </p:grpSp>
      <p:sp>
        <p:nvSpPr>
          <p:cNvPr id="26" name="Freeform 26"/>
          <p:cNvSpPr/>
          <p:nvPr/>
        </p:nvSpPr>
        <p:spPr>
          <a:xfrm>
            <a:off x="1643704" y="5840396"/>
            <a:ext cx="981698" cy="981698"/>
          </a:xfrm>
          <a:custGeom>
            <a:avLst/>
            <a:gdLst/>
            <a:ahLst/>
            <a:cxnLst/>
            <a:rect l="l" t="t" r="r" b="b"/>
            <a:pathLst>
              <a:path w="981698" h="981698">
                <a:moveTo>
                  <a:pt x="0" y="0"/>
                </a:moveTo>
                <a:lnTo>
                  <a:pt x="981699" y="0"/>
                </a:lnTo>
                <a:lnTo>
                  <a:pt x="981699" y="981698"/>
                </a:lnTo>
                <a:lnTo>
                  <a:pt x="0" y="98169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a:p>
        </p:txBody>
      </p:sp>
      <p:grpSp>
        <p:nvGrpSpPr>
          <p:cNvPr id="27" name="Group 27"/>
          <p:cNvGrpSpPr/>
          <p:nvPr/>
        </p:nvGrpSpPr>
        <p:grpSpPr>
          <a:xfrm>
            <a:off x="13607200" y="1022444"/>
            <a:ext cx="3652100" cy="4019847"/>
            <a:chOff x="0" y="0"/>
            <a:chExt cx="565806" cy="622780"/>
          </a:xfrm>
        </p:grpSpPr>
        <p:sp>
          <p:nvSpPr>
            <p:cNvPr id="28" name="Freeform 28"/>
            <p:cNvSpPr/>
            <p:nvPr/>
          </p:nvSpPr>
          <p:spPr>
            <a:xfrm>
              <a:off x="0" y="0"/>
              <a:ext cx="565806" cy="622780"/>
            </a:xfrm>
            <a:custGeom>
              <a:avLst/>
              <a:gdLst/>
              <a:ahLst/>
              <a:cxnLst/>
              <a:rect l="l" t="t" r="r" b="b"/>
              <a:pathLst>
                <a:path w="565806" h="622780">
                  <a:moveTo>
                    <a:pt x="63596" y="0"/>
                  </a:moveTo>
                  <a:lnTo>
                    <a:pt x="502210" y="0"/>
                  </a:lnTo>
                  <a:cubicBezTo>
                    <a:pt x="537333" y="0"/>
                    <a:pt x="565806" y="28473"/>
                    <a:pt x="565806" y="63596"/>
                  </a:cubicBezTo>
                  <a:lnTo>
                    <a:pt x="565806" y="559184"/>
                  </a:lnTo>
                  <a:cubicBezTo>
                    <a:pt x="565806" y="594307"/>
                    <a:pt x="537333" y="622780"/>
                    <a:pt x="502210" y="622780"/>
                  </a:cubicBezTo>
                  <a:lnTo>
                    <a:pt x="63596" y="622780"/>
                  </a:lnTo>
                  <a:cubicBezTo>
                    <a:pt x="28473" y="622780"/>
                    <a:pt x="0" y="594307"/>
                    <a:pt x="0" y="559184"/>
                  </a:cubicBezTo>
                  <a:lnTo>
                    <a:pt x="0" y="63596"/>
                  </a:lnTo>
                  <a:cubicBezTo>
                    <a:pt x="0" y="28473"/>
                    <a:pt x="28473" y="0"/>
                    <a:pt x="63596" y="0"/>
                  </a:cubicBezTo>
                  <a:close/>
                </a:path>
              </a:pathLst>
            </a:custGeom>
            <a:blipFill>
              <a:blip r:embed="rId4"/>
              <a:stretch>
                <a:fillRect l="-5034" r="-5034"/>
              </a:stretch>
            </a:blipFill>
          </p:spPr>
        </p:sp>
      </p:grpSp>
      <p:grpSp>
        <p:nvGrpSpPr>
          <p:cNvPr id="29" name="Group 29"/>
          <p:cNvGrpSpPr/>
          <p:nvPr/>
        </p:nvGrpSpPr>
        <p:grpSpPr>
          <a:xfrm>
            <a:off x="9752682" y="1022444"/>
            <a:ext cx="3652100" cy="4019847"/>
            <a:chOff x="0" y="0"/>
            <a:chExt cx="565806" cy="622780"/>
          </a:xfrm>
        </p:grpSpPr>
        <p:sp>
          <p:nvSpPr>
            <p:cNvPr id="30" name="Freeform 30"/>
            <p:cNvSpPr/>
            <p:nvPr/>
          </p:nvSpPr>
          <p:spPr>
            <a:xfrm>
              <a:off x="0" y="0"/>
              <a:ext cx="565806" cy="622780"/>
            </a:xfrm>
            <a:custGeom>
              <a:avLst/>
              <a:gdLst/>
              <a:ahLst/>
              <a:cxnLst/>
              <a:rect l="l" t="t" r="r" b="b"/>
              <a:pathLst>
                <a:path w="565806" h="622780">
                  <a:moveTo>
                    <a:pt x="63596" y="0"/>
                  </a:moveTo>
                  <a:lnTo>
                    <a:pt x="502210" y="0"/>
                  </a:lnTo>
                  <a:cubicBezTo>
                    <a:pt x="537333" y="0"/>
                    <a:pt x="565806" y="28473"/>
                    <a:pt x="565806" y="63596"/>
                  </a:cubicBezTo>
                  <a:lnTo>
                    <a:pt x="565806" y="559184"/>
                  </a:lnTo>
                  <a:cubicBezTo>
                    <a:pt x="565806" y="594307"/>
                    <a:pt x="537333" y="622780"/>
                    <a:pt x="502210" y="622780"/>
                  </a:cubicBezTo>
                  <a:lnTo>
                    <a:pt x="63596" y="622780"/>
                  </a:lnTo>
                  <a:cubicBezTo>
                    <a:pt x="28473" y="622780"/>
                    <a:pt x="0" y="594307"/>
                    <a:pt x="0" y="559184"/>
                  </a:cubicBezTo>
                  <a:lnTo>
                    <a:pt x="0" y="63596"/>
                  </a:lnTo>
                  <a:cubicBezTo>
                    <a:pt x="0" y="28473"/>
                    <a:pt x="28473" y="0"/>
                    <a:pt x="63596" y="0"/>
                  </a:cubicBezTo>
                  <a:close/>
                </a:path>
              </a:pathLst>
            </a:custGeom>
            <a:blipFill>
              <a:blip r:embed="rId5"/>
              <a:stretch>
                <a:fillRect l="-5034" r="-5034"/>
              </a:stretch>
            </a:blipFill>
          </p:spPr>
        </p:sp>
      </p:grpSp>
      <p:grpSp>
        <p:nvGrpSpPr>
          <p:cNvPr id="31" name="Group 31"/>
          <p:cNvGrpSpPr/>
          <p:nvPr/>
        </p:nvGrpSpPr>
        <p:grpSpPr>
          <a:xfrm>
            <a:off x="13607200" y="5244709"/>
            <a:ext cx="3652100" cy="4013591"/>
            <a:chOff x="0" y="0"/>
            <a:chExt cx="565806" cy="621810"/>
          </a:xfrm>
        </p:grpSpPr>
        <p:sp>
          <p:nvSpPr>
            <p:cNvPr id="32" name="Freeform 32"/>
            <p:cNvSpPr/>
            <p:nvPr/>
          </p:nvSpPr>
          <p:spPr>
            <a:xfrm>
              <a:off x="0" y="0"/>
              <a:ext cx="565806" cy="621810"/>
            </a:xfrm>
            <a:custGeom>
              <a:avLst/>
              <a:gdLst/>
              <a:ahLst/>
              <a:cxnLst/>
              <a:rect l="l" t="t" r="r" b="b"/>
              <a:pathLst>
                <a:path w="565806" h="621810">
                  <a:moveTo>
                    <a:pt x="63596" y="0"/>
                  </a:moveTo>
                  <a:lnTo>
                    <a:pt x="502210" y="0"/>
                  </a:lnTo>
                  <a:cubicBezTo>
                    <a:pt x="537333" y="0"/>
                    <a:pt x="565806" y="28473"/>
                    <a:pt x="565806" y="63596"/>
                  </a:cubicBezTo>
                  <a:lnTo>
                    <a:pt x="565806" y="558215"/>
                  </a:lnTo>
                  <a:cubicBezTo>
                    <a:pt x="565806" y="593338"/>
                    <a:pt x="537333" y="621810"/>
                    <a:pt x="502210" y="621810"/>
                  </a:cubicBezTo>
                  <a:lnTo>
                    <a:pt x="63596" y="621810"/>
                  </a:lnTo>
                  <a:cubicBezTo>
                    <a:pt x="28473" y="621810"/>
                    <a:pt x="0" y="593338"/>
                    <a:pt x="0" y="558215"/>
                  </a:cubicBezTo>
                  <a:lnTo>
                    <a:pt x="0" y="63596"/>
                  </a:lnTo>
                  <a:cubicBezTo>
                    <a:pt x="0" y="28473"/>
                    <a:pt x="28473" y="0"/>
                    <a:pt x="63596" y="0"/>
                  </a:cubicBezTo>
                  <a:close/>
                </a:path>
              </a:pathLst>
            </a:custGeom>
            <a:blipFill>
              <a:blip r:embed="rId6"/>
              <a:stretch>
                <a:fillRect r="-9898"/>
              </a:stretch>
            </a:blipFill>
          </p:spPr>
        </p:sp>
      </p:grpSp>
      <p:grpSp>
        <p:nvGrpSpPr>
          <p:cNvPr id="33" name="Group 33"/>
          <p:cNvGrpSpPr/>
          <p:nvPr/>
        </p:nvGrpSpPr>
        <p:grpSpPr>
          <a:xfrm rot="5400000">
            <a:off x="4950990" y="3880886"/>
            <a:ext cx="1455124" cy="9299704"/>
            <a:chOff x="0" y="0"/>
            <a:chExt cx="392999" cy="2511661"/>
          </a:xfrm>
        </p:grpSpPr>
        <p:sp>
          <p:nvSpPr>
            <p:cNvPr id="34" name="Freeform 34"/>
            <p:cNvSpPr/>
            <p:nvPr/>
          </p:nvSpPr>
          <p:spPr>
            <a:xfrm>
              <a:off x="0" y="0"/>
              <a:ext cx="392999" cy="2511661"/>
            </a:xfrm>
            <a:custGeom>
              <a:avLst/>
              <a:gdLst/>
              <a:ahLst/>
              <a:cxnLst/>
              <a:rect l="l" t="t" r="r" b="b"/>
              <a:pathLst>
                <a:path w="392999" h="2511661">
                  <a:moveTo>
                    <a:pt x="79807" y="0"/>
                  </a:moveTo>
                  <a:lnTo>
                    <a:pt x="313193" y="0"/>
                  </a:lnTo>
                  <a:cubicBezTo>
                    <a:pt x="357269" y="0"/>
                    <a:pt x="392999" y="35731"/>
                    <a:pt x="392999" y="79807"/>
                  </a:cubicBezTo>
                  <a:lnTo>
                    <a:pt x="392999" y="2431854"/>
                  </a:lnTo>
                  <a:cubicBezTo>
                    <a:pt x="392999" y="2453020"/>
                    <a:pt x="384591" y="2473319"/>
                    <a:pt x="369625" y="2488286"/>
                  </a:cubicBezTo>
                  <a:cubicBezTo>
                    <a:pt x="354658" y="2503253"/>
                    <a:pt x="334359" y="2511661"/>
                    <a:pt x="313193" y="2511661"/>
                  </a:cubicBezTo>
                  <a:lnTo>
                    <a:pt x="79807" y="2511661"/>
                  </a:lnTo>
                  <a:cubicBezTo>
                    <a:pt x="35731" y="2511661"/>
                    <a:pt x="0" y="2475930"/>
                    <a:pt x="0" y="2431854"/>
                  </a:cubicBezTo>
                  <a:lnTo>
                    <a:pt x="0" y="79807"/>
                  </a:lnTo>
                  <a:cubicBezTo>
                    <a:pt x="0" y="35731"/>
                    <a:pt x="35731" y="0"/>
                    <a:pt x="79807" y="0"/>
                  </a:cubicBezTo>
                  <a:close/>
                </a:path>
              </a:pathLst>
            </a:custGeom>
            <a:solidFill>
              <a:srgbClr val="E0E0E0"/>
            </a:solidFill>
          </p:spPr>
        </p:sp>
        <p:sp>
          <p:nvSpPr>
            <p:cNvPr id="35" name="TextBox 35"/>
            <p:cNvSpPr txBox="1"/>
            <p:nvPr/>
          </p:nvSpPr>
          <p:spPr>
            <a:xfrm>
              <a:off x="0" y="-57150"/>
              <a:ext cx="392999" cy="2568811"/>
            </a:xfrm>
            <a:prstGeom prst="rect">
              <a:avLst/>
            </a:prstGeom>
          </p:spPr>
          <p:txBody>
            <a:bodyPr lIns="52178" tIns="52178" rIns="52178" bIns="52178" rtlCol="0" anchor="ctr"/>
            <a:lstStyle/>
            <a:p>
              <a:pPr algn="ctr">
                <a:lnSpc>
                  <a:spcPts val="3250"/>
                </a:lnSpc>
              </a:pPr>
              <a:endParaRPr/>
            </a:p>
          </p:txBody>
        </p:sp>
      </p:grpSp>
      <p:grpSp>
        <p:nvGrpSpPr>
          <p:cNvPr id="36" name="Group 36"/>
          <p:cNvGrpSpPr/>
          <p:nvPr/>
        </p:nvGrpSpPr>
        <p:grpSpPr>
          <a:xfrm>
            <a:off x="9752682" y="5244709"/>
            <a:ext cx="3652100" cy="4013591"/>
            <a:chOff x="0" y="0"/>
            <a:chExt cx="565806" cy="621810"/>
          </a:xfrm>
        </p:grpSpPr>
        <p:sp>
          <p:nvSpPr>
            <p:cNvPr id="37" name="Freeform 37"/>
            <p:cNvSpPr/>
            <p:nvPr/>
          </p:nvSpPr>
          <p:spPr>
            <a:xfrm>
              <a:off x="0" y="0"/>
              <a:ext cx="565806" cy="621810"/>
            </a:xfrm>
            <a:custGeom>
              <a:avLst/>
              <a:gdLst/>
              <a:ahLst/>
              <a:cxnLst/>
              <a:rect l="l" t="t" r="r" b="b"/>
              <a:pathLst>
                <a:path w="565806" h="621810">
                  <a:moveTo>
                    <a:pt x="63596" y="0"/>
                  </a:moveTo>
                  <a:lnTo>
                    <a:pt x="502210" y="0"/>
                  </a:lnTo>
                  <a:cubicBezTo>
                    <a:pt x="537333" y="0"/>
                    <a:pt x="565806" y="28473"/>
                    <a:pt x="565806" y="63596"/>
                  </a:cubicBezTo>
                  <a:lnTo>
                    <a:pt x="565806" y="558215"/>
                  </a:lnTo>
                  <a:cubicBezTo>
                    <a:pt x="565806" y="593338"/>
                    <a:pt x="537333" y="621810"/>
                    <a:pt x="502210" y="621810"/>
                  </a:cubicBezTo>
                  <a:lnTo>
                    <a:pt x="63596" y="621810"/>
                  </a:lnTo>
                  <a:cubicBezTo>
                    <a:pt x="28473" y="621810"/>
                    <a:pt x="0" y="593338"/>
                    <a:pt x="0" y="558215"/>
                  </a:cubicBezTo>
                  <a:lnTo>
                    <a:pt x="0" y="63596"/>
                  </a:lnTo>
                  <a:cubicBezTo>
                    <a:pt x="0" y="28473"/>
                    <a:pt x="28473" y="0"/>
                    <a:pt x="63596" y="0"/>
                  </a:cubicBezTo>
                  <a:close/>
                </a:path>
              </a:pathLst>
            </a:custGeom>
            <a:blipFill>
              <a:blip r:embed="rId7"/>
              <a:stretch>
                <a:fillRect l="-4949" r="-4949"/>
              </a:stretch>
            </a:blipFill>
          </p:spPr>
        </p:sp>
      </p:grpSp>
      <p:grpSp>
        <p:nvGrpSpPr>
          <p:cNvPr id="38" name="Group 38"/>
          <p:cNvGrpSpPr/>
          <p:nvPr/>
        </p:nvGrpSpPr>
        <p:grpSpPr>
          <a:xfrm>
            <a:off x="11558873" y="3230657"/>
            <a:ext cx="3825685" cy="3825685"/>
            <a:chOff x="0" y="0"/>
            <a:chExt cx="812800" cy="812800"/>
          </a:xfrm>
        </p:grpSpPr>
        <p:sp>
          <p:nvSpPr>
            <p:cNvPr id="39" name="Freeform 3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40" name="TextBox 40"/>
            <p:cNvSpPr txBox="1"/>
            <p:nvPr/>
          </p:nvSpPr>
          <p:spPr>
            <a:xfrm>
              <a:off x="76200" y="19050"/>
              <a:ext cx="660400" cy="717550"/>
            </a:xfrm>
            <a:prstGeom prst="rect">
              <a:avLst/>
            </a:prstGeom>
          </p:spPr>
          <p:txBody>
            <a:bodyPr lIns="50800" tIns="50800" rIns="50800" bIns="50800" rtlCol="0" anchor="ctr"/>
            <a:lstStyle/>
            <a:p>
              <a:pPr algn="ctr">
                <a:lnSpc>
                  <a:spcPts val="3250"/>
                </a:lnSpc>
              </a:pPr>
              <a:endParaRPr/>
            </a:p>
          </p:txBody>
        </p:sp>
      </p:grpSp>
      <p:grpSp>
        <p:nvGrpSpPr>
          <p:cNvPr id="41" name="Group 41"/>
          <p:cNvGrpSpPr/>
          <p:nvPr/>
        </p:nvGrpSpPr>
        <p:grpSpPr>
          <a:xfrm>
            <a:off x="11742743" y="3414528"/>
            <a:ext cx="3457944" cy="3457944"/>
            <a:chOff x="0" y="0"/>
            <a:chExt cx="812800" cy="812800"/>
          </a:xfrm>
        </p:grpSpPr>
        <p:sp>
          <p:nvSpPr>
            <p:cNvPr id="42" name="Freeform 4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l="-6663" r="-73075"/>
              </a:stretch>
            </a:blipFill>
          </p:spPr>
        </p:sp>
      </p:grpSp>
      <p:sp>
        <p:nvSpPr>
          <p:cNvPr id="43" name="AutoShape 43"/>
          <p:cNvSpPr/>
          <p:nvPr/>
        </p:nvSpPr>
        <p:spPr>
          <a:xfrm flipH="1" flipV="1">
            <a:off x="3874364" y="7930627"/>
            <a:ext cx="0" cy="1200222"/>
          </a:xfrm>
          <a:prstGeom prst="line">
            <a:avLst/>
          </a:prstGeom>
          <a:ln w="19050" cap="flat">
            <a:solidFill>
              <a:srgbClr val="1E1E1E"/>
            </a:solidFill>
            <a:prstDash val="solid"/>
            <a:headEnd type="none" w="sm" len="sm"/>
            <a:tailEnd type="none" w="sm" len="sm"/>
          </a:ln>
        </p:spPr>
        <p:txBody>
          <a:bodyPr/>
          <a:lstStyle/>
          <a:p>
            <a:endParaRPr/>
          </a:p>
        </p:txBody>
      </p:sp>
      <p:sp>
        <p:nvSpPr>
          <p:cNvPr id="44" name="AutoShape 44"/>
          <p:cNvSpPr/>
          <p:nvPr/>
        </p:nvSpPr>
        <p:spPr>
          <a:xfrm flipH="1" flipV="1">
            <a:off x="6631271" y="7930627"/>
            <a:ext cx="0" cy="1200222"/>
          </a:xfrm>
          <a:prstGeom prst="line">
            <a:avLst/>
          </a:prstGeom>
          <a:ln w="19050" cap="flat">
            <a:solidFill>
              <a:srgbClr val="1E1E1E"/>
            </a:solidFill>
            <a:prstDash val="solid"/>
            <a:headEnd type="none" w="sm" len="sm"/>
            <a:tailEnd type="none" w="sm" len="sm"/>
          </a:ln>
        </p:spPr>
        <p:txBody>
          <a:bodyPr/>
          <a:lstStyle/>
          <a:p>
            <a:endParaRPr/>
          </a:p>
        </p:txBody>
      </p:sp>
      <p:sp>
        <p:nvSpPr>
          <p:cNvPr id="45" name="Freeform 45"/>
          <p:cNvSpPr/>
          <p:nvPr/>
        </p:nvSpPr>
        <p:spPr>
          <a:xfrm>
            <a:off x="349660" y="0"/>
            <a:ext cx="2181091" cy="2026597"/>
          </a:xfrm>
          <a:custGeom>
            <a:avLst/>
            <a:gdLst/>
            <a:ahLst/>
            <a:cxnLst/>
            <a:rect l="l" t="t" r="r" b="b"/>
            <a:pathLst>
              <a:path w="2181091" h="2026597">
                <a:moveTo>
                  <a:pt x="0" y="0"/>
                </a:moveTo>
                <a:lnTo>
                  <a:pt x="2181090" y="0"/>
                </a:lnTo>
                <a:lnTo>
                  <a:pt x="2181090" y="2026597"/>
                </a:lnTo>
                <a:lnTo>
                  <a:pt x="0" y="2026597"/>
                </a:lnTo>
                <a:lnTo>
                  <a:pt x="0" y="0"/>
                </a:lnTo>
                <a:close/>
              </a:path>
            </a:pathLst>
          </a:custGeom>
          <a:blipFill>
            <a:blip r:embed="rId9"/>
            <a:stretch>
              <a:fillRect/>
            </a:stretch>
          </a:blipFill>
        </p:spPr>
        <p:txBody>
          <a:bodyPr/>
          <a:lstStyle/>
          <a:p>
            <a:endParaRPr/>
          </a:p>
        </p:txBody>
      </p:sp>
      <p:sp>
        <p:nvSpPr>
          <p:cNvPr id="46" name="TextBox 46"/>
          <p:cNvSpPr txBox="1"/>
          <p:nvPr/>
        </p:nvSpPr>
        <p:spPr>
          <a:xfrm>
            <a:off x="-1287663" y="2264068"/>
            <a:ext cx="10497077" cy="1487587"/>
          </a:xfrm>
          <a:prstGeom prst="rect">
            <a:avLst/>
          </a:prstGeom>
        </p:spPr>
        <p:txBody>
          <a:bodyPr lIns="0" tIns="0" rIns="0" bIns="0" rtlCol="0" anchor="t">
            <a:spAutoFit/>
          </a:bodyPr>
          <a:lstStyle/>
          <a:p>
            <a:pPr algn="r" rtl="1">
              <a:lnSpc>
                <a:spcPts val="11567"/>
              </a:lnSpc>
            </a:pPr>
            <a:r>
              <a:rPr lang="ar-EG" sz="7200" dirty="0">
                <a:solidFill>
                  <a:srgbClr val="1960BD"/>
                </a:solidFill>
                <a:latin typeface="Glacial Indifference"/>
                <a:ea typeface="Glacial Indifference"/>
                <a:sym typeface="Glacial Indifference"/>
                <a:rtl/>
              </a:rPr>
              <a:t>تطوير خدمات ما بعد البيع</a:t>
            </a:r>
          </a:p>
        </p:txBody>
      </p:sp>
      <p:sp>
        <p:nvSpPr>
          <p:cNvPr id="47" name="TextBox 47"/>
          <p:cNvSpPr txBox="1"/>
          <p:nvPr/>
        </p:nvSpPr>
        <p:spPr>
          <a:xfrm>
            <a:off x="3309284" y="5411203"/>
            <a:ext cx="5996798" cy="2519424"/>
          </a:xfrm>
          <a:prstGeom prst="rect">
            <a:avLst/>
          </a:prstGeom>
        </p:spPr>
        <p:txBody>
          <a:bodyPr lIns="0" tIns="0" rIns="0" bIns="0" rtlCol="0" anchor="t">
            <a:spAutoFit/>
          </a:bodyPr>
          <a:lstStyle/>
          <a:p>
            <a:pPr algn="r">
              <a:lnSpc>
                <a:spcPts val="4984"/>
              </a:lnSpc>
            </a:pPr>
            <a:r>
              <a:rPr lang="ar-EG" sz="3560" b="1" dirty="0">
                <a:solidFill>
                  <a:srgbClr val="FFFFFF"/>
                </a:solidFill>
                <a:latin typeface="Poppins Medium"/>
                <a:ea typeface="Poppins Medium"/>
                <a:sym typeface="Poppins Medium"/>
                <a:rtl/>
              </a:rPr>
              <a:t>تطوير رحلة خدمة متكاملة من طلب العميل حتى إغلاق الخدمة</a:t>
            </a:r>
          </a:p>
          <a:p>
            <a:pPr algn="r">
              <a:lnSpc>
                <a:spcPts val="4984"/>
              </a:lnSpc>
            </a:pPr>
            <a:endParaRPr lang="ar-EG" sz="3560" b="1" dirty="0">
              <a:solidFill>
                <a:srgbClr val="FFFFFF"/>
              </a:solidFill>
              <a:latin typeface="Poppins Medium"/>
              <a:ea typeface="Poppins Medium"/>
              <a:cs typeface="Poppins Medium"/>
              <a:sym typeface="Poppins Medium"/>
              <a:rtl/>
            </a:endParaRPr>
          </a:p>
          <a:p>
            <a:pPr algn="r">
              <a:lnSpc>
                <a:spcPts val="4984"/>
              </a:lnSpc>
            </a:pPr>
            <a:endParaRPr lang="ar-EG" sz="3560" b="1" dirty="0">
              <a:solidFill>
                <a:srgbClr val="FFFFFF"/>
              </a:solidFill>
              <a:latin typeface="Poppins Medium"/>
              <a:ea typeface="Poppins Medium"/>
              <a:cs typeface="Poppins Medium"/>
              <a:sym typeface="Poppins Medium"/>
              <a:rtl/>
            </a:endParaRPr>
          </a:p>
        </p:txBody>
      </p:sp>
      <p:sp>
        <p:nvSpPr>
          <p:cNvPr id="48" name="TextBox 48"/>
          <p:cNvSpPr txBox="1"/>
          <p:nvPr/>
        </p:nvSpPr>
        <p:spPr>
          <a:xfrm>
            <a:off x="1421698" y="8075336"/>
            <a:ext cx="2218103" cy="863120"/>
          </a:xfrm>
          <a:prstGeom prst="rect">
            <a:avLst/>
          </a:prstGeom>
        </p:spPr>
        <p:txBody>
          <a:bodyPr lIns="0" tIns="0" rIns="0" bIns="0" rtlCol="0" anchor="t">
            <a:spAutoFit/>
          </a:bodyPr>
          <a:lstStyle/>
          <a:p>
            <a:pPr marL="354920" lvl="1" indent="-177460" algn="r" rtl="1">
              <a:lnSpc>
                <a:spcPts val="2301"/>
              </a:lnSpc>
              <a:buFont typeface="Arial"/>
              <a:buChar char="•"/>
            </a:pPr>
            <a:r>
              <a:rPr lang="ar-EG" sz="1643" b="1" dirty="0">
                <a:solidFill>
                  <a:srgbClr val="1E1E1E"/>
                </a:solidFill>
                <a:latin typeface="Poppins Medium"/>
                <a:ea typeface="Poppins Medium"/>
                <a:sym typeface="Poppins Medium"/>
                <a:rtl/>
              </a:rPr>
              <a:t>تنظيم العمليات</a:t>
            </a:r>
          </a:p>
          <a:p>
            <a:pPr marL="354920" lvl="1" indent="-177460" algn="r" rtl="1">
              <a:lnSpc>
                <a:spcPts val="2301"/>
              </a:lnSpc>
              <a:buFont typeface="Arial"/>
              <a:buChar char="•"/>
            </a:pPr>
            <a:r>
              <a:rPr lang="ar-EG" sz="1643" b="1" dirty="0">
                <a:solidFill>
                  <a:srgbClr val="1E1E1E"/>
                </a:solidFill>
                <a:latin typeface="Poppins Medium"/>
                <a:ea typeface="Poppins Medium"/>
                <a:sym typeface="Poppins Medium"/>
                <a:rtl/>
              </a:rPr>
              <a:t>توحيد الإجراءات</a:t>
            </a:r>
          </a:p>
          <a:p>
            <a:pPr algn="r" rtl="1">
              <a:lnSpc>
                <a:spcPts val="2301"/>
              </a:lnSpc>
            </a:pPr>
            <a:endParaRPr lang="ar-EG" sz="1643" b="1" dirty="0">
              <a:solidFill>
                <a:srgbClr val="1E1E1E"/>
              </a:solidFill>
              <a:latin typeface="Poppins Medium"/>
              <a:ea typeface="Poppins Medium"/>
              <a:sym typeface="Poppins Medium"/>
              <a:rtl/>
            </a:endParaRPr>
          </a:p>
        </p:txBody>
      </p:sp>
      <p:sp>
        <p:nvSpPr>
          <p:cNvPr id="49" name="TextBox 49"/>
          <p:cNvSpPr txBox="1"/>
          <p:nvPr/>
        </p:nvSpPr>
        <p:spPr>
          <a:xfrm>
            <a:off x="4179164" y="8075336"/>
            <a:ext cx="2221393" cy="863120"/>
          </a:xfrm>
          <a:prstGeom prst="rect">
            <a:avLst/>
          </a:prstGeom>
        </p:spPr>
        <p:txBody>
          <a:bodyPr lIns="0" tIns="0" rIns="0" bIns="0" rtlCol="0" anchor="t">
            <a:spAutoFit/>
          </a:bodyPr>
          <a:lstStyle/>
          <a:p>
            <a:pPr marL="354920" lvl="1" indent="-177460" algn="r" rtl="1">
              <a:lnSpc>
                <a:spcPts val="2301"/>
              </a:lnSpc>
              <a:buFont typeface="Arial"/>
              <a:buChar char="•"/>
            </a:pPr>
            <a:r>
              <a:rPr lang="ar-EG" sz="1643" b="1" dirty="0">
                <a:solidFill>
                  <a:srgbClr val="1E1E1E"/>
                </a:solidFill>
                <a:latin typeface="Poppins Medium"/>
                <a:ea typeface="Poppins Medium"/>
                <a:sym typeface="Poppins Medium"/>
                <a:rtl/>
              </a:rPr>
              <a:t>تحسين تجربة العميل</a:t>
            </a:r>
          </a:p>
          <a:p>
            <a:pPr marL="354920" lvl="1" indent="-177460" algn="r" rtl="1">
              <a:lnSpc>
                <a:spcPts val="2301"/>
              </a:lnSpc>
              <a:buFont typeface="Arial"/>
              <a:buChar char="•"/>
            </a:pPr>
            <a:r>
              <a:rPr lang="ar-EG" sz="1643" b="1" dirty="0">
                <a:solidFill>
                  <a:srgbClr val="1E1E1E"/>
                </a:solidFill>
                <a:latin typeface="Poppins Medium"/>
                <a:ea typeface="Poppins Medium"/>
                <a:sym typeface="Poppins Medium"/>
                <a:rtl/>
              </a:rPr>
              <a:t>تسريع تنفيذ الخدمة</a:t>
            </a:r>
          </a:p>
          <a:p>
            <a:pPr algn="r" rtl="1">
              <a:lnSpc>
                <a:spcPts val="2301"/>
              </a:lnSpc>
            </a:pPr>
            <a:endParaRPr lang="ar-EG" sz="1643" b="1" dirty="0">
              <a:solidFill>
                <a:srgbClr val="1E1E1E"/>
              </a:solidFill>
              <a:latin typeface="Poppins Medium"/>
              <a:ea typeface="Poppins Medium"/>
              <a:sym typeface="Poppins Medium"/>
              <a:rtl/>
            </a:endParaRPr>
          </a:p>
        </p:txBody>
      </p:sp>
      <p:sp>
        <p:nvSpPr>
          <p:cNvPr id="50" name="TextBox 50"/>
          <p:cNvSpPr txBox="1"/>
          <p:nvPr/>
        </p:nvSpPr>
        <p:spPr>
          <a:xfrm>
            <a:off x="6939918" y="8075336"/>
            <a:ext cx="2426456" cy="863120"/>
          </a:xfrm>
          <a:prstGeom prst="rect">
            <a:avLst/>
          </a:prstGeom>
        </p:spPr>
        <p:txBody>
          <a:bodyPr lIns="0" tIns="0" rIns="0" bIns="0" rtlCol="0" anchor="t">
            <a:spAutoFit/>
          </a:bodyPr>
          <a:lstStyle/>
          <a:p>
            <a:pPr marL="354920" lvl="1" indent="-177460" algn="r" rtl="1">
              <a:lnSpc>
                <a:spcPts val="2301"/>
              </a:lnSpc>
              <a:buFont typeface="Arial"/>
              <a:buChar char="•"/>
            </a:pPr>
            <a:r>
              <a:rPr lang="ar-EG" sz="1643" b="1" dirty="0">
                <a:solidFill>
                  <a:srgbClr val="1E1E1E"/>
                </a:solidFill>
                <a:latin typeface="Poppins Medium"/>
                <a:ea typeface="Poppins Medium"/>
                <a:sym typeface="Poppins Medium"/>
                <a:rtl/>
              </a:rPr>
              <a:t>رفع كفاءة المتابعة</a:t>
            </a:r>
          </a:p>
          <a:p>
            <a:pPr marL="354920" lvl="1" indent="-177460" algn="r" rtl="1">
              <a:lnSpc>
                <a:spcPts val="2301"/>
              </a:lnSpc>
              <a:buFont typeface="Arial"/>
              <a:buChar char="•"/>
            </a:pPr>
            <a:r>
              <a:rPr lang="ar-EG" sz="1643" b="1" dirty="0">
                <a:solidFill>
                  <a:srgbClr val="1E1E1E"/>
                </a:solidFill>
                <a:latin typeface="Poppins Medium"/>
                <a:ea typeface="Poppins Medium"/>
                <a:sym typeface="Poppins Medium"/>
                <a:rtl/>
              </a:rPr>
              <a:t>وضوح حالة الطلب</a:t>
            </a:r>
          </a:p>
          <a:p>
            <a:pPr algn="r" rtl="1">
              <a:lnSpc>
                <a:spcPts val="2301"/>
              </a:lnSpc>
            </a:pPr>
            <a:endParaRPr lang="ar-EG" sz="1643" b="1" dirty="0">
              <a:solidFill>
                <a:srgbClr val="1E1E1E"/>
              </a:solidFill>
              <a:latin typeface="Poppins Medium"/>
              <a:ea typeface="Poppins Medium"/>
              <a:sym typeface="Poppins Medium"/>
              <a:rt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anim calcmode="lin" valueType="num">
                                      <p:cBhvr>
                                        <p:cTn id="23" dur="1000" fill="hold"/>
                                        <p:tgtEl>
                                          <p:spTgt spid="11"/>
                                        </p:tgtEl>
                                        <p:attrNameLst>
                                          <p:attrName>ppt_x</p:attrName>
                                        </p:attrNameLst>
                                      </p:cBhvr>
                                      <p:tavLst>
                                        <p:tav tm="0">
                                          <p:val>
                                            <p:strVal val="#ppt_x"/>
                                          </p:val>
                                        </p:tav>
                                        <p:tav tm="100000">
                                          <p:val>
                                            <p:strVal val="#ppt_x"/>
                                          </p:val>
                                        </p:tav>
                                      </p:tavLst>
                                    </p:anim>
                                    <p:anim calcmode="lin" valueType="num">
                                      <p:cBhvr>
                                        <p:cTn id="24" dur="1000" fill="hold"/>
                                        <p:tgtEl>
                                          <p:spTgt spid="11"/>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1000"/>
                                        <p:tgtEl>
                                          <p:spTgt spid="14"/>
                                        </p:tgtEl>
                                      </p:cBhvr>
                                    </p:animEffect>
                                    <p:anim calcmode="lin" valueType="num">
                                      <p:cBhvr>
                                        <p:cTn id="28" dur="1000" fill="hold"/>
                                        <p:tgtEl>
                                          <p:spTgt spid="14"/>
                                        </p:tgtEl>
                                        <p:attrNameLst>
                                          <p:attrName>ppt_x</p:attrName>
                                        </p:attrNameLst>
                                      </p:cBhvr>
                                      <p:tavLst>
                                        <p:tav tm="0">
                                          <p:val>
                                            <p:strVal val="#ppt_x"/>
                                          </p:val>
                                        </p:tav>
                                        <p:tav tm="100000">
                                          <p:val>
                                            <p:strVal val="#ppt_x"/>
                                          </p:val>
                                        </p:tav>
                                      </p:tavLst>
                                    </p:anim>
                                    <p:anim calcmode="lin" valueType="num">
                                      <p:cBhvr>
                                        <p:cTn id="29" dur="1000" fill="hold"/>
                                        <p:tgtEl>
                                          <p:spTgt spid="14"/>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1000"/>
                                        <p:tgtEl>
                                          <p:spTgt spid="17"/>
                                        </p:tgtEl>
                                      </p:cBhvr>
                                    </p:animEffect>
                                    <p:anim calcmode="lin" valueType="num">
                                      <p:cBhvr>
                                        <p:cTn id="33" dur="1000" fill="hold"/>
                                        <p:tgtEl>
                                          <p:spTgt spid="17"/>
                                        </p:tgtEl>
                                        <p:attrNameLst>
                                          <p:attrName>ppt_x</p:attrName>
                                        </p:attrNameLst>
                                      </p:cBhvr>
                                      <p:tavLst>
                                        <p:tav tm="0">
                                          <p:val>
                                            <p:strVal val="#ppt_x"/>
                                          </p:val>
                                        </p:tav>
                                        <p:tav tm="100000">
                                          <p:val>
                                            <p:strVal val="#ppt_x"/>
                                          </p:val>
                                        </p:tav>
                                      </p:tavLst>
                                    </p:anim>
                                    <p:anim calcmode="lin" valueType="num">
                                      <p:cBhvr>
                                        <p:cTn id="34" dur="1000" fill="hold"/>
                                        <p:tgtEl>
                                          <p:spTgt spid="17"/>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1000"/>
                                        <p:tgtEl>
                                          <p:spTgt spid="20"/>
                                        </p:tgtEl>
                                      </p:cBhvr>
                                    </p:animEffect>
                                    <p:anim calcmode="lin" valueType="num">
                                      <p:cBhvr>
                                        <p:cTn id="38" dur="1000" fill="hold"/>
                                        <p:tgtEl>
                                          <p:spTgt spid="20"/>
                                        </p:tgtEl>
                                        <p:attrNameLst>
                                          <p:attrName>ppt_x</p:attrName>
                                        </p:attrNameLst>
                                      </p:cBhvr>
                                      <p:tavLst>
                                        <p:tav tm="0">
                                          <p:val>
                                            <p:strVal val="#ppt_x"/>
                                          </p:val>
                                        </p:tav>
                                        <p:tav tm="100000">
                                          <p:val>
                                            <p:strVal val="#ppt_x"/>
                                          </p:val>
                                        </p:tav>
                                      </p:tavLst>
                                    </p:anim>
                                    <p:anim calcmode="lin" valueType="num">
                                      <p:cBhvr>
                                        <p:cTn id="39" dur="1000" fill="hold"/>
                                        <p:tgtEl>
                                          <p:spTgt spid="20"/>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1000"/>
                                        <p:tgtEl>
                                          <p:spTgt spid="23"/>
                                        </p:tgtEl>
                                      </p:cBhvr>
                                    </p:animEffect>
                                    <p:anim calcmode="lin" valueType="num">
                                      <p:cBhvr>
                                        <p:cTn id="43" dur="1000" fill="hold"/>
                                        <p:tgtEl>
                                          <p:spTgt spid="23"/>
                                        </p:tgtEl>
                                        <p:attrNameLst>
                                          <p:attrName>ppt_x</p:attrName>
                                        </p:attrNameLst>
                                      </p:cBhvr>
                                      <p:tavLst>
                                        <p:tav tm="0">
                                          <p:val>
                                            <p:strVal val="#ppt_x"/>
                                          </p:val>
                                        </p:tav>
                                        <p:tav tm="100000">
                                          <p:val>
                                            <p:strVal val="#ppt_x"/>
                                          </p:val>
                                        </p:tav>
                                      </p:tavLst>
                                    </p:anim>
                                    <p:anim calcmode="lin" valueType="num">
                                      <p:cBhvr>
                                        <p:cTn id="44" dur="1000" fill="hold"/>
                                        <p:tgtEl>
                                          <p:spTgt spid="23"/>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1000"/>
                                        <p:tgtEl>
                                          <p:spTgt spid="26"/>
                                        </p:tgtEl>
                                      </p:cBhvr>
                                    </p:animEffect>
                                    <p:anim calcmode="lin" valueType="num">
                                      <p:cBhvr>
                                        <p:cTn id="48" dur="1000" fill="hold"/>
                                        <p:tgtEl>
                                          <p:spTgt spid="26"/>
                                        </p:tgtEl>
                                        <p:attrNameLst>
                                          <p:attrName>ppt_x</p:attrName>
                                        </p:attrNameLst>
                                      </p:cBhvr>
                                      <p:tavLst>
                                        <p:tav tm="0">
                                          <p:val>
                                            <p:strVal val="#ppt_x"/>
                                          </p:val>
                                        </p:tav>
                                        <p:tav tm="100000">
                                          <p:val>
                                            <p:strVal val="#ppt_x"/>
                                          </p:val>
                                        </p:tav>
                                      </p:tavLst>
                                    </p:anim>
                                    <p:anim calcmode="lin" valueType="num">
                                      <p:cBhvr>
                                        <p:cTn id="49" dur="1000" fill="hold"/>
                                        <p:tgtEl>
                                          <p:spTgt spid="26"/>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1000"/>
                                        <p:tgtEl>
                                          <p:spTgt spid="27"/>
                                        </p:tgtEl>
                                      </p:cBhvr>
                                    </p:animEffect>
                                    <p:anim calcmode="lin" valueType="num">
                                      <p:cBhvr>
                                        <p:cTn id="53" dur="1000" fill="hold"/>
                                        <p:tgtEl>
                                          <p:spTgt spid="27"/>
                                        </p:tgtEl>
                                        <p:attrNameLst>
                                          <p:attrName>ppt_x</p:attrName>
                                        </p:attrNameLst>
                                      </p:cBhvr>
                                      <p:tavLst>
                                        <p:tav tm="0">
                                          <p:val>
                                            <p:strVal val="#ppt_x"/>
                                          </p:val>
                                        </p:tav>
                                        <p:tav tm="100000">
                                          <p:val>
                                            <p:strVal val="#ppt_x"/>
                                          </p:val>
                                        </p:tav>
                                      </p:tavLst>
                                    </p:anim>
                                    <p:anim calcmode="lin" valueType="num">
                                      <p:cBhvr>
                                        <p:cTn id="54" dur="1000" fill="hold"/>
                                        <p:tgtEl>
                                          <p:spTgt spid="27"/>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1000"/>
                                        <p:tgtEl>
                                          <p:spTgt spid="29"/>
                                        </p:tgtEl>
                                      </p:cBhvr>
                                    </p:animEffect>
                                    <p:anim calcmode="lin" valueType="num">
                                      <p:cBhvr>
                                        <p:cTn id="58" dur="1000" fill="hold"/>
                                        <p:tgtEl>
                                          <p:spTgt spid="29"/>
                                        </p:tgtEl>
                                        <p:attrNameLst>
                                          <p:attrName>ppt_x</p:attrName>
                                        </p:attrNameLst>
                                      </p:cBhvr>
                                      <p:tavLst>
                                        <p:tav tm="0">
                                          <p:val>
                                            <p:strVal val="#ppt_x"/>
                                          </p:val>
                                        </p:tav>
                                        <p:tav tm="100000">
                                          <p:val>
                                            <p:strVal val="#ppt_x"/>
                                          </p:val>
                                        </p:tav>
                                      </p:tavLst>
                                    </p:anim>
                                    <p:anim calcmode="lin" valueType="num">
                                      <p:cBhvr>
                                        <p:cTn id="59" dur="1000" fill="hold"/>
                                        <p:tgtEl>
                                          <p:spTgt spid="29"/>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31"/>
                                        </p:tgtEl>
                                        <p:attrNameLst>
                                          <p:attrName>style.visibility</p:attrName>
                                        </p:attrNameLst>
                                      </p:cBhvr>
                                      <p:to>
                                        <p:strVal val="visible"/>
                                      </p:to>
                                    </p:set>
                                    <p:animEffect transition="in" filter="fade">
                                      <p:cBhvr>
                                        <p:cTn id="62" dur="1000"/>
                                        <p:tgtEl>
                                          <p:spTgt spid="31"/>
                                        </p:tgtEl>
                                      </p:cBhvr>
                                    </p:animEffect>
                                    <p:anim calcmode="lin" valueType="num">
                                      <p:cBhvr>
                                        <p:cTn id="63" dur="1000" fill="hold"/>
                                        <p:tgtEl>
                                          <p:spTgt spid="31"/>
                                        </p:tgtEl>
                                        <p:attrNameLst>
                                          <p:attrName>ppt_x</p:attrName>
                                        </p:attrNameLst>
                                      </p:cBhvr>
                                      <p:tavLst>
                                        <p:tav tm="0">
                                          <p:val>
                                            <p:strVal val="#ppt_x"/>
                                          </p:val>
                                        </p:tav>
                                        <p:tav tm="100000">
                                          <p:val>
                                            <p:strVal val="#ppt_x"/>
                                          </p:val>
                                        </p:tav>
                                      </p:tavLst>
                                    </p:anim>
                                    <p:anim calcmode="lin" valueType="num">
                                      <p:cBhvr>
                                        <p:cTn id="64" dur="1000" fill="hold"/>
                                        <p:tgtEl>
                                          <p:spTgt spid="31"/>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fade">
                                      <p:cBhvr>
                                        <p:cTn id="67" dur="1000"/>
                                        <p:tgtEl>
                                          <p:spTgt spid="33"/>
                                        </p:tgtEl>
                                      </p:cBhvr>
                                    </p:animEffect>
                                    <p:anim calcmode="lin" valueType="num">
                                      <p:cBhvr>
                                        <p:cTn id="68" dur="1000" fill="hold"/>
                                        <p:tgtEl>
                                          <p:spTgt spid="33"/>
                                        </p:tgtEl>
                                        <p:attrNameLst>
                                          <p:attrName>ppt_x</p:attrName>
                                        </p:attrNameLst>
                                      </p:cBhvr>
                                      <p:tavLst>
                                        <p:tav tm="0">
                                          <p:val>
                                            <p:strVal val="#ppt_x"/>
                                          </p:val>
                                        </p:tav>
                                        <p:tav tm="100000">
                                          <p:val>
                                            <p:strVal val="#ppt_x"/>
                                          </p:val>
                                        </p:tav>
                                      </p:tavLst>
                                    </p:anim>
                                    <p:anim calcmode="lin" valueType="num">
                                      <p:cBhvr>
                                        <p:cTn id="69" dur="1000" fill="hold"/>
                                        <p:tgtEl>
                                          <p:spTgt spid="33"/>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71" dur="1" fill="hold">
                                          <p:stCondLst>
                                            <p:cond delay="0"/>
                                          </p:stCondLst>
                                        </p:cTn>
                                        <p:tgtEl>
                                          <p:spTgt spid="36"/>
                                        </p:tgtEl>
                                        <p:attrNameLst>
                                          <p:attrName>style.visibility</p:attrName>
                                        </p:attrNameLst>
                                      </p:cBhvr>
                                      <p:to>
                                        <p:strVal val="visible"/>
                                      </p:to>
                                    </p:set>
                                    <p:animEffect transition="in" filter="fade">
                                      <p:cBhvr>
                                        <p:cTn id="72" dur="1000"/>
                                        <p:tgtEl>
                                          <p:spTgt spid="36"/>
                                        </p:tgtEl>
                                      </p:cBhvr>
                                    </p:animEffect>
                                    <p:anim calcmode="lin" valueType="num">
                                      <p:cBhvr>
                                        <p:cTn id="73" dur="1000" fill="hold"/>
                                        <p:tgtEl>
                                          <p:spTgt spid="36"/>
                                        </p:tgtEl>
                                        <p:attrNameLst>
                                          <p:attrName>ppt_x</p:attrName>
                                        </p:attrNameLst>
                                      </p:cBhvr>
                                      <p:tavLst>
                                        <p:tav tm="0">
                                          <p:val>
                                            <p:strVal val="#ppt_x"/>
                                          </p:val>
                                        </p:tav>
                                        <p:tav tm="100000">
                                          <p:val>
                                            <p:strVal val="#ppt_x"/>
                                          </p:val>
                                        </p:tav>
                                      </p:tavLst>
                                    </p:anim>
                                    <p:anim calcmode="lin" valueType="num">
                                      <p:cBhvr>
                                        <p:cTn id="74" dur="1000" fill="hold"/>
                                        <p:tgtEl>
                                          <p:spTgt spid="36"/>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38"/>
                                        </p:tgtEl>
                                        <p:attrNameLst>
                                          <p:attrName>style.visibility</p:attrName>
                                        </p:attrNameLst>
                                      </p:cBhvr>
                                      <p:to>
                                        <p:strVal val="visible"/>
                                      </p:to>
                                    </p:set>
                                    <p:animEffect transition="in" filter="fade">
                                      <p:cBhvr>
                                        <p:cTn id="77" dur="1000"/>
                                        <p:tgtEl>
                                          <p:spTgt spid="38"/>
                                        </p:tgtEl>
                                      </p:cBhvr>
                                    </p:animEffect>
                                    <p:anim calcmode="lin" valueType="num">
                                      <p:cBhvr>
                                        <p:cTn id="78" dur="1000" fill="hold"/>
                                        <p:tgtEl>
                                          <p:spTgt spid="38"/>
                                        </p:tgtEl>
                                        <p:attrNameLst>
                                          <p:attrName>ppt_x</p:attrName>
                                        </p:attrNameLst>
                                      </p:cBhvr>
                                      <p:tavLst>
                                        <p:tav tm="0">
                                          <p:val>
                                            <p:strVal val="#ppt_x"/>
                                          </p:val>
                                        </p:tav>
                                        <p:tav tm="100000">
                                          <p:val>
                                            <p:strVal val="#ppt_x"/>
                                          </p:val>
                                        </p:tav>
                                      </p:tavLst>
                                    </p:anim>
                                    <p:anim calcmode="lin" valueType="num">
                                      <p:cBhvr>
                                        <p:cTn id="79" dur="1000" fill="hold"/>
                                        <p:tgtEl>
                                          <p:spTgt spid="38"/>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0"/>
                                  </p:stCondLst>
                                  <p:childTnLst>
                                    <p:set>
                                      <p:cBhvr>
                                        <p:cTn id="81" dur="1" fill="hold">
                                          <p:stCondLst>
                                            <p:cond delay="0"/>
                                          </p:stCondLst>
                                        </p:cTn>
                                        <p:tgtEl>
                                          <p:spTgt spid="41"/>
                                        </p:tgtEl>
                                        <p:attrNameLst>
                                          <p:attrName>style.visibility</p:attrName>
                                        </p:attrNameLst>
                                      </p:cBhvr>
                                      <p:to>
                                        <p:strVal val="visible"/>
                                      </p:to>
                                    </p:set>
                                    <p:animEffect transition="in" filter="fade">
                                      <p:cBhvr>
                                        <p:cTn id="82" dur="1000"/>
                                        <p:tgtEl>
                                          <p:spTgt spid="41"/>
                                        </p:tgtEl>
                                      </p:cBhvr>
                                    </p:animEffect>
                                    <p:anim calcmode="lin" valueType="num">
                                      <p:cBhvr>
                                        <p:cTn id="83" dur="1000" fill="hold"/>
                                        <p:tgtEl>
                                          <p:spTgt spid="41"/>
                                        </p:tgtEl>
                                        <p:attrNameLst>
                                          <p:attrName>ppt_x</p:attrName>
                                        </p:attrNameLst>
                                      </p:cBhvr>
                                      <p:tavLst>
                                        <p:tav tm="0">
                                          <p:val>
                                            <p:strVal val="#ppt_x"/>
                                          </p:val>
                                        </p:tav>
                                        <p:tav tm="100000">
                                          <p:val>
                                            <p:strVal val="#ppt_x"/>
                                          </p:val>
                                        </p:tav>
                                      </p:tavLst>
                                    </p:anim>
                                    <p:anim calcmode="lin" valueType="num">
                                      <p:cBhvr>
                                        <p:cTn id="84" dur="1000" fill="hold"/>
                                        <p:tgtEl>
                                          <p:spTgt spid="41"/>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0"/>
                                  </p:stCondLst>
                                  <p:childTnLst>
                                    <p:set>
                                      <p:cBhvr>
                                        <p:cTn id="86" dur="1" fill="hold">
                                          <p:stCondLst>
                                            <p:cond delay="0"/>
                                          </p:stCondLst>
                                        </p:cTn>
                                        <p:tgtEl>
                                          <p:spTgt spid="43"/>
                                        </p:tgtEl>
                                        <p:attrNameLst>
                                          <p:attrName>style.visibility</p:attrName>
                                        </p:attrNameLst>
                                      </p:cBhvr>
                                      <p:to>
                                        <p:strVal val="visible"/>
                                      </p:to>
                                    </p:set>
                                    <p:animEffect transition="in" filter="fade">
                                      <p:cBhvr>
                                        <p:cTn id="87" dur="1000"/>
                                        <p:tgtEl>
                                          <p:spTgt spid="43"/>
                                        </p:tgtEl>
                                      </p:cBhvr>
                                    </p:animEffect>
                                    <p:anim calcmode="lin" valueType="num">
                                      <p:cBhvr>
                                        <p:cTn id="88" dur="1000" fill="hold"/>
                                        <p:tgtEl>
                                          <p:spTgt spid="43"/>
                                        </p:tgtEl>
                                        <p:attrNameLst>
                                          <p:attrName>ppt_x</p:attrName>
                                        </p:attrNameLst>
                                      </p:cBhvr>
                                      <p:tavLst>
                                        <p:tav tm="0">
                                          <p:val>
                                            <p:strVal val="#ppt_x"/>
                                          </p:val>
                                        </p:tav>
                                        <p:tav tm="100000">
                                          <p:val>
                                            <p:strVal val="#ppt_x"/>
                                          </p:val>
                                        </p:tav>
                                      </p:tavLst>
                                    </p:anim>
                                    <p:anim calcmode="lin" valueType="num">
                                      <p:cBhvr>
                                        <p:cTn id="89" dur="1000" fill="hold"/>
                                        <p:tgtEl>
                                          <p:spTgt spid="43"/>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0"/>
                                  </p:stCondLst>
                                  <p:childTnLst>
                                    <p:set>
                                      <p:cBhvr>
                                        <p:cTn id="91" dur="1" fill="hold">
                                          <p:stCondLst>
                                            <p:cond delay="0"/>
                                          </p:stCondLst>
                                        </p:cTn>
                                        <p:tgtEl>
                                          <p:spTgt spid="44"/>
                                        </p:tgtEl>
                                        <p:attrNameLst>
                                          <p:attrName>style.visibility</p:attrName>
                                        </p:attrNameLst>
                                      </p:cBhvr>
                                      <p:to>
                                        <p:strVal val="visible"/>
                                      </p:to>
                                    </p:set>
                                    <p:animEffect transition="in" filter="fade">
                                      <p:cBhvr>
                                        <p:cTn id="92" dur="1000"/>
                                        <p:tgtEl>
                                          <p:spTgt spid="44"/>
                                        </p:tgtEl>
                                      </p:cBhvr>
                                    </p:animEffect>
                                    <p:anim calcmode="lin" valueType="num">
                                      <p:cBhvr>
                                        <p:cTn id="93" dur="1000" fill="hold"/>
                                        <p:tgtEl>
                                          <p:spTgt spid="44"/>
                                        </p:tgtEl>
                                        <p:attrNameLst>
                                          <p:attrName>ppt_x</p:attrName>
                                        </p:attrNameLst>
                                      </p:cBhvr>
                                      <p:tavLst>
                                        <p:tav tm="0">
                                          <p:val>
                                            <p:strVal val="#ppt_x"/>
                                          </p:val>
                                        </p:tav>
                                        <p:tav tm="100000">
                                          <p:val>
                                            <p:strVal val="#ppt_x"/>
                                          </p:val>
                                        </p:tav>
                                      </p:tavLst>
                                    </p:anim>
                                    <p:anim calcmode="lin" valueType="num">
                                      <p:cBhvr>
                                        <p:cTn id="94" dur="1000" fill="hold"/>
                                        <p:tgtEl>
                                          <p:spTgt spid="44"/>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0"/>
                                  </p:stCondLst>
                                  <p:childTnLst>
                                    <p:set>
                                      <p:cBhvr>
                                        <p:cTn id="96" dur="1" fill="hold">
                                          <p:stCondLst>
                                            <p:cond delay="0"/>
                                          </p:stCondLst>
                                        </p:cTn>
                                        <p:tgtEl>
                                          <p:spTgt spid="45"/>
                                        </p:tgtEl>
                                        <p:attrNameLst>
                                          <p:attrName>style.visibility</p:attrName>
                                        </p:attrNameLst>
                                      </p:cBhvr>
                                      <p:to>
                                        <p:strVal val="visible"/>
                                      </p:to>
                                    </p:set>
                                    <p:animEffect transition="in" filter="fade">
                                      <p:cBhvr>
                                        <p:cTn id="97" dur="1000"/>
                                        <p:tgtEl>
                                          <p:spTgt spid="45"/>
                                        </p:tgtEl>
                                      </p:cBhvr>
                                    </p:animEffect>
                                    <p:anim calcmode="lin" valueType="num">
                                      <p:cBhvr>
                                        <p:cTn id="98" dur="1000" fill="hold"/>
                                        <p:tgtEl>
                                          <p:spTgt spid="45"/>
                                        </p:tgtEl>
                                        <p:attrNameLst>
                                          <p:attrName>ppt_x</p:attrName>
                                        </p:attrNameLst>
                                      </p:cBhvr>
                                      <p:tavLst>
                                        <p:tav tm="0">
                                          <p:val>
                                            <p:strVal val="#ppt_x"/>
                                          </p:val>
                                        </p:tav>
                                        <p:tav tm="100000">
                                          <p:val>
                                            <p:strVal val="#ppt_x"/>
                                          </p:val>
                                        </p:tav>
                                      </p:tavLst>
                                    </p:anim>
                                    <p:anim calcmode="lin" valueType="num">
                                      <p:cBhvr>
                                        <p:cTn id="99" dur="1000" fill="hold"/>
                                        <p:tgtEl>
                                          <p:spTgt spid="45"/>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46"/>
                                        </p:tgtEl>
                                        <p:attrNameLst>
                                          <p:attrName>style.visibility</p:attrName>
                                        </p:attrNameLst>
                                      </p:cBhvr>
                                      <p:to>
                                        <p:strVal val="visible"/>
                                      </p:to>
                                    </p:set>
                                    <p:animEffect transition="in" filter="fade">
                                      <p:cBhvr>
                                        <p:cTn id="102" dur="1000"/>
                                        <p:tgtEl>
                                          <p:spTgt spid="46"/>
                                        </p:tgtEl>
                                      </p:cBhvr>
                                    </p:animEffect>
                                    <p:anim calcmode="lin" valueType="num">
                                      <p:cBhvr>
                                        <p:cTn id="103" dur="1000" fill="hold"/>
                                        <p:tgtEl>
                                          <p:spTgt spid="46"/>
                                        </p:tgtEl>
                                        <p:attrNameLst>
                                          <p:attrName>ppt_x</p:attrName>
                                        </p:attrNameLst>
                                      </p:cBhvr>
                                      <p:tavLst>
                                        <p:tav tm="0">
                                          <p:val>
                                            <p:strVal val="#ppt_x"/>
                                          </p:val>
                                        </p:tav>
                                        <p:tav tm="100000">
                                          <p:val>
                                            <p:strVal val="#ppt_x"/>
                                          </p:val>
                                        </p:tav>
                                      </p:tavLst>
                                    </p:anim>
                                    <p:anim calcmode="lin" valueType="num">
                                      <p:cBhvr>
                                        <p:cTn id="104" dur="1000" fill="hold"/>
                                        <p:tgtEl>
                                          <p:spTgt spid="46"/>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0"/>
                                  </p:stCondLst>
                                  <p:childTnLst>
                                    <p:set>
                                      <p:cBhvr>
                                        <p:cTn id="106" dur="1" fill="hold">
                                          <p:stCondLst>
                                            <p:cond delay="0"/>
                                          </p:stCondLst>
                                        </p:cTn>
                                        <p:tgtEl>
                                          <p:spTgt spid="47"/>
                                        </p:tgtEl>
                                        <p:attrNameLst>
                                          <p:attrName>style.visibility</p:attrName>
                                        </p:attrNameLst>
                                      </p:cBhvr>
                                      <p:to>
                                        <p:strVal val="visible"/>
                                      </p:to>
                                    </p:set>
                                    <p:animEffect transition="in" filter="fade">
                                      <p:cBhvr>
                                        <p:cTn id="107" dur="1000"/>
                                        <p:tgtEl>
                                          <p:spTgt spid="47"/>
                                        </p:tgtEl>
                                      </p:cBhvr>
                                    </p:animEffect>
                                    <p:anim calcmode="lin" valueType="num">
                                      <p:cBhvr>
                                        <p:cTn id="108" dur="1000" fill="hold"/>
                                        <p:tgtEl>
                                          <p:spTgt spid="47"/>
                                        </p:tgtEl>
                                        <p:attrNameLst>
                                          <p:attrName>ppt_x</p:attrName>
                                        </p:attrNameLst>
                                      </p:cBhvr>
                                      <p:tavLst>
                                        <p:tav tm="0">
                                          <p:val>
                                            <p:strVal val="#ppt_x"/>
                                          </p:val>
                                        </p:tav>
                                        <p:tav tm="100000">
                                          <p:val>
                                            <p:strVal val="#ppt_x"/>
                                          </p:val>
                                        </p:tav>
                                      </p:tavLst>
                                    </p:anim>
                                    <p:anim calcmode="lin" valueType="num">
                                      <p:cBhvr>
                                        <p:cTn id="109" dur="1000" fill="hold"/>
                                        <p:tgtEl>
                                          <p:spTgt spid="47"/>
                                        </p:tgtEl>
                                        <p:attrNameLst>
                                          <p:attrName>ppt_y</p:attrName>
                                        </p:attrNameLst>
                                      </p:cBhvr>
                                      <p:tavLst>
                                        <p:tav tm="0">
                                          <p:val>
                                            <p:strVal val="#ppt_y+.1"/>
                                          </p:val>
                                        </p:tav>
                                        <p:tav tm="100000">
                                          <p:val>
                                            <p:strVal val="#ppt_y"/>
                                          </p:val>
                                        </p:tav>
                                      </p:tavLst>
                                    </p:anim>
                                  </p:childTnLst>
                                </p:cTn>
                              </p:par>
                              <p:par>
                                <p:cTn id="110" presetID="42" presetClass="entr" presetSubtype="0" fill="hold" grpId="0" nodeType="withEffect">
                                  <p:stCondLst>
                                    <p:cond delay="0"/>
                                  </p:stCondLst>
                                  <p:childTnLst>
                                    <p:set>
                                      <p:cBhvr>
                                        <p:cTn id="111" dur="1" fill="hold">
                                          <p:stCondLst>
                                            <p:cond delay="0"/>
                                          </p:stCondLst>
                                        </p:cTn>
                                        <p:tgtEl>
                                          <p:spTgt spid="48"/>
                                        </p:tgtEl>
                                        <p:attrNameLst>
                                          <p:attrName>style.visibility</p:attrName>
                                        </p:attrNameLst>
                                      </p:cBhvr>
                                      <p:to>
                                        <p:strVal val="visible"/>
                                      </p:to>
                                    </p:set>
                                    <p:animEffect transition="in" filter="fade">
                                      <p:cBhvr>
                                        <p:cTn id="112" dur="1000"/>
                                        <p:tgtEl>
                                          <p:spTgt spid="48"/>
                                        </p:tgtEl>
                                      </p:cBhvr>
                                    </p:animEffect>
                                    <p:anim calcmode="lin" valueType="num">
                                      <p:cBhvr>
                                        <p:cTn id="113" dur="1000" fill="hold"/>
                                        <p:tgtEl>
                                          <p:spTgt spid="48"/>
                                        </p:tgtEl>
                                        <p:attrNameLst>
                                          <p:attrName>ppt_x</p:attrName>
                                        </p:attrNameLst>
                                      </p:cBhvr>
                                      <p:tavLst>
                                        <p:tav tm="0">
                                          <p:val>
                                            <p:strVal val="#ppt_x"/>
                                          </p:val>
                                        </p:tav>
                                        <p:tav tm="100000">
                                          <p:val>
                                            <p:strVal val="#ppt_x"/>
                                          </p:val>
                                        </p:tav>
                                      </p:tavLst>
                                    </p:anim>
                                    <p:anim calcmode="lin" valueType="num">
                                      <p:cBhvr>
                                        <p:cTn id="114" dur="1000" fill="hold"/>
                                        <p:tgtEl>
                                          <p:spTgt spid="48"/>
                                        </p:tgtEl>
                                        <p:attrNameLst>
                                          <p:attrName>ppt_y</p:attrName>
                                        </p:attrNameLst>
                                      </p:cBhvr>
                                      <p:tavLst>
                                        <p:tav tm="0">
                                          <p:val>
                                            <p:strVal val="#ppt_y+.1"/>
                                          </p:val>
                                        </p:tav>
                                        <p:tav tm="100000">
                                          <p:val>
                                            <p:strVal val="#ppt_y"/>
                                          </p:val>
                                        </p:tav>
                                      </p:tavLst>
                                    </p:anim>
                                  </p:childTnLst>
                                </p:cTn>
                              </p:par>
                              <p:par>
                                <p:cTn id="115" presetID="42" presetClass="entr" presetSubtype="0" fill="hold" grpId="0" nodeType="withEffect">
                                  <p:stCondLst>
                                    <p:cond delay="0"/>
                                  </p:stCondLst>
                                  <p:childTnLst>
                                    <p:set>
                                      <p:cBhvr>
                                        <p:cTn id="116" dur="1" fill="hold">
                                          <p:stCondLst>
                                            <p:cond delay="0"/>
                                          </p:stCondLst>
                                        </p:cTn>
                                        <p:tgtEl>
                                          <p:spTgt spid="49"/>
                                        </p:tgtEl>
                                        <p:attrNameLst>
                                          <p:attrName>style.visibility</p:attrName>
                                        </p:attrNameLst>
                                      </p:cBhvr>
                                      <p:to>
                                        <p:strVal val="visible"/>
                                      </p:to>
                                    </p:set>
                                    <p:animEffect transition="in" filter="fade">
                                      <p:cBhvr>
                                        <p:cTn id="117" dur="1000"/>
                                        <p:tgtEl>
                                          <p:spTgt spid="49"/>
                                        </p:tgtEl>
                                      </p:cBhvr>
                                    </p:animEffect>
                                    <p:anim calcmode="lin" valueType="num">
                                      <p:cBhvr>
                                        <p:cTn id="118" dur="1000" fill="hold"/>
                                        <p:tgtEl>
                                          <p:spTgt spid="49"/>
                                        </p:tgtEl>
                                        <p:attrNameLst>
                                          <p:attrName>ppt_x</p:attrName>
                                        </p:attrNameLst>
                                      </p:cBhvr>
                                      <p:tavLst>
                                        <p:tav tm="0">
                                          <p:val>
                                            <p:strVal val="#ppt_x"/>
                                          </p:val>
                                        </p:tav>
                                        <p:tav tm="100000">
                                          <p:val>
                                            <p:strVal val="#ppt_x"/>
                                          </p:val>
                                        </p:tav>
                                      </p:tavLst>
                                    </p:anim>
                                    <p:anim calcmode="lin" valueType="num">
                                      <p:cBhvr>
                                        <p:cTn id="119" dur="1000" fill="hold"/>
                                        <p:tgtEl>
                                          <p:spTgt spid="49"/>
                                        </p:tgtEl>
                                        <p:attrNameLst>
                                          <p:attrName>ppt_y</p:attrName>
                                        </p:attrNameLst>
                                      </p:cBhvr>
                                      <p:tavLst>
                                        <p:tav tm="0">
                                          <p:val>
                                            <p:strVal val="#ppt_y+.1"/>
                                          </p:val>
                                        </p:tav>
                                        <p:tav tm="100000">
                                          <p:val>
                                            <p:strVal val="#ppt_y"/>
                                          </p:val>
                                        </p:tav>
                                      </p:tavLst>
                                    </p:anim>
                                  </p:childTnLst>
                                </p:cTn>
                              </p:par>
                              <p:par>
                                <p:cTn id="120" presetID="42" presetClass="entr" presetSubtype="0" fill="hold" grpId="0" nodeType="withEffect">
                                  <p:stCondLst>
                                    <p:cond delay="0"/>
                                  </p:stCondLst>
                                  <p:childTnLst>
                                    <p:set>
                                      <p:cBhvr>
                                        <p:cTn id="121" dur="1" fill="hold">
                                          <p:stCondLst>
                                            <p:cond delay="0"/>
                                          </p:stCondLst>
                                        </p:cTn>
                                        <p:tgtEl>
                                          <p:spTgt spid="50"/>
                                        </p:tgtEl>
                                        <p:attrNameLst>
                                          <p:attrName>style.visibility</p:attrName>
                                        </p:attrNameLst>
                                      </p:cBhvr>
                                      <p:to>
                                        <p:strVal val="visible"/>
                                      </p:to>
                                    </p:set>
                                    <p:animEffect transition="in" filter="fade">
                                      <p:cBhvr>
                                        <p:cTn id="122" dur="1000"/>
                                        <p:tgtEl>
                                          <p:spTgt spid="50"/>
                                        </p:tgtEl>
                                      </p:cBhvr>
                                    </p:animEffect>
                                    <p:anim calcmode="lin" valueType="num">
                                      <p:cBhvr>
                                        <p:cTn id="123" dur="1000" fill="hold"/>
                                        <p:tgtEl>
                                          <p:spTgt spid="50"/>
                                        </p:tgtEl>
                                        <p:attrNameLst>
                                          <p:attrName>ppt_x</p:attrName>
                                        </p:attrNameLst>
                                      </p:cBhvr>
                                      <p:tavLst>
                                        <p:tav tm="0">
                                          <p:val>
                                            <p:strVal val="#ppt_x"/>
                                          </p:val>
                                        </p:tav>
                                        <p:tav tm="100000">
                                          <p:val>
                                            <p:strVal val="#ppt_x"/>
                                          </p:val>
                                        </p:tav>
                                      </p:tavLst>
                                    </p:anim>
                                    <p:anim calcmode="lin" valueType="num">
                                      <p:cBhvr>
                                        <p:cTn id="124" dur="1000" fill="hold"/>
                                        <p:tgtEl>
                                          <p:spTgt spid="5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p:bldP spid="48" grpId="0"/>
      <p:bldP spid="49" grpId="0"/>
      <p:bldP spid="5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10410133" y="-48592"/>
            <a:ext cx="5771875" cy="7926458"/>
            <a:chOff x="0" y="0"/>
            <a:chExt cx="1558866" cy="2140775"/>
          </a:xfrm>
        </p:grpSpPr>
        <p:sp>
          <p:nvSpPr>
            <p:cNvPr id="3" name="Freeform 3"/>
            <p:cNvSpPr/>
            <p:nvPr/>
          </p:nvSpPr>
          <p:spPr>
            <a:xfrm>
              <a:off x="0" y="0"/>
              <a:ext cx="1558866" cy="2140775"/>
            </a:xfrm>
            <a:custGeom>
              <a:avLst/>
              <a:gdLst/>
              <a:ahLst/>
              <a:cxnLst/>
              <a:rect l="l" t="t" r="r" b="b"/>
              <a:pathLst>
                <a:path w="1558866" h="2140775">
                  <a:moveTo>
                    <a:pt x="40240" y="0"/>
                  </a:moveTo>
                  <a:lnTo>
                    <a:pt x="1518626" y="0"/>
                  </a:lnTo>
                  <a:cubicBezTo>
                    <a:pt x="1540850" y="0"/>
                    <a:pt x="1558866" y="18016"/>
                    <a:pt x="1558866" y="40240"/>
                  </a:cubicBezTo>
                  <a:lnTo>
                    <a:pt x="1558866" y="2100536"/>
                  </a:lnTo>
                  <a:cubicBezTo>
                    <a:pt x="1558866" y="2122759"/>
                    <a:pt x="1540850" y="2140775"/>
                    <a:pt x="1518626" y="2140775"/>
                  </a:cubicBezTo>
                  <a:lnTo>
                    <a:pt x="40240" y="2140775"/>
                  </a:lnTo>
                  <a:cubicBezTo>
                    <a:pt x="18016" y="2140775"/>
                    <a:pt x="0" y="2122759"/>
                    <a:pt x="0" y="2100536"/>
                  </a:cubicBezTo>
                  <a:lnTo>
                    <a:pt x="0" y="40240"/>
                  </a:lnTo>
                  <a:cubicBezTo>
                    <a:pt x="0" y="18016"/>
                    <a:pt x="18016" y="0"/>
                    <a:pt x="40240" y="0"/>
                  </a:cubicBezTo>
                  <a:close/>
                </a:path>
              </a:pathLst>
            </a:custGeom>
            <a:solidFill>
              <a:srgbClr val="1960BD"/>
            </a:solidFill>
            <a:ln cap="rnd">
              <a:noFill/>
              <a:prstDash val="solid"/>
              <a:round/>
            </a:ln>
          </p:spPr>
        </p:sp>
        <p:sp>
          <p:nvSpPr>
            <p:cNvPr id="4" name="TextBox 4"/>
            <p:cNvSpPr txBox="1"/>
            <p:nvPr/>
          </p:nvSpPr>
          <p:spPr>
            <a:xfrm>
              <a:off x="0" y="-57150"/>
              <a:ext cx="1558866" cy="2197925"/>
            </a:xfrm>
            <a:prstGeom prst="rect">
              <a:avLst/>
            </a:prstGeom>
          </p:spPr>
          <p:txBody>
            <a:bodyPr lIns="52178" tIns="52178" rIns="52178" bIns="52178" rtlCol="0" anchor="ctr"/>
            <a:lstStyle/>
            <a:p>
              <a:pPr algn="ctr">
                <a:lnSpc>
                  <a:spcPts val="3250"/>
                </a:lnSpc>
              </a:pPr>
              <a:endParaRPr/>
            </a:p>
          </p:txBody>
        </p:sp>
      </p:grpSp>
      <p:grpSp>
        <p:nvGrpSpPr>
          <p:cNvPr id="5" name="Group 5"/>
          <p:cNvGrpSpPr/>
          <p:nvPr/>
        </p:nvGrpSpPr>
        <p:grpSpPr>
          <a:xfrm rot="5400000">
            <a:off x="12414537" y="4413537"/>
            <a:ext cx="1918164" cy="7771361"/>
            <a:chOff x="0" y="0"/>
            <a:chExt cx="518057" cy="2098886"/>
          </a:xfrm>
        </p:grpSpPr>
        <p:sp>
          <p:nvSpPr>
            <p:cNvPr id="6" name="Freeform 6"/>
            <p:cNvSpPr/>
            <p:nvPr/>
          </p:nvSpPr>
          <p:spPr>
            <a:xfrm>
              <a:off x="0" y="0"/>
              <a:ext cx="518057" cy="2098886"/>
            </a:xfrm>
            <a:custGeom>
              <a:avLst/>
              <a:gdLst/>
              <a:ahLst/>
              <a:cxnLst/>
              <a:rect l="l" t="t" r="r" b="b"/>
              <a:pathLst>
                <a:path w="518057" h="2098886">
                  <a:moveTo>
                    <a:pt x="121083" y="0"/>
                  </a:moveTo>
                  <a:lnTo>
                    <a:pt x="396974" y="0"/>
                  </a:lnTo>
                  <a:cubicBezTo>
                    <a:pt x="429087" y="0"/>
                    <a:pt x="459885" y="12757"/>
                    <a:pt x="482593" y="35464"/>
                  </a:cubicBezTo>
                  <a:cubicBezTo>
                    <a:pt x="505300" y="58172"/>
                    <a:pt x="518057" y="88970"/>
                    <a:pt x="518057" y="121083"/>
                  </a:cubicBezTo>
                  <a:lnTo>
                    <a:pt x="518057" y="1977803"/>
                  </a:lnTo>
                  <a:cubicBezTo>
                    <a:pt x="518057" y="2009916"/>
                    <a:pt x="505300" y="2040714"/>
                    <a:pt x="482593" y="2063422"/>
                  </a:cubicBezTo>
                  <a:cubicBezTo>
                    <a:pt x="459885" y="2086129"/>
                    <a:pt x="429087" y="2098886"/>
                    <a:pt x="396974" y="2098886"/>
                  </a:cubicBezTo>
                  <a:lnTo>
                    <a:pt x="121083" y="2098886"/>
                  </a:lnTo>
                  <a:cubicBezTo>
                    <a:pt x="88970" y="2098886"/>
                    <a:pt x="58172" y="2086129"/>
                    <a:pt x="35464" y="2063422"/>
                  </a:cubicBezTo>
                  <a:cubicBezTo>
                    <a:pt x="12757" y="2040714"/>
                    <a:pt x="0" y="2009916"/>
                    <a:pt x="0" y="1977803"/>
                  </a:cubicBezTo>
                  <a:lnTo>
                    <a:pt x="0" y="121083"/>
                  </a:lnTo>
                  <a:cubicBezTo>
                    <a:pt x="0" y="88970"/>
                    <a:pt x="12757" y="58172"/>
                    <a:pt x="35464" y="35464"/>
                  </a:cubicBezTo>
                  <a:cubicBezTo>
                    <a:pt x="58172" y="12757"/>
                    <a:pt x="88970" y="0"/>
                    <a:pt x="121083" y="0"/>
                  </a:cubicBezTo>
                  <a:close/>
                </a:path>
              </a:pathLst>
            </a:custGeom>
            <a:solidFill>
              <a:srgbClr val="1960BD"/>
            </a:solidFill>
            <a:ln cap="rnd">
              <a:noFill/>
              <a:prstDash val="solid"/>
              <a:round/>
            </a:ln>
          </p:spPr>
        </p:sp>
        <p:sp>
          <p:nvSpPr>
            <p:cNvPr id="7" name="TextBox 7"/>
            <p:cNvSpPr txBox="1"/>
            <p:nvPr/>
          </p:nvSpPr>
          <p:spPr>
            <a:xfrm>
              <a:off x="0" y="-57150"/>
              <a:ext cx="518057" cy="2156036"/>
            </a:xfrm>
            <a:prstGeom prst="rect">
              <a:avLst/>
            </a:prstGeom>
          </p:spPr>
          <p:txBody>
            <a:bodyPr lIns="52178" tIns="52178" rIns="52178" bIns="52178" rtlCol="0" anchor="ctr"/>
            <a:lstStyle/>
            <a:p>
              <a:pPr algn="ctr">
                <a:lnSpc>
                  <a:spcPts val="3250"/>
                </a:lnSpc>
              </a:pPr>
              <a:endParaRPr/>
            </a:p>
          </p:txBody>
        </p:sp>
      </p:grpSp>
      <p:grpSp>
        <p:nvGrpSpPr>
          <p:cNvPr id="8" name="Group 8"/>
          <p:cNvGrpSpPr/>
          <p:nvPr/>
        </p:nvGrpSpPr>
        <p:grpSpPr>
          <a:xfrm rot="5400000">
            <a:off x="4032847" y="4335989"/>
            <a:ext cx="1918164" cy="7926458"/>
            <a:chOff x="0" y="0"/>
            <a:chExt cx="518057" cy="2140775"/>
          </a:xfrm>
        </p:grpSpPr>
        <p:sp>
          <p:nvSpPr>
            <p:cNvPr id="9" name="Freeform 9"/>
            <p:cNvSpPr/>
            <p:nvPr/>
          </p:nvSpPr>
          <p:spPr>
            <a:xfrm>
              <a:off x="0" y="0"/>
              <a:ext cx="518057" cy="2140775"/>
            </a:xfrm>
            <a:custGeom>
              <a:avLst/>
              <a:gdLst/>
              <a:ahLst/>
              <a:cxnLst/>
              <a:rect l="l" t="t" r="r" b="b"/>
              <a:pathLst>
                <a:path w="518057" h="2140775">
                  <a:moveTo>
                    <a:pt x="121083" y="0"/>
                  </a:moveTo>
                  <a:lnTo>
                    <a:pt x="396974" y="0"/>
                  </a:lnTo>
                  <a:cubicBezTo>
                    <a:pt x="429087" y="0"/>
                    <a:pt x="459885" y="12757"/>
                    <a:pt x="482593" y="35464"/>
                  </a:cubicBezTo>
                  <a:cubicBezTo>
                    <a:pt x="505300" y="58172"/>
                    <a:pt x="518057" y="88970"/>
                    <a:pt x="518057" y="121083"/>
                  </a:cubicBezTo>
                  <a:lnTo>
                    <a:pt x="518057" y="2019692"/>
                  </a:lnTo>
                  <a:cubicBezTo>
                    <a:pt x="518057" y="2086564"/>
                    <a:pt x="463846" y="2140775"/>
                    <a:pt x="396974" y="2140775"/>
                  </a:cubicBezTo>
                  <a:lnTo>
                    <a:pt x="121083" y="2140775"/>
                  </a:lnTo>
                  <a:cubicBezTo>
                    <a:pt x="88970" y="2140775"/>
                    <a:pt x="58172" y="2128018"/>
                    <a:pt x="35464" y="2105311"/>
                  </a:cubicBezTo>
                  <a:cubicBezTo>
                    <a:pt x="12757" y="2082603"/>
                    <a:pt x="0" y="2051805"/>
                    <a:pt x="0" y="2019692"/>
                  </a:cubicBezTo>
                  <a:lnTo>
                    <a:pt x="0" y="121083"/>
                  </a:lnTo>
                  <a:cubicBezTo>
                    <a:pt x="0" y="88970"/>
                    <a:pt x="12757" y="58172"/>
                    <a:pt x="35464" y="35464"/>
                  </a:cubicBezTo>
                  <a:cubicBezTo>
                    <a:pt x="58172" y="12757"/>
                    <a:pt x="88970" y="0"/>
                    <a:pt x="121083" y="0"/>
                  </a:cubicBezTo>
                  <a:close/>
                </a:path>
              </a:pathLst>
            </a:custGeom>
            <a:solidFill>
              <a:srgbClr val="1960BD"/>
            </a:solidFill>
            <a:ln cap="rnd">
              <a:noFill/>
              <a:prstDash val="solid"/>
              <a:round/>
            </a:ln>
          </p:spPr>
        </p:sp>
        <p:sp>
          <p:nvSpPr>
            <p:cNvPr id="10" name="TextBox 10"/>
            <p:cNvSpPr txBox="1"/>
            <p:nvPr/>
          </p:nvSpPr>
          <p:spPr>
            <a:xfrm>
              <a:off x="0" y="-57150"/>
              <a:ext cx="518057" cy="2197925"/>
            </a:xfrm>
            <a:prstGeom prst="rect">
              <a:avLst/>
            </a:prstGeom>
          </p:spPr>
          <p:txBody>
            <a:bodyPr lIns="52178" tIns="52178" rIns="52178" bIns="52178" rtlCol="0" anchor="ctr"/>
            <a:lstStyle/>
            <a:p>
              <a:pPr algn="ctr">
                <a:lnSpc>
                  <a:spcPts val="3250"/>
                </a:lnSpc>
              </a:pPr>
              <a:endParaRPr/>
            </a:p>
          </p:txBody>
        </p:sp>
      </p:grpSp>
      <p:sp>
        <p:nvSpPr>
          <p:cNvPr id="11" name="TextBox 11"/>
          <p:cNvSpPr txBox="1"/>
          <p:nvPr/>
        </p:nvSpPr>
        <p:spPr>
          <a:xfrm>
            <a:off x="10552516" y="1568446"/>
            <a:ext cx="6449936" cy="2131019"/>
          </a:xfrm>
          <a:prstGeom prst="rect">
            <a:avLst/>
          </a:prstGeom>
        </p:spPr>
        <p:txBody>
          <a:bodyPr lIns="0" tIns="0" rIns="0" bIns="0" rtlCol="0" anchor="t">
            <a:spAutoFit/>
          </a:bodyPr>
          <a:lstStyle/>
          <a:p>
            <a:pPr algn="r" rtl="1">
              <a:lnSpc>
                <a:spcPts val="5523"/>
              </a:lnSpc>
            </a:pPr>
            <a:r>
              <a:rPr lang="ar-EG" sz="5523" b="1" dirty="0">
                <a:solidFill>
                  <a:srgbClr val="FFFFFF"/>
                </a:solidFill>
                <a:latin typeface="Glacial Indifference Bold"/>
                <a:ea typeface="Glacial Indifference Bold"/>
                <a:sym typeface="Glacial Indifference Bold"/>
                <a:rtl/>
              </a:rPr>
              <a:t>الوضع قبل المشروع</a:t>
            </a:r>
          </a:p>
          <a:p>
            <a:pPr algn="just" rtl="1">
              <a:lnSpc>
                <a:spcPts val="5523"/>
              </a:lnSpc>
            </a:pPr>
            <a:endParaRPr lang="ar-EG" sz="5523" b="1" dirty="0">
              <a:solidFill>
                <a:srgbClr val="FFFFFF"/>
              </a:solidFill>
              <a:latin typeface="Glacial Indifference Bold"/>
              <a:ea typeface="Glacial Indifference Bold"/>
              <a:sym typeface="Glacial Indifference Bold"/>
              <a:rtl/>
            </a:endParaRPr>
          </a:p>
          <a:p>
            <a:pPr algn="just" rtl="1">
              <a:lnSpc>
                <a:spcPts val="5523"/>
              </a:lnSpc>
            </a:pPr>
            <a:endParaRPr lang="ar-EG" sz="5523" b="1" dirty="0">
              <a:solidFill>
                <a:srgbClr val="FFFFFF"/>
              </a:solidFill>
              <a:latin typeface="Glacial Indifference Bold"/>
              <a:ea typeface="Glacial Indifference Bold"/>
              <a:sym typeface="Glacial Indifference Bold"/>
              <a:rtl/>
            </a:endParaRPr>
          </a:p>
        </p:txBody>
      </p:sp>
      <p:sp>
        <p:nvSpPr>
          <p:cNvPr id="12" name="TextBox 12"/>
          <p:cNvSpPr txBox="1"/>
          <p:nvPr/>
        </p:nvSpPr>
        <p:spPr>
          <a:xfrm>
            <a:off x="10192886" y="3262042"/>
            <a:ext cx="6725241" cy="375103"/>
          </a:xfrm>
          <a:prstGeom prst="rect">
            <a:avLst/>
          </a:prstGeom>
        </p:spPr>
        <p:txBody>
          <a:bodyPr lIns="0" tIns="0" rIns="0" bIns="0" rtlCol="0" anchor="t">
            <a:spAutoFit/>
          </a:bodyPr>
          <a:lstStyle/>
          <a:p>
            <a:pPr algn="just" rtl="1">
              <a:lnSpc>
                <a:spcPts val="3230"/>
              </a:lnSpc>
            </a:pPr>
            <a:r>
              <a:rPr lang="ar-EG" sz="2307" b="1" dirty="0">
                <a:solidFill>
                  <a:srgbClr val="FFFFFF"/>
                </a:solidFill>
                <a:latin typeface="Poppins Medium"/>
                <a:ea typeface="Poppins Medium"/>
                <a:sym typeface="Poppins Medium"/>
                <a:rtl/>
              </a:rPr>
              <a:t>تحديات تشغيلية كانت تؤثر على وضوح رحلة الخدمة وسهولة متابعتها.</a:t>
            </a:r>
          </a:p>
        </p:txBody>
      </p:sp>
      <p:sp>
        <p:nvSpPr>
          <p:cNvPr id="13" name="TextBox 13"/>
          <p:cNvSpPr txBox="1"/>
          <p:nvPr/>
        </p:nvSpPr>
        <p:spPr>
          <a:xfrm>
            <a:off x="9876913" y="7629418"/>
            <a:ext cx="6993414" cy="970202"/>
          </a:xfrm>
          <a:prstGeom prst="rect">
            <a:avLst/>
          </a:prstGeom>
        </p:spPr>
        <p:txBody>
          <a:bodyPr lIns="0" tIns="0" rIns="0" bIns="0" rtlCol="0" anchor="t">
            <a:spAutoFit/>
          </a:bodyPr>
          <a:lstStyle/>
          <a:p>
            <a:pPr algn="r" rtl="1">
              <a:lnSpc>
                <a:spcPts val="2558"/>
              </a:lnSpc>
            </a:pPr>
            <a:r>
              <a:rPr lang="ar-EG" sz="1827" b="1" dirty="0">
                <a:solidFill>
                  <a:srgbClr val="FFFFFF"/>
                </a:solidFill>
                <a:latin typeface="Poppins Medium"/>
                <a:ea typeface="Poppins Medium"/>
                <a:sym typeface="Poppins Medium"/>
                <a:rtl/>
              </a:rPr>
              <a:t>"عند حدوث تأخير أو مشكلة في الطلب، كان من الصعب تحديد مصدرها بسرعة: هل المشكلة في التوصيل، أو التركيب، أو التحويلات بين المستودعات، مما يؤخر المعالجة واتخاذ القرار."</a:t>
            </a:r>
          </a:p>
          <a:p>
            <a:pPr algn="r" rtl="1">
              <a:lnSpc>
                <a:spcPts val="2558"/>
              </a:lnSpc>
            </a:pPr>
            <a:endParaRPr lang="ar-EG" sz="1827" b="1" dirty="0">
              <a:solidFill>
                <a:srgbClr val="FFFFFF"/>
              </a:solidFill>
              <a:latin typeface="Poppins Medium"/>
              <a:ea typeface="Poppins Medium"/>
              <a:sym typeface="Poppins Medium"/>
              <a:rtl/>
            </a:endParaRPr>
          </a:p>
        </p:txBody>
      </p:sp>
      <p:grpSp>
        <p:nvGrpSpPr>
          <p:cNvPr id="14" name="Group 14"/>
          <p:cNvGrpSpPr/>
          <p:nvPr/>
        </p:nvGrpSpPr>
        <p:grpSpPr>
          <a:xfrm>
            <a:off x="1183797" y="1028700"/>
            <a:ext cx="7771361" cy="5829928"/>
            <a:chOff x="0" y="0"/>
            <a:chExt cx="10361815" cy="7773238"/>
          </a:xfrm>
        </p:grpSpPr>
        <p:grpSp>
          <p:nvGrpSpPr>
            <p:cNvPr id="15" name="Group 15"/>
            <p:cNvGrpSpPr/>
            <p:nvPr/>
          </p:nvGrpSpPr>
          <p:grpSpPr>
            <a:xfrm rot="5400000">
              <a:off x="1980303" y="3328107"/>
              <a:ext cx="1014102" cy="4974707"/>
              <a:chOff x="0" y="0"/>
              <a:chExt cx="205416" cy="1007675"/>
            </a:xfrm>
          </p:grpSpPr>
          <p:sp>
            <p:nvSpPr>
              <p:cNvPr id="16" name="Freeform 16"/>
              <p:cNvSpPr/>
              <p:nvPr/>
            </p:nvSpPr>
            <p:spPr>
              <a:xfrm>
                <a:off x="0" y="0"/>
                <a:ext cx="205416" cy="1007675"/>
              </a:xfrm>
              <a:custGeom>
                <a:avLst/>
                <a:gdLst/>
                <a:ahLst/>
                <a:cxnLst/>
                <a:rect l="l" t="t" r="r" b="b"/>
                <a:pathLst>
                  <a:path w="205416" h="1007675">
                    <a:moveTo>
                      <a:pt x="102708" y="0"/>
                    </a:moveTo>
                    <a:lnTo>
                      <a:pt x="102708" y="0"/>
                    </a:lnTo>
                    <a:cubicBezTo>
                      <a:pt x="129948" y="0"/>
                      <a:pt x="156072" y="10821"/>
                      <a:pt x="175334" y="30083"/>
                    </a:cubicBezTo>
                    <a:cubicBezTo>
                      <a:pt x="194595" y="49344"/>
                      <a:pt x="205416" y="75468"/>
                      <a:pt x="205416" y="102708"/>
                    </a:cubicBezTo>
                    <a:lnTo>
                      <a:pt x="205416" y="904967"/>
                    </a:lnTo>
                    <a:cubicBezTo>
                      <a:pt x="205416" y="961691"/>
                      <a:pt x="159432" y="1007675"/>
                      <a:pt x="102708" y="1007675"/>
                    </a:cubicBezTo>
                    <a:lnTo>
                      <a:pt x="102708" y="1007675"/>
                    </a:lnTo>
                    <a:cubicBezTo>
                      <a:pt x="45984" y="1007675"/>
                      <a:pt x="0" y="961691"/>
                      <a:pt x="0" y="904967"/>
                    </a:cubicBezTo>
                    <a:lnTo>
                      <a:pt x="0" y="102708"/>
                    </a:lnTo>
                    <a:cubicBezTo>
                      <a:pt x="0" y="45984"/>
                      <a:pt x="45984" y="0"/>
                      <a:pt x="102708" y="0"/>
                    </a:cubicBezTo>
                    <a:close/>
                  </a:path>
                </a:pathLst>
              </a:custGeom>
              <a:solidFill>
                <a:srgbClr val="E0E0E0"/>
              </a:solidFill>
              <a:ln cap="sq">
                <a:noFill/>
                <a:prstDash val="solid"/>
                <a:miter/>
              </a:ln>
            </p:spPr>
          </p:sp>
          <p:sp>
            <p:nvSpPr>
              <p:cNvPr id="17" name="TextBox 17"/>
              <p:cNvSpPr txBox="1"/>
              <p:nvPr/>
            </p:nvSpPr>
            <p:spPr>
              <a:xfrm>
                <a:off x="0" y="-57150"/>
                <a:ext cx="205416" cy="1064825"/>
              </a:xfrm>
              <a:prstGeom prst="rect">
                <a:avLst/>
              </a:prstGeom>
            </p:spPr>
            <p:txBody>
              <a:bodyPr lIns="52178" tIns="52178" rIns="52178" bIns="52178" rtlCol="0" anchor="ctr"/>
              <a:lstStyle/>
              <a:p>
                <a:pPr algn="ctr">
                  <a:lnSpc>
                    <a:spcPts val="3250"/>
                  </a:lnSpc>
                </a:pPr>
                <a:endParaRPr/>
              </a:p>
            </p:txBody>
          </p:sp>
        </p:grpSp>
        <p:grpSp>
          <p:nvGrpSpPr>
            <p:cNvPr id="18" name="Group 18"/>
            <p:cNvGrpSpPr/>
            <p:nvPr/>
          </p:nvGrpSpPr>
          <p:grpSpPr>
            <a:xfrm rot="5400000">
              <a:off x="1980303" y="4776936"/>
              <a:ext cx="1014102" cy="4974707"/>
              <a:chOff x="0" y="0"/>
              <a:chExt cx="205416" cy="1007675"/>
            </a:xfrm>
          </p:grpSpPr>
          <p:sp>
            <p:nvSpPr>
              <p:cNvPr id="19" name="Freeform 19"/>
              <p:cNvSpPr/>
              <p:nvPr/>
            </p:nvSpPr>
            <p:spPr>
              <a:xfrm>
                <a:off x="0" y="0"/>
                <a:ext cx="205416" cy="1007675"/>
              </a:xfrm>
              <a:custGeom>
                <a:avLst/>
                <a:gdLst/>
                <a:ahLst/>
                <a:cxnLst/>
                <a:rect l="l" t="t" r="r" b="b"/>
                <a:pathLst>
                  <a:path w="205416" h="1007675">
                    <a:moveTo>
                      <a:pt x="102708" y="0"/>
                    </a:moveTo>
                    <a:lnTo>
                      <a:pt x="102708" y="0"/>
                    </a:lnTo>
                    <a:cubicBezTo>
                      <a:pt x="129948" y="0"/>
                      <a:pt x="156072" y="10821"/>
                      <a:pt x="175334" y="30083"/>
                    </a:cubicBezTo>
                    <a:cubicBezTo>
                      <a:pt x="194595" y="49344"/>
                      <a:pt x="205416" y="75468"/>
                      <a:pt x="205416" y="102708"/>
                    </a:cubicBezTo>
                    <a:lnTo>
                      <a:pt x="205416" y="904967"/>
                    </a:lnTo>
                    <a:cubicBezTo>
                      <a:pt x="205416" y="961691"/>
                      <a:pt x="159432" y="1007675"/>
                      <a:pt x="102708" y="1007675"/>
                    </a:cubicBezTo>
                    <a:lnTo>
                      <a:pt x="102708" y="1007675"/>
                    </a:lnTo>
                    <a:cubicBezTo>
                      <a:pt x="45984" y="1007675"/>
                      <a:pt x="0" y="961691"/>
                      <a:pt x="0" y="904967"/>
                    </a:cubicBezTo>
                    <a:lnTo>
                      <a:pt x="0" y="102708"/>
                    </a:lnTo>
                    <a:cubicBezTo>
                      <a:pt x="0" y="45984"/>
                      <a:pt x="45984" y="0"/>
                      <a:pt x="102708" y="0"/>
                    </a:cubicBezTo>
                    <a:close/>
                  </a:path>
                </a:pathLst>
              </a:custGeom>
              <a:solidFill>
                <a:srgbClr val="E0E0E0"/>
              </a:solidFill>
              <a:ln cap="sq">
                <a:noFill/>
                <a:prstDash val="solid"/>
                <a:miter/>
              </a:ln>
            </p:spPr>
          </p:sp>
          <p:sp>
            <p:nvSpPr>
              <p:cNvPr id="20" name="TextBox 20"/>
              <p:cNvSpPr txBox="1"/>
              <p:nvPr/>
            </p:nvSpPr>
            <p:spPr>
              <a:xfrm>
                <a:off x="0" y="-57150"/>
                <a:ext cx="205416" cy="1064825"/>
              </a:xfrm>
              <a:prstGeom prst="rect">
                <a:avLst/>
              </a:prstGeom>
            </p:spPr>
            <p:txBody>
              <a:bodyPr lIns="52178" tIns="52178" rIns="52178" bIns="52178" rtlCol="0" anchor="ctr"/>
              <a:lstStyle/>
              <a:p>
                <a:pPr algn="ctr">
                  <a:lnSpc>
                    <a:spcPts val="3250"/>
                  </a:lnSpc>
                </a:pPr>
                <a:endParaRPr/>
              </a:p>
            </p:txBody>
          </p:sp>
        </p:grpSp>
        <p:grpSp>
          <p:nvGrpSpPr>
            <p:cNvPr id="21" name="Group 21"/>
            <p:cNvGrpSpPr/>
            <p:nvPr/>
          </p:nvGrpSpPr>
          <p:grpSpPr>
            <a:xfrm rot="5400000">
              <a:off x="7367410" y="3330003"/>
              <a:ext cx="1014102" cy="4974707"/>
              <a:chOff x="0" y="0"/>
              <a:chExt cx="205416" cy="1007675"/>
            </a:xfrm>
          </p:grpSpPr>
          <p:sp>
            <p:nvSpPr>
              <p:cNvPr id="22" name="Freeform 22"/>
              <p:cNvSpPr/>
              <p:nvPr/>
            </p:nvSpPr>
            <p:spPr>
              <a:xfrm>
                <a:off x="0" y="0"/>
                <a:ext cx="205416" cy="1007675"/>
              </a:xfrm>
              <a:custGeom>
                <a:avLst/>
                <a:gdLst/>
                <a:ahLst/>
                <a:cxnLst/>
                <a:rect l="l" t="t" r="r" b="b"/>
                <a:pathLst>
                  <a:path w="205416" h="1007675">
                    <a:moveTo>
                      <a:pt x="102708" y="0"/>
                    </a:moveTo>
                    <a:lnTo>
                      <a:pt x="102708" y="0"/>
                    </a:lnTo>
                    <a:cubicBezTo>
                      <a:pt x="129948" y="0"/>
                      <a:pt x="156072" y="10821"/>
                      <a:pt x="175334" y="30083"/>
                    </a:cubicBezTo>
                    <a:cubicBezTo>
                      <a:pt x="194595" y="49344"/>
                      <a:pt x="205416" y="75468"/>
                      <a:pt x="205416" y="102708"/>
                    </a:cubicBezTo>
                    <a:lnTo>
                      <a:pt x="205416" y="904967"/>
                    </a:lnTo>
                    <a:cubicBezTo>
                      <a:pt x="205416" y="961691"/>
                      <a:pt x="159432" y="1007675"/>
                      <a:pt x="102708" y="1007675"/>
                    </a:cubicBezTo>
                    <a:lnTo>
                      <a:pt x="102708" y="1007675"/>
                    </a:lnTo>
                    <a:cubicBezTo>
                      <a:pt x="45984" y="1007675"/>
                      <a:pt x="0" y="961691"/>
                      <a:pt x="0" y="904967"/>
                    </a:cubicBezTo>
                    <a:lnTo>
                      <a:pt x="0" y="102708"/>
                    </a:lnTo>
                    <a:cubicBezTo>
                      <a:pt x="0" y="45984"/>
                      <a:pt x="45984" y="0"/>
                      <a:pt x="102708" y="0"/>
                    </a:cubicBezTo>
                    <a:close/>
                  </a:path>
                </a:pathLst>
              </a:custGeom>
              <a:solidFill>
                <a:srgbClr val="E0E0E0"/>
              </a:solidFill>
              <a:ln cap="sq">
                <a:noFill/>
                <a:prstDash val="solid"/>
                <a:miter/>
              </a:ln>
            </p:spPr>
          </p:sp>
          <p:sp>
            <p:nvSpPr>
              <p:cNvPr id="23" name="TextBox 23"/>
              <p:cNvSpPr txBox="1"/>
              <p:nvPr/>
            </p:nvSpPr>
            <p:spPr>
              <a:xfrm>
                <a:off x="0" y="-57150"/>
                <a:ext cx="205416" cy="1064825"/>
              </a:xfrm>
              <a:prstGeom prst="rect">
                <a:avLst/>
              </a:prstGeom>
            </p:spPr>
            <p:txBody>
              <a:bodyPr lIns="52178" tIns="52178" rIns="52178" bIns="52178" rtlCol="0" anchor="ctr"/>
              <a:lstStyle/>
              <a:p>
                <a:pPr algn="ctr">
                  <a:lnSpc>
                    <a:spcPts val="3250"/>
                  </a:lnSpc>
                </a:pPr>
                <a:endParaRPr/>
              </a:p>
            </p:txBody>
          </p:sp>
        </p:grpSp>
        <p:grpSp>
          <p:nvGrpSpPr>
            <p:cNvPr id="24" name="Group 24"/>
            <p:cNvGrpSpPr/>
            <p:nvPr/>
          </p:nvGrpSpPr>
          <p:grpSpPr>
            <a:xfrm rot="5400000">
              <a:off x="7367410" y="4778833"/>
              <a:ext cx="1014102" cy="4974707"/>
              <a:chOff x="0" y="0"/>
              <a:chExt cx="205416" cy="1007675"/>
            </a:xfrm>
          </p:grpSpPr>
          <p:sp>
            <p:nvSpPr>
              <p:cNvPr id="25" name="Freeform 25"/>
              <p:cNvSpPr/>
              <p:nvPr/>
            </p:nvSpPr>
            <p:spPr>
              <a:xfrm>
                <a:off x="0" y="0"/>
                <a:ext cx="205416" cy="1007675"/>
              </a:xfrm>
              <a:custGeom>
                <a:avLst/>
                <a:gdLst/>
                <a:ahLst/>
                <a:cxnLst/>
                <a:rect l="l" t="t" r="r" b="b"/>
                <a:pathLst>
                  <a:path w="205416" h="1007675">
                    <a:moveTo>
                      <a:pt x="102708" y="0"/>
                    </a:moveTo>
                    <a:lnTo>
                      <a:pt x="102708" y="0"/>
                    </a:lnTo>
                    <a:cubicBezTo>
                      <a:pt x="129948" y="0"/>
                      <a:pt x="156072" y="10821"/>
                      <a:pt x="175334" y="30083"/>
                    </a:cubicBezTo>
                    <a:cubicBezTo>
                      <a:pt x="194595" y="49344"/>
                      <a:pt x="205416" y="75468"/>
                      <a:pt x="205416" y="102708"/>
                    </a:cubicBezTo>
                    <a:lnTo>
                      <a:pt x="205416" y="904967"/>
                    </a:lnTo>
                    <a:cubicBezTo>
                      <a:pt x="205416" y="961691"/>
                      <a:pt x="159432" y="1007675"/>
                      <a:pt x="102708" y="1007675"/>
                    </a:cubicBezTo>
                    <a:lnTo>
                      <a:pt x="102708" y="1007675"/>
                    </a:lnTo>
                    <a:cubicBezTo>
                      <a:pt x="45984" y="1007675"/>
                      <a:pt x="0" y="961691"/>
                      <a:pt x="0" y="904967"/>
                    </a:cubicBezTo>
                    <a:lnTo>
                      <a:pt x="0" y="102708"/>
                    </a:lnTo>
                    <a:cubicBezTo>
                      <a:pt x="0" y="45984"/>
                      <a:pt x="45984" y="0"/>
                      <a:pt x="102708" y="0"/>
                    </a:cubicBezTo>
                    <a:close/>
                  </a:path>
                </a:pathLst>
              </a:custGeom>
              <a:solidFill>
                <a:srgbClr val="E0E0E0"/>
              </a:solidFill>
              <a:ln cap="sq">
                <a:noFill/>
                <a:prstDash val="solid"/>
                <a:miter/>
              </a:ln>
            </p:spPr>
          </p:sp>
          <p:sp>
            <p:nvSpPr>
              <p:cNvPr id="26" name="TextBox 26"/>
              <p:cNvSpPr txBox="1"/>
              <p:nvPr/>
            </p:nvSpPr>
            <p:spPr>
              <a:xfrm>
                <a:off x="0" y="-57150"/>
                <a:ext cx="205416" cy="1064825"/>
              </a:xfrm>
              <a:prstGeom prst="rect">
                <a:avLst/>
              </a:prstGeom>
            </p:spPr>
            <p:txBody>
              <a:bodyPr lIns="52178" tIns="52178" rIns="52178" bIns="52178" rtlCol="0" anchor="ctr"/>
              <a:lstStyle/>
              <a:p>
                <a:pPr algn="ctr">
                  <a:lnSpc>
                    <a:spcPts val="3250"/>
                  </a:lnSpc>
                </a:pPr>
                <a:endParaRPr/>
              </a:p>
            </p:txBody>
          </p:sp>
        </p:grpSp>
        <p:grpSp>
          <p:nvGrpSpPr>
            <p:cNvPr id="27" name="Group 27"/>
            <p:cNvGrpSpPr/>
            <p:nvPr/>
          </p:nvGrpSpPr>
          <p:grpSpPr>
            <a:xfrm>
              <a:off x="0" y="0"/>
              <a:ext cx="10361815" cy="4660709"/>
              <a:chOff x="0" y="0"/>
              <a:chExt cx="1203987" cy="541549"/>
            </a:xfrm>
          </p:grpSpPr>
          <p:sp>
            <p:nvSpPr>
              <p:cNvPr id="28" name="Freeform 28"/>
              <p:cNvSpPr/>
              <p:nvPr/>
            </p:nvSpPr>
            <p:spPr>
              <a:xfrm>
                <a:off x="0" y="0"/>
                <a:ext cx="1203987" cy="541549"/>
              </a:xfrm>
              <a:custGeom>
                <a:avLst/>
                <a:gdLst/>
                <a:ahLst/>
                <a:cxnLst/>
                <a:rect l="l" t="t" r="r" b="b"/>
                <a:pathLst>
                  <a:path w="1203987" h="541549">
                    <a:moveTo>
                      <a:pt x="29886" y="0"/>
                    </a:moveTo>
                    <a:lnTo>
                      <a:pt x="1174101" y="0"/>
                    </a:lnTo>
                    <a:cubicBezTo>
                      <a:pt x="1182027" y="0"/>
                      <a:pt x="1189629" y="3149"/>
                      <a:pt x="1195234" y="8754"/>
                    </a:cubicBezTo>
                    <a:cubicBezTo>
                      <a:pt x="1200838" y="14358"/>
                      <a:pt x="1203987" y="21960"/>
                      <a:pt x="1203987" y="29886"/>
                    </a:cubicBezTo>
                    <a:lnTo>
                      <a:pt x="1203987" y="511663"/>
                    </a:lnTo>
                    <a:cubicBezTo>
                      <a:pt x="1203987" y="519589"/>
                      <a:pt x="1200838" y="527191"/>
                      <a:pt x="1195234" y="532796"/>
                    </a:cubicBezTo>
                    <a:cubicBezTo>
                      <a:pt x="1189629" y="538401"/>
                      <a:pt x="1182027" y="541549"/>
                      <a:pt x="1174101" y="541549"/>
                    </a:cubicBezTo>
                    <a:lnTo>
                      <a:pt x="29886" y="541549"/>
                    </a:lnTo>
                    <a:cubicBezTo>
                      <a:pt x="21960" y="541549"/>
                      <a:pt x="14358" y="538401"/>
                      <a:pt x="8754" y="532796"/>
                    </a:cubicBezTo>
                    <a:cubicBezTo>
                      <a:pt x="3149" y="527191"/>
                      <a:pt x="0" y="519589"/>
                      <a:pt x="0" y="511663"/>
                    </a:cubicBezTo>
                    <a:lnTo>
                      <a:pt x="0" y="29886"/>
                    </a:lnTo>
                    <a:cubicBezTo>
                      <a:pt x="0" y="21960"/>
                      <a:pt x="3149" y="14358"/>
                      <a:pt x="8754" y="8754"/>
                    </a:cubicBezTo>
                    <a:cubicBezTo>
                      <a:pt x="14358" y="3149"/>
                      <a:pt x="21960" y="0"/>
                      <a:pt x="29886" y="0"/>
                    </a:cubicBezTo>
                    <a:close/>
                  </a:path>
                </a:pathLst>
              </a:custGeom>
              <a:blipFill>
                <a:blip r:embed="rId2"/>
                <a:stretch>
                  <a:fillRect t="-95678" b="-4007"/>
                </a:stretch>
              </a:blipFill>
            </p:spPr>
          </p:sp>
        </p:grpSp>
        <p:sp>
          <p:nvSpPr>
            <p:cNvPr id="29" name="TextBox 29"/>
            <p:cNvSpPr txBox="1"/>
            <p:nvPr/>
          </p:nvSpPr>
          <p:spPr>
            <a:xfrm>
              <a:off x="81705" y="5471555"/>
              <a:ext cx="4805421" cy="562889"/>
            </a:xfrm>
            <a:prstGeom prst="rect">
              <a:avLst/>
            </a:prstGeom>
          </p:spPr>
          <p:txBody>
            <a:bodyPr lIns="0" tIns="0" rIns="0" bIns="0" rtlCol="0" anchor="t">
              <a:spAutoFit/>
            </a:bodyPr>
            <a:lstStyle/>
            <a:p>
              <a:pPr algn="ctr">
                <a:lnSpc>
                  <a:spcPts val="3640"/>
                </a:lnSpc>
              </a:pPr>
              <a:r>
                <a:rPr lang="ar-EG" sz="2600" b="1" dirty="0">
                  <a:solidFill>
                    <a:srgbClr val="1E1E1E"/>
                  </a:solidFill>
                  <a:latin typeface="Poppins Medium"/>
                  <a:ea typeface="Poppins Medium"/>
                  <a:sym typeface="Poppins Medium"/>
                  <a:rtl/>
                </a:rPr>
                <a:t>صعوبة متابعة الطلب</a:t>
              </a:r>
            </a:p>
          </p:txBody>
        </p:sp>
        <p:sp>
          <p:nvSpPr>
            <p:cNvPr id="30" name="TextBox 30"/>
            <p:cNvSpPr txBox="1"/>
            <p:nvPr/>
          </p:nvSpPr>
          <p:spPr>
            <a:xfrm>
              <a:off x="81705" y="6920385"/>
              <a:ext cx="4805421" cy="562889"/>
            </a:xfrm>
            <a:prstGeom prst="rect">
              <a:avLst/>
            </a:prstGeom>
          </p:spPr>
          <p:txBody>
            <a:bodyPr lIns="0" tIns="0" rIns="0" bIns="0" rtlCol="0" anchor="t">
              <a:spAutoFit/>
            </a:bodyPr>
            <a:lstStyle/>
            <a:p>
              <a:pPr algn="ctr">
                <a:lnSpc>
                  <a:spcPts val="3640"/>
                </a:lnSpc>
              </a:pPr>
              <a:r>
                <a:rPr lang="ar-EG" sz="2600" b="1" dirty="0">
                  <a:solidFill>
                    <a:srgbClr val="1E1E1E"/>
                  </a:solidFill>
                  <a:latin typeface="Poppins Medium"/>
                  <a:ea typeface="Poppins Medium"/>
                  <a:sym typeface="Poppins Medium"/>
                  <a:rtl/>
                </a:rPr>
                <a:t>عدم وضوح الخطوة التالية</a:t>
              </a:r>
            </a:p>
          </p:txBody>
        </p:sp>
        <p:sp>
          <p:nvSpPr>
            <p:cNvPr id="31" name="TextBox 31"/>
            <p:cNvSpPr txBox="1"/>
            <p:nvPr/>
          </p:nvSpPr>
          <p:spPr>
            <a:xfrm>
              <a:off x="5468814" y="5473452"/>
              <a:ext cx="4805421" cy="562889"/>
            </a:xfrm>
            <a:prstGeom prst="rect">
              <a:avLst/>
            </a:prstGeom>
          </p:spPr>
          <p:txBody>
            <a:bodyPr lIns="0" tIns="0" rIns="0" bIns="0" rtlCol="0" anchor="t">
              <a:spAutoFit/>
            </a:bodyPr>
            <a:lstStyle/>
            <a:p>
              <a:pPr algn="ctr">
                <a:lnSpc>
                  <a:spcPts val="3640"/>
                </a:lnSpc>
              </a:pPr>
              <a:r>
                <a:rPr lang="ar-EG" sz="2600" b="1" dirty="0">
                  <a:solidFill>
                    <a:srgbClr val="1E1E1E"/>
                  </a:solidFill>
                  <a:latin typeface="Poppins Medium"/>
                  <a:ea typeface="Poppins Medium"/>
                  <a:sym typeface="Poppins Medium"/>
                  <a:rtl/>
                </a:rPr>
                <a:t>تشتت خطوات الخدمة</a:t>
              </a:r>
            </a:p>
          </p:txBody>
        </p:sp>
        <p:sp>
          <p:nvSpPr>
            <p:cNvPr id="32" name="TextBox 32"/>
            <p:cNvSpPr txBox="1"/>
            <p:nvPr/>
          </p:nvSpPr>
          <p:spPr>
            <a:xfrm>
              <a:off x="5468814" y="6922281"/>
              <a:ext cx="4805421" cy="562889"/>
            </a:xfrm>
            <a:prstGeom prst="rect">
              <a:avLst/>
            </a:prstGeom>
          </p:spPr>
          <p:txBody>
            <a:bodyPr lIns="0" tIns="0" rIns="0" bIns="0" rtlCol="0" anchor="t">
              <a:spAutoFit/>
            </a:bodyPr>
            <a:lstStyle/>
            <a:p>
              <a:pPr algn="ctr">
                <a:lnSpc>
                  <a:spcPts val="3640"/>
                </a:lnSpc>
              </a:pPr>
              <a:r>
                <a:rPr lang="ar-EG" sz="2600" b="1" dirty="0">
                  <a:solidFill>
                    <a:srgbClr val="1E1E1E"/>
                  </a:solidFill>
                  <a:latin typeface="Poppins Medium"/>
                  <a:ea typeface="Poppins Medium"/>
                  <a:sym typeface="Poppins Medium"/>
                  <a:rtl/>
                </a:rPr>
                <a:t>اعتماد على خبرة الموظف</a:t>
              </a:r>
            </a:p>
          </p:txBody>
        </p:sp>
      </p:grpSp>
      <p:sp>
        <p:nvSpPr>
          <p:cNvPr id="33" name="TextBox 33"/>
          <p:cNvSpPr txBox="1"/>
          <p:nvPr/>
        </p:nvSpPr>
        <p:spPr>
          <a:xfrm>
            <a:off x="1495222" y="7629418"/>
            <a:ext cx="6993414" cy="636777"/>
          </a:xfrm>
          <a:prstGeom prst="rect">
            <a:avLst/>
          </a:prstGeom>
        </p:spPr>
        <p:txBody>
          <a:bodyPr lIns="0" tIns="0" rIns="0" bIns="0" rtlCol="0" anchor="t">
            <a:spAutoFit/>
          </a:bodyPr>
          <a:lstStyle/>
          <a:p>
            <a:pPr algn="r" rtl="1">
              <a:lnSpc>
                <a:spcPts val="2558"/>
              </a:lnSpc>
            </a:pPr>
            <a:r>
              <a:rPr lang="ar-EG" sz="1827" b="1" dirty="0">
                <a:solidFill>
                  <a:srgbClr val="FFFFFF"/>
                </a:solidFill>
                <a:latin typeface="Poppins Medium"/>
                <a:ea typeface="Poppins Medium"/>
                <a:sym typeface="Poppins Medium"/>
                <a:rtl/>
              </a:rPr>
              <a:t>"تعدد طرق العمل وعدم وضوح حالة كل خدمة جعل عملية المحاسبة والمتابعة أكثر صعوبة، سواء في تحديد المسؤول عن التأخير أو معرفة المرحلة التي توقفت عندها الخدمة."</a:t>
            </a:r>
          </a:p>
        </p:txBody>
      </p:sp>
      <p:sp>
        <p:nvSpPr>
          <p:cNvPr id="34" name="TextBox 34"/>
          <p:cNvSpPr txBox="1"/>
          <p:nvPr/>
        </p:nvSpPr>
        <p:spPr>
          <a:xfrm>
            <a:off x="9799364" y="5063339"/>
            <a:ext cx="6993414" cy="636777"/>
          </a:xfrm>
          <a:prstGeom prst="rect">
            <a:avLst/>
          </a:prstGeom>
        </p:spPr>
        <p:txBody>
          <a:bodyPr lIns="0" tIns="0" rIns="0" bIns="0" rtlCol="0" anchor="t">
            <a:spAutoFit/>
          </a:bodyPr>
          <a:lstStyle/>
          <a:p>
            <a:pPr algn="r" rtl="1">
              <a:lnSpc>
                <a:spcPts val="2558"/>
              </a:lnSpc>
            </a:pPr>
            <a:r>
              <a:rPr lang="ar-EG" sz="1827" b="1" dirty="0">
                <a:solidFill>
                  <a:srgbClr val="FFFFFF"/>
                </a:solidFill>
                <a:latin typeface="Poppins Medium"/>
                <a:ea typeface="Poppins Medium"/>
                <a:sym typeface="Poppins Medium"/>
                <a:rtl/>
              </a:rPr>
              <a:t>"لم يكن هناك نظام موحّد يجمع جميع خدمات ما بعد البيع في مكان واحد، حيث كانت كل خدمة تُدار بشكل منفصل وبأساليب مختلفة، مما يصعّب متابعة رحلة العميل بشكل كامل."</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317536"/>
            <a:ext cx="7683712" cy="1597114"/>
            <a:chOff x="0" y="0"/>
            <a:chExt cx="2091853" cy="434807"/>
          </a:xfrm>
        </p:grpSpPr>
        <p:sp>
          <p:nvSpPr>
            <p:cNvPr id="3" name="Freeform 3"/>
            <p:cNvSpPr/>
            <p:nvPr/>
          </p:nvSpPr>
          <p:spPr>
            <a:xfrm>
              <a:off x="0" y="0"/>
              <a:ext cx="2091853" cy="434807"/>
            </a:xfrm>
            <a:custGeom>
              <a:avLst/>
              <a:gdLst/>
              <a:ahLst/>
              <a:cxnLst/>
              <a:rect l="l" t="t" r="r" b="b"/>
              <a:pathLst>
                <a:path w="2091853" h="434807">
                  <a:moveTo>
                    <a:pt x="30227" y="0"/>
                  </a:moveTo>
                  <a:lnTo>
                    <a:pt x="2061626" y="0"/>
                  </a:lnTo>
                  <a:cubicBezTo>
                    <a:pt x="2069642" y="0"/>
                    <a:pt x="2077331" y="3185"/>
                    <a:pt x="2082999" y="8853"/>
                  </a:cubicBezTo>
                  <a:cubicBezTo>
                    <a:pt x="2088668" y="14522"/>
                    <a:pt x="2091853" y="22210"/>
                    <a:pt x="2091853" y="30227"/>
                  </a:cubicBezTo>
                  <a:lnTo>
                    <a:pt x="2091853" y="404579"/>
                  </a:lnTo>
                  <a:cubicBezTo>
                    <a:pt x="2091853" y="412596"/>
                    <a:pt x="2088668" y="420284"/>
                    <a:pt x="2082999" y="425953"/>
                  </a:cubicBezTo>
                  <a:cubicBezTo>
                    <a:pt x="2077331" y="431622"/>
                    <a:pt x="2069642" y="434807"/>
                    <a:pt x="2061626" y="434807"/>
                  </a:cubicBezTo>
                  <a:lnTo>
                    <a:pt x="30227" y="434807"/>
                  </a:lnTo>
                  <a:cubicBezTo>
                    <a:pt x="22210" y="434807"/>
                    <a:pt x="14522" y="431622"/>
                    <a:pt x="8853" y="425953"/>
                  </a:cubicBezTo>
                  <a:cubicBezTo>
                    <a:pt x="3185" y="420284"/>
                    <a:pt x="0" y="412596"/>
                    <a:pt x="0" y="404579"/>
                  </a:cubicBezTo>
                  <a:lnTo>
                    <a:pt x="0" y="30227"/>
                  </a:lnTo>
                  <a:cubicBezTo>
                    <a:pt x="0" y="22210"/>
                    <a:pt x="3185" y="14522"/>
                    <a:pt x="8853" y="8853"/>
                  </a:cubicBezTo>
                  <a:cubicBezTo>
                    <a:pt x="14522" y="3185"/>
                    <a:pt x="22210" y="0"/>
                    <a:pt x="30227" y="0"/>
                  </a:cubicBezTo>
                  <a:close/>
                </a:path>
              </a:pathLst>
            </a:custGeom>
            <a:solidFill>
              <a:srgbClr val="E0E0E0"/>
            </a:solidFill>
            <a:ln cap="rnd">
              <a:noFill/>
              <a:prstDash val="solid"/>
              <a:round/>
            </a:ln>
          </p:spPr>
        </p:sp>
        <p:sp>
          <p:nvSpPr>
            <p:cNvPr id="4" name="TextBox 4"/>
            <p:cNvSpPr txBox="1"/>
            <p:nvPr/>
          </p:nvSpPr>
          <p:spPr>
            <a:xfrm>
              <a:off x="0" y="-57150"/>
              <a:ext cx="2091853" cy="491957"/>
            </a:xfrm>
            <a:prstGeom prst="rect">
              <a:avLst/>
            </a:prstGeom>
          </p:spPr>
          <p:txBody>
            <a:bodyPr lIns="50800" tIns="50800" rIns="50800" bIns="50800" rtlCol="0" anchor="ctr"/>
            <a:lstStyle/>
            <a:p>
              <a:pPr algn="ctr">
                <a:lnSpc>
                  <a:spcPts val="3250"/>
                </a:lnSpc>
              </a:pPr>
              <a:endParaRPr/>
            </a:p>
          </p:txBody>
        </p:sp>
      </p:grpSp>
      <p:grpSp>
        <p:nvGrpSpPr>
          <p:cNvPr id="5" name="Group 5"/>
          <p:cNvGrpSpPr/>
          <p:nvPr/>
        </p:nvGrpSpPr>
        <p:grpSpPr>
          <a:xfrm>
            <a:off x="1028700" y="3432086"/>
            <a:ext cx="7683712" cy="1597114"/>
            <a:chOff x="0" y="0"/>
            <a:chExt cx="2091853" cy="434807"/>
          </a:xfrm>
        </p:grpSpPr>
        <p:sp>
          <p:nvSpPr>
            <p:cNvPr id="6" name="Freeform 6"/>
            <p:cNvSpPr/>
            <p:nvPr/>
          </p:nvSpPr>
          <p:spPr>
            <a:xfrm>
              <a:off x="0" y="0"/>
              <a:ext cx="2091853" cy="434807"/>
            </a:xfrm>
            <a:custGeom>
              <a:avLst/>
              <a:gdLst/>
              <a:ahLst/>
              <a:cxnLst/>
              <a:rect l="l" t="t" r="r" b="b"/>
              <a:pathLst>
                <a:path w="2091853" h="434807">
                  <a:moveTo>
                    <a:pt x="30227" y="0"/>
                  </a:moveTo>
                  <a:lnTo>
                    <a:pt x="2061626" y="0"/>
                  </a:lnTo>
                  <a:cubicBezTo>
                    <a:pt x="2069642" y="0"/>
                    <a:pt x="2077331" y="3185"/>
                    <a:pt x="2082999" y="8853"/>
                  </a:cubicBezTo>
                  <a:cubicBezTo>
                    <a:pt x="2088668" y="14522"/>
                    <a:pt x="2091853" y="22210"/>
                    <a:pt x="2091853" y="30227"/>
                  </a:cubicBezTo>
                  <a:lnTo>
                    <a:pt x="2091853" y="404579"/>
                  </a:lnTo>
                  <a:cubicBezTo>
                    <a:pt x="2091853" y="412596"/>
                    <a:pt x="2088668" y="420284"/>
                    <a:pt x="2082999" y="425953"/>
                  </a:cubicBezTo>
                  <a:cubicBezTo>
                    <a:pt x="2077331" y="431622"/>
                    <a:pt x="2069642" y="434807"/>
                    <a:pt x="2061626" y="434807"/>
                  </a:cubicBezTo>
                  <a:lnTo>
                    <a:pt x="30227" y="434807"/>
                  </a:lnTo>
                  <a:cubicBezTo>
                    <a:pt x="22210" y="434807"/>
                    <a:pt x="14522" y="431622"/>
                    <a:pt x="8853" y="425953"/>
                  </a:cubicBezTo>
                  <a:cubicBezTo>
                    <a:pt x="3185" y="420284"/>
                    <a:pt x="0" y="412596"/>
                    <a:pt x="0" y="404579"/>
                  </a:cubicBezTo>
                  <a:lnTo>
                    <a:pt x="0" y="30227"/>
                  </a:lnTo>
                  <a:cubicBezTo>
                    <a:pt x="0" y="22210"/>
                    <a:pt x="3185" y="14522"/>
                    <a:pt x="8853" y="8853"/>
                  </a:cubicBezTo>
                  <a:cubicBezTo>
                    <a:pt x="14522" y="3185"/>
                    <a:pt x="22210" y="0"/>
                    <a:pt x="30227" y="0"/>
                  </a:cubicBezTo>
                  <a:close/>
                </a:path>
              </a:pathLst>
            </a:custGeom>
            <a:solidFill>
              <a:srgbClr val="E0E0E0"/>
            </a:solidFill>
            <a:ln cap="rnd">
              <a:noFill/>
              <a:prstDash val="solid"/>
              <a:round/>
            </a:ln>
          </p:spPr>
        </p:sp>
        <p:sp>
          <p:nvSpPr>
            <p:cNvPr id="7" name="TextBox 7"/>
            <p:cNvSpPr txBox="1"/>
            <p:nvPr/>
          </p:nvSpPr>
          <p:spPr>
            <a:xfrm>
              <a:off x="0" y="-57150"/>
              <a:ext cx="2091853" cy="491957"/>
            </a:xfrm>
            <a:prstGeom prst="rect">
              <a:avLst/>
            </a:prstGeom>
          </p:spPr>
          <p:txBody>
            <a:bodyPr lIns="50800" tIns="50800" rIns="50800" bIns="50800" rtlCol="0" anchor="ctr"/>
            <a:lstStyle/>
            <a:p>
              <a:pPr algn="ctr">
                <a:lnSpc>
                  <a:spcPts val="3250"/>
                </a:lnSpc>
              </a:pPr>
              <a:endParaRPr/>
            </a:p>
          </p:txBody>
        </p:sp>
      </p:grpSp>
      <p:grpSp>
        <p:nvGrpSpPr>
          <p:cNvPr id="8" name="Group 8"/>
          <p:cNvGrpSpPr/>
          <p:nvPr/>
        </p:nvGrpSpPr>
        <p:grpSpPr>
          <a:xfrm>
            <a:off x="1028700" y="5546636"/>
            <a:ext cx="7683712" cy="1597114"/>
            <a:chOff x="0" y="0"/>
            <a:chExt cx="2091853" cy="434807"/>
          </a:xfrm>
        </p:grpSpPr>
        <p:sp>
          <p:nvSpPr>
            <p:cNvPr id="9" name="Freeform 9"/>
            <p:cNvSpPr/>
            <p:nvPr/>
          </p:nvSpPr>
          <p:spPr>
            <a:xfrm>
              <a:off x="0" y="0"/>
              <a:ext cx="2091853" cy="434807"/>
            </a:xfrm>
            <a:custGeom>
              <a:avLst/>
              <a:gdLst/>
              <a:ahLst/>
              <a:cxnLst/>
              <a:rect l="l" t="t" r="r" b="b"/>
              <a:pathLst>
                <a:path w="2091853" h="434807">
                  <a:moveTo>
                    <a:pt x="30227" y="0"/>
                  </a:moveTo>
                  <a:lnTo>
                    <a:pt x="2061626" y="0"/>
                  </a:lnTo>
                  <a:cubicBezTo>
                    <a:pt x="2069642" y="0"/>
                    <a:pt x="2077331" y="3185"/>
                    <a:pt x="2082999" y="8853"/>
                  </a:cubicBezTo>
                  <a:cubicBezTo>
                    <a:pt x="2088668" y="14522"/>
                    <a:pt x="2091853" y="22210"/>
                    <a:pt x="2091853" y="30227"/>
                  </a:cubicBezTo>
                  <a:lnTo>
                    <a:pt x="2091853" y="404579"/>
                  </a:lnTo>
                  <a:cubicBezTo>
                    <a:pt x="2091853" y="412596"/>
                    <a:pt x="2088668" y="420284"/>
                    <a:pt x="2082999" y="425953"/>
                  </a:cubicBezTo>
                  <a:cubicBezTo>
                    <a:pt x="2077331" y="431622"/>
                    <a:pt x="2069642" y="434807"/>
                    <a:pt x="2061626" y="434807"/>
                  </a:cubicBezTo>
                  <a:lnTo>
                    <a:pt x="30227" y="434807"/>
                  </a:lnTo>
                  <a:cubicBezTo>
                    <a:pt x="22210" y="434807"/>
                    <a:pt x="14522" y="431622"/>
                    <a:pt x="8853" y="425953"/>
                  </a:cubicBezTo>
                  <a:cubicBezTo>
                    <a:pt x="3185" y="420284"/>
                    <a:pt x="0" y="412596"/>
                    <a:pt x="0" y="404579"/>
                  </a:cubicBezTo>
                  <a:lnTo>
                    <a:pt x="0" y="30227"/>
                  </a:lnTo>
                  <a:cubicBezTo>
                    <a:pt x="0" y="22210"/>
                    <a:pt x="3185" y="14522"/>
                    <a:pt x="8853" y="8853"/>
                  </a:cubicBezTo>
                  <a:cubicBezTo>
                    <a:pt x="14522" y="3185"/>
                    <a:pt x="22210" y="0"/>
                    <a:pt x="30227" y="0"/>
                  </a:cubicBezTo>
                  <a:close/>
                </a:path>
              </a:pathLst>
            </a:custGeom>
            <a:solidFill>
              <a:srgbClr val="E0E0E0"/>
            </a:solidFill>
            <a:ln cap="rnd">
              <a:noFill/>
              <a:prstDash val="solid"/>
              <a:round/>
            </a:ln>
          </p:spPr>
        </p:sp>
        <p:sp>
          <p:nvSpPr>
            <p:cNvPr id="10" name="TextBox 10"/>
            <p:cNvSpPr txBox="1"/>
            <p:nvPr/>
          </p:nvSpPr>
          <p:spPr>
            <a:xfrm>
              <a:off x="0" y="-57150"/>
              <a:ext cx="2091853" cy="491957"/>
            </a:xfrm>
            <a:prstGeom prst="rect">
              <a:avLst/>
            </a:prstGeom>
          </p:spPr>
          <p:txBody>
            <a:bodyPr lIns="50800" tIns="50800" rIns="50800" bIns="50800" rtlCol="0" anchor="ctr"/>
            <a:lstStyle/>
            <a:p>
              <a:pPr algn="ctr">
                <a:lnSpc>
                  <a:spcPts val="3250"/>
                </a:lnSpc>
              </a:pPr>
              <a:endParaRPr/>
            </a:p>
          </p:txBody>
        </p:sp>
      </p:grpSp>
      <p:grpSp>
        <p:nvGrpSpPr>
          <p:cNvPr id="11" name="Group 11"/>
          <p:cNvGrpSpPr/>
          <p:nvPr/>
        </p:nvGrpSpPr>
        <p:grpSpPr>
          <a:xfrm>
            <a:off x="1028700" y="7661186"/>
            <a:ext cx="7683712" cy="1597114"/>
            <a:chOff x="0" y="0"/>
            <a:chExt cx="2091853" cy="434807"/>
          </a:xfrm>
        </p:grpSpPr>
        <p:sp>
          <p:nvSpPr>
            <p:cNvPr id="12" name="Freeform 12"/>
            <p:cNvSpPr/>
            <p:nvPr/>
          </p:nvSpPr>
          <p:spPr>
            <a:xfrm>
              <a:off x="0" y="0"/>
              <a:ext cx="2091853" cy="434807"/>
            </a:xfrm>
            <a:custGeom>
              <a:avLst/>
              <a:gdLst/>
              <a:ahLst/>
              <a:cxnLst/>
              <a:rect l="l" t="t" r="r" b="b"/>
              <a:pathLst>
                <a:path w="2091853" h="434807">
                  <a:moveTo>
                    <a:pt x="30227" y="0"/>
                  </a:moveTo>
                  <a:lnTo>
                    <a:pt x="2061626" y="0"/>
                  </a:lnTo>
                  <a:cubicBezTo>
                    <a:pt x="2069642" y="0"/>
                    <a:pt x="2077331" y="3185"/>
                    <a:pt x="2082999" y="8853"/>
                  </a:cubicBezTo>
                  <a:cubicBezTo>
                    <a:pt x="2088668" y="14522"/>
                    <a:pt x="2091853" y="22210"/>
                    <a:pt x="2091853" y="30227"/>
                  </a:cubicBezTo>
                  <a:lnTo>
                    <a:pt x="2091853" y="404579"/>
                  </a:lnTo>
                  <a:cubicBezTo>
                    <a:pt x="2091853" y="412596"/>
                    <a:pt x="2088668" y="420284"/>
                    <a:pt x="2082999" y="425953"/>
                  </a:cubicBezTo>
                  <a:cubicBezTo>
                    <a:pt x="2077331" y="431622"/>
                    <a:pt x="2069642" y="434807"/>
                    <a:pt x="2061626" y="434807"/>
                  </a:cubicBezTo>
                  <a:lnTo>
                    <a:pt x="30227" y="434807"/>
                  </a:lnTo>
                  <a:cubicBezTo>
                    <a:pt x="22210" y="434807"/>
                    <a:pt x="14522" y="431622"/>
                    <a:pt x="8853" y="425953"/>
                  </a:cubicBezTo>
                  <a:cubicBezTo>
                    <a:pt x="3185" y="420284"/>
                    <a:pt x="0" y="412596"/>
                    <a:pt x="0" y="404579"/>
                  </a:cubicBezTo>
                  <a:lnTo>
                    <a:pt x="0" y="30227"/>
                  </a:lnTo>
                  <a:cubicBezTo>
                    <a:pt x="0" y="22210"/>
                    <a:pt x="3185" y="14522"/>
                    <a:pt x="8853" y="8853"/>
                  </a:cubicBezTo>
                  <a:cubicBezTo>
                    <a:pt x="14522" y="3185"/>
                    <a:pt x="22210" y="0"/>
                    <a:pt x="30227" y="0"/>
                  </a:cubicBezTo>
                  <a:close/>
                </a:path>
              </a:pathLst>
            </a:custGeom>
            <a:solidFill>
              <a:srgbClr val="E0E0E0"/>
            </a:solidFill>
            <a:ln cap="rnd">
              <a:noFill/>
              <a:prstDash val="solid"/>
              <a:round/>
            </a:ln>
          </p:spPr>
        </p:sp>
        <p:sp>
          <p:nvSpPr>
            <p:cNvPr id="13" name="TextBox 13"/>
            <p:cNvSpPr txBox="1"/>
            <p:nvPr/>
          </p:nvSpPr>
          <p:spPr>
            <a:xfrm>
              <a:off x="0" y="-57150"/>
              <a:ext cx="2091853" cy="491957"/>
            </a:xfrm>
            <a:prstGeom prst="rect">
              <a:avLst/>
            </a:prstGeom>
          </p:spPr>
          <p:txBody>
            <a:bodyPr lIns="50800" tIns="50800" rIns="50800" bIns="50800" rtlCol="0" anchor="ctr"/>
            <a:lstStyle/>
            <a:p>
              <a:pPr algn="ctr">
                <a:lnSpc>
                  <a:spcPts val="3250"/>
                </a:lnSpc>
              </a:pPr>
              <a:endParaRPr/>
            </a:p>
          </p:txBody>
        </p:sp>
      </p:grpSp>
      <p:grpSp>
        <p:nvGrpSpPr>
          <p:cNvPr id="14" name="Group 14"/>
          <p:cNvGrpSpPr/>
          <p:nvPr/>
        </p:nvGrpSpPr>
        <p:grpSpPr>
          <a:xfrm>
            <a:off x="4478212" y="1028700"/>
            <a:ext cx="4234200" cy="577671"/>
            <a:chOff x="0" y="0"/>
            <a:chExt cx="1948972" cy="265898"/>
          </a:xfrm>
        </p:grpSpPr>
        <p:sp>
          <p:nvSpPr>
            <p:cNvPr id="15" name="Freeform 15"/>
            <p:cNvSpPr/>
            <p:nvPr/>
          </p:nvSpPr>
          <p:spPr>
            <a:xfrm>
              <a:off x="0" y="0"/>
              <a:ext cx="1948972" cy="265898"/>
            </a:xfrm>
            <a:custGeom>
              <a:avLst/>
              <a:gdLst/>
              <a:ahLst/>
              <a:cxnLst/>
              <a:rect l="l" t="t" r="r" b="b"/>
              <a:pathLst>
                <a:path w="1948972" h="265898">
                  <a:moveTo>
                    <a:pt x="36569" y="0"/>
                  </a:moveTo>
                  <a:lnTo>
                    <a:pt x="1912403" y="0"/>
                  </a:lnTo>
                  <a:cubicBezTo>
                    <a:pt x="1922102" y="0"/>
                    <a:pt x="1931403" y="3853"/>
                    <a:pt x="1938261" y="10711"/>
                  </a:cubicBezTo>
                  <a:cubicBezTo>
                    <a:pt x="1945119" y="17569"/>
                    <a:pt x="1948972" y="26870"/>
                    <a:pt x="1948972" y="36569"/>
                  </a:cubicBezTo>
                  <a:lnTo>
                    <a:pt x="1948972" y="229329"/>
                  </a:lnTo>
                  <a:cubicBezTo>
                    <a:pt x="1948972" y="249526"/>
                    <a:pt x="1932599" y="265898"/>
                    <a:pt x="1912403" y="265898"/>
                  </a:cubicBezTo>
                  <a:lnTo>
                    <a:pt x="36569" y="265898"/>
                  </a:lnTo>
                  <a:cubicBezTo>
                    <a:pt x="26870" y="265898"/>
                    <a:pt x="17569" y="262045"/>
                    <a:pt x="10711" y="255187"/>
                  </a:cubicBezTo>
                  <a:cubicBezTo>
                    <a:pt x="3853" y="248329"/>
                    <a:pt x="0" y="239028"/>
                    <a:pt x="0" y="229329"/>
                  </a:cubicBezTo>
                  <a:lnTo>
                    <a:pt x="0" y="36569"/>
                  </a:lnTo>
                  <a:cubicBezTo>
                    <a:pt x="0" y="26870"/>
                    <a:pt x="3853" y="17569"/>
                    <a:pt x="10711" y="10711"/>
                  </a:cubicBezTo>
                  <a:cubicBezTo>
                    <a:pt x="17569" y="3853"/>
                    <a:pt x="26870" y="0"/>
                    <a:pt x="36569" y="0"/>
                  </a:cubicBezTo>
                  <a:close/>
                </a:path>
              </a:pathLst>
            </a:custGeom>
            <a:solidFill>
              <a:srgbClr val="1960BD"/>
            </a:solidFill>
            <a:ln cap="sq">
              <a:noFill/>
              <a:prstDash val="solid"/>
              <a:miter/>
            </a:ln>
          </p:spPr>
        </p:sp>
        <p:sp>
          <p:nvSpPr>
            <p:cNvPr id="16" name="TextBox 16"/>
            <p:cNvSpPr txBox="1"/>
            <p:nvPr/>
          </p:nvSpPr>
          <p:spPr>
            <a:xfrm>
              <a:off x="0" y="-57150"/>
              <a:ext cx="1948972" cy="323048"/>
            </a:xfrm>
            <a:prstGeom prst="rect">
              <a:avLst/>
            </a:prstGeom>
          </p:spPr>
          <p:txBody>
            <a:bodyPr lIns="50800" tIns="50800" rIns="50800" bIns="50800" rtlCol="0" anchor="ctr"/>
            <a:lstStyle/>
            <a:p>
              <a:pPr algn="l">
                <a:lnSpc>
                  <a:spcPts val="3250"/>
                </a:lnSpc>
              </a:pPr>
              <a:endParaRPr/>
            </a:p>
          </p:txBody>
        </p:sp>
      </p:grpSp>
      <p:sp>
        <p:nvSpPr>
          <p:cNvPr id="17" name="TextBox 17"/>
          <p:cNvSpPr txBox="1"/>
          <p:nvPr/>
        </p:nvSpPr>
        <p:spPr>
          <a:xfrm>
            <a:off x="1379301" y="1704276"/>
            <a:ext cx="6982509" cy="662297"/>
          </a:xfrm>
          <a:prstGeom prst="rect">
            <a:avLst/>
          </a:prstGeom>
        </p:spPr>
        <p:txBody>
          <a:bodyPr lIns="0" tIns="0" rIns="0" bIns="0" rtlCol="0" anchor="t">
            <a:spAutoFit/>
          </a:bodyPr>
          <a:lstStyle/>
          <a:p>
            <a:pPr algn="just" rtl="1">
              <a:lnSpc>
                <a:spcPts val="2704"/>
              </a:lnSpc>
            </a:pPr>
            <a:r>
              <a:rPr lang="ar-EG" sz="1931" dirty="0">
                <a:solidFill>
                  <a:srgbClr val="1E1E1E"/>
                </a:solidFill>
                <a:latin typeface="Poppins"/>
                <a:ea typeface="Poppins"/>
                <a:sym typeface="Poppins"/>
                <a:rtl/>
              </a:rPr>
              <a:t>جمع خدمات ما بعد البيع ضمن نظام واحد بدل إدارتها بشكل منفصل، لتسهيل المتابعة وربط مراحل الخدمة ببعضها.</a:t>
            </a:r>
          </a:p>
        </p:txBody>
      </p:sp>
      <p:sp>
        <p:nvSpPr>
          <p:cNvPr id="18" name="TextBox 18"/>
          <p:cNvSpPr txBox="1"/>
          <p:nvPr/>
        </p:nvSpPr>
        <p:spPr>
          <a:xfrm>
            <a:off x="4478212" y="1061577"/>
            <a:ext cx="4234200" cy="397032"/>
          </a:xfrm>
          <a:prstGeom prst="rect">
            <a:avLst/>
          </a:prstGeom>
        </p:spPr>
        <p:txBody>
          <a:bodyPr lIns="0" tIns="0" rIns="0" bIns="0" rtlCol="0" anchor="t">
            <a:spAutoFit/>
          </a:bodyPr>
          <a:lstStyle/>
          <a:p>
            <a:pPr algn="ctr">
              <a:lnSpc>
                <a:spcPts val="3359"/>
              </a:lnSpc>
            </a:pPr>
            <a:r>
              <a:rPr lang="ar-EG" sz="2400" b="1" dirty="0">
                <a:solidFill>
                  <a:srgbClr val="FFFFFF"/>
                </a:solidFill>
                <a:latin typeface="Poppins Semi-Bold"/>
                <a:ea typeface="Poppins Semi-Bold"/>
                <a:sym typeface="Poppins Semi-Bold"/>
                <a:rtl/>
              </a:rPr>
              <a:t>توحيد الخدمات</a:t>
            </a:r>
          </a:p>
        </p:txBody>
      </p:sp>
      <p:sp>
        <p:nvSpPr>
          <p:cNvPr id="19" name="TextBox 19"/>
          <p:cNvSpPr txBox="1"/>
          <p:nvPr/>
        </p:nvSpPr>
        <p:spPr>
          <a:xfrm>
            <a:off x="1379301" y="3818826"/>
            <a:ext cx="6982509" cy="662297"/>
          </a:xfrm>
          <a:prstGeom prst="rect">
            <a:avLst/>
          </a:prstGeom>
        </p:spPr>
        <p:txBody>
          <a:bodyPr lIns="0" tIns="0" rIns="0" bIns="0" rtlCol="0" anchor="t">
            <a:spAutoFit/>
          </a:bodyPr>
          <a:lstStyle/>
          <a:p>
            <a:pPr algn="just" rtl="1">
              <a:lnSpc>
                <a:spcPts val="2704"/>
              </a:lnSpc>
            </a:pPr>
            <a:r>
              <a:rPr lang="ar-EG" sz="1931" dirty="0">
                <a:solidFill>
                  <a:srgbClr val="1E1E1E"/>
                </a:solidFill>
                <a:latin typeface="Poppins"/>
                <a:ea typeface="Poppins"/>
                <a:sym typeface="Poppins"/>
                <a:rtl/>
              </a:rPr>
              <a:t>تحديد مسار واضح لكل خدمة من بداية الطلب حتى الإغلاق، مع معرفة المرحلة الحالية والخطوة التالية.</a:t>
            </a:r>
          </a:p>
        </p:txBody>
      </p:sp>
      <p:sp>
        <p:nvSpPr>
          <p:cNvPr id="20" name="TextBox 20"/>
          <p:cNvSpPr txBox="1"/>
          <p:nvPr/>
        </p:nvSpPr>
        <p:spPr>
          <a:xfrm>
            <a:off x="1379301" y="5933376"/>
            <a:ext cx="6982509" cy="662297"/>
          </a:xfrm>
          <a:prstGeom prst="rect">
            <a:avLst/>
          </a:prstGeom>
        </p:spPr>
        <p:txBody>
          <a:bodyPr lIns="0" tIns="0" rIns="0" bIns="0" rtlCol="0" anchor="t">
            <a:spAutoFit/>
          </a:bodyPr>
          <a:lstStyle/>
          <a:p>
            <a:pPr algn="just" rtl="1">
              <a:lnSpc>
                <a:spcPts val="2704"/>
              </a:lnSpc>
            </a:pPr>
            <a:r>
              <a:rPr lang="ar-EG" sz="1931" dirty="0">
                <a:solidFill>
                  <a:srgbClr val="1E1E1E"/>
                </a:solidFill>
                <a:latin typeface="Poppins"/>
                <a:ea typeface="Poppins"/>
                <a:sym typeface="Poppins"/>
                <a:rtl/>
              </a:rPr>
              <a:t>أتمتة أكبر عدد ممكن من الخطوات وتقليل الاعتماد على المتابعة اليدوية والاجتهاد الشخصي للموظف.</a:t>
            </a:r>
          </a:p>
        </p:txBody>
      </p:sp>
      <p:sp>
        <p:nvSpPr>
          <p:cNvPr id="21" name="TextBox 21"/>
          <p:cNvSpPr txBox="1"/>
          <p:nvPr/>
        </p:nvSpPr>
        <p:spPr>
          <a:xfrm>
            <a:off x="1379301" y="8047926"/>
            <a:ext cx="6982509" cy="662297"/>
          </a:xfrm>
          <a:prstGeom prst="rect">
            <a:avLst/>
          </a:prstGeom>
        </p:spPr>
        <p:txBody>
          <a:bodyPr lIns="0" tIns="0" rIns="0" bIns="0" rtlCol="0" anchor="t">
            <a:spAutoFit/>
          </a:bodyPr>
          <a:lstStyle/>
          <a:p>
            <a:pPr algn="just" rtl="1">
              <a:lnSpc>
                <a:spcPts val="2704"/>
              </a:lnSpc>
            </a:pPr>
            <a:r>
              <a:rPr lang="ar-EG" sz="1931" dirty="0">
                <a:solidFill>
                  <a:srgbClr val="1E1E1E"/>
                </a:solidFill>
                <a:latin typeface="Poppins"/>
                <a:ea typeface="Poppins"/>
                <a:sym typeface="Poppins"/>
                <a:rtl/>
              </a:rPr>
              <a:t>تحديد المسؤول عن كل مرحلة وتسهيل معرفة سبب التأخير أو مكان توقف الخدمة عند حدوث مشكلة.</a:t>
            </a:r>
          </a:p>
        </p:txBody>
      </p:sp>
      <p:grpSp>
        <p:nvGrpSpPr>
          <p:cNvPr id="22" name="Group 22"/>
          <p:cNvGrpSpPr/>
          <p:nvPr/>
        </p:nvGrpSpPr>
        <p:grpSpPr>
          <a:xfrm rot="5400000">
            <a:off x="10410133" y="-48592"/>
            <a:ext cx="5771875" cy="7926458"/>
            <a:chOff x="0" y="0"/>
            <a:chExt cx="1558866" cy="2140775"/>
          </a:xfrm>
        </p:grpSpPr>
        <p:sp>
          <p:nvSpPr>
            <p:cNvPr id="23" name="Freeform 23"/>
            <p:cNvSpPr/>
            <p:nvPr/>
          </p:nvSpPr>
          <p:spPr>
            <a:xfrm>
              <a:off x="0" y="0"/>
              <a:ext cx="1558866" cy="2140775"/>
            </a:xfrm>
            <a:custGeom>
              <a:avLst/>
              <a:gdLst/>
              <a:ahLst/>
              <a:cxnLst/>
              <a:rect l="l" t="t" r="r" b="b"/>
              <a:pathLst>
                <a:path w="1558866" h="2140775">
                  <a:moveTo>
                    <a:pt x="40240" y="0"/>
                  </a:moveTo>
                  <a:lnTo>
                    <a:pt x="1518626" y="0"/>
                  </a:lnTo>
                  <a:cubicBezTo>
                    <a:pt x="1540850" y="0"/>
                    <a:pt x="1558866" y="18016"/>
                    <a:pt x="1558866" y="40240"/>
                  </a:cubicBezTo>
                  <a:lnTo>
                    <a:pt x="1558866" y="2100536"/>
                  </a:lnTo>
                  <a:cubicBezTo>
                    <a:pt x="1558866" y="2122759"/>
                    <a:pt x="1540850" y="2140775"/>
                    <a:pt x="1518626" y="2140775"/>
                  </a:cubicBezTo>
                  <a:lnTo>
                    <a:pt x="40240" y="2140775"/>
                  </a:lnTo>
                  <a:cubicBezTo>
                    <a:pt x="18016" y="2140775"/>
                    <a:pt x="0" y="2122759"/>
                    <a:pt x="0" y="2100536"/>
                  </a:cubicBezTo>
                  <a:lnTo>
                    <a:pt x="0" y="40240"/>
                  </a:lnTo>
                  <a:cubicBezTo>
                    <a:pt x="0" y="18016"/>
                    <a:pt x="18016" y="0"/>
                    <a:pt x="40240" y="0"/>
                  </a:cubicBezTo>
                  <a:close/>
                </a:path>
              </a:pathLst>
            </a:custGeom>
            <a:solidFill>
              <a:srgbClr val="1960BD"/>
            </a:solidFill>
            <a:ln cap="rnd">
              <a:noFill/>
              <a:prstDash val="solid"/>
              <a:round/>
            </a:ln>
          </p:spPr>
        </p:sp>
        <p:sp>
          <p:nvSpPr>
            <p:cNvPr id="24" name="TextBox 24"/>
            <p:cNvSpPr txBox="1"/>
            <p:nvPr/>
          </p:nvSpPr>
          <p:spPr>
            <a:xfrm>
              <a:off x="0" y="-57150"/>
              <a:ext cx="1558866" cy="2197925"/>
            </a:xfrm>
            <a:prstGeom prst="rect">
              <a:avLst/>
            </a:prstGeom>
          </p:spPr>
          <p:txBody>
            <a:bodyPr lIns="52178" tIns="52178" rIns="52178" bIns="52178" rtlCol="0" anchor="ctr"/>
            <a:lstStyle/>
            <a:p>
              <a:pPr algn="ctr">
                <a:lnSpc>
                  <a:spcPts val="3250"/>
                </a:lnSpc>
              </a:pPr>
              <a:endParaRPr/>
            </a:p>
          </p:txBody>
        </p:sp>
      </p:grpSp>
      <p:grpSp>
        <p:nvGrpSpPr>
          <p:cNvPr id="25" name="Group 25"/>
          <p:cNvGrpSpPr/>
          <p:nvPr/>
        </p:nvGrpSpPr>
        <p:grpSpPr>
          <a:xfrm rot="5400000">
            <a:off x="12336989" y="4335989"/>
            <a:ext cx="1918164" cy="7926458"/>
            <a:chOff x="0" y="0"/>
            <a:chExt cx="518057" cy="2140775"/>
          </a:xfrm>
        </p:grpSpPr>
        <p:sp>
          <p:nvSpPr>
            <p:cNvPr id="26" name="Freeform 26"/>
            <p:cNvSpPr/>
            <p:nvPr/>
          </p:nvSpPr>
          <p:spPr>
            <a:xfrm>
              <a:off x="0" y="0"/>
              <a:ext cx="518057" cy="2140775"/>
            </a:xfrm>
            <a:custGeom>
              <a:avLst/>
              <a:gdLst/>
              <a:ahLst/>
              <a:cxnLst/>
              <a:rect l="l" t="t" r="r" b="b"/>
              <a:pathLst>
                <a:path w="518057" h="2140775">
                  <a:moveTo>
                    <a:pt x="121083" y="0"/>
                  </a:moveTo>
                  <a:lnTo>
                    <a:pt x="396974" y="0"/>
                  </a:lnTo>
                  <a:cubicBezTo>
                    <a:pt x="429087" y="0"/>
                    <a:pt x="459885" y="12757"/>
                    <a:pt x="482593" y="35464"/>
                  </a:cubicBezTo>
                  <a:cubicBezTo>
                    <a:pt x="505300" y="58172"/>
                    <a:pt x="518057" y="88970"/>
                    <a:pt x="518057" y="121083"/>
                  </a:cubicBezTo>
                  <a:lnTo>
                    <a:pt x="518057" y="2019692"/>
                  </a:lnTo>
                  <a:cubicBezTo>
                    <a:pt x="518057" y="2086564"/>
                    <a:pt x="463846" y="2140775"/>
                    <a:pt x="396974" y="2140775"/>
                  </a:cubicBezTo>
                  <a:lnTo>
                    <a:pt x="121083" y="2140775"/>
                  </a:lnTo>
                  <a:cubicBezTo>
                    <a:pt x="88970" y="2140775"/>
                    <a:pt x="58172" y="2128018"/>
                    <a:pt x="35464" y="2105311"/>
                  </a:cubicBezTo>
                  <a:cubicBezTo>
                    <a:pt x="12757" y="2082603"/>
                    <a:pt x="0" y="2051805"/>
                    <a:pt x="0" y="2019692"/>
                  </a:cubicBezTo>
                  <a:lnTo>
                    <a:pt x="0" y="121083"/>
                  </a:lnTo>
                  <a:cubicBezTo>
                    <a:pt x="0" y="88970"/>
                    <a:pt x="12757" y="58172"/>
                    <a:pt x="35464" y="35464"/>
                  </a:cubicBezTo>
                  <a:cubicBezTo>
                    <a:pt x="58172" y="12757"/>
                    <a:pt x="88970" y="0"/>
                    <a:pt x="121083" y="0"/>
                  </a:cubicBezTo>
                  <a:close/>
                </a:path>
              </a:pathLst>
            </a:custGeom>
            <a:solidFill>
              <a:srgbClr val="1960BD"/>
            </a:solidFill>
            <a:ln cap="rnd">
              <a:noFill/>
              <a:prstDash val="solid"/>
              <a:round/>
            </a:ln>
          </p:spPr>
        </p:sp>
        <p:sp>
          <p:nvSpPr>
            <p:cNvPr id="27" name="TextBox 27"/>
            <p:cNvSpPr txBox="1"/>
            <p:nvPr/>
          </p:nvSpPr>
          <p:spPr>
            <a:xfrm>
              <a:off x="0" y="-57150"/>
              <a:ext cx="518057" cy="2197925"/>
            </a:xfrm>
            <a:prstGeom prst="rect">
              <a:avLst/>
            </a:prstGeom>
          </p:spPr>
          <p:txBody>
            <a:bodyPr lIns="52178" tIns="52178" rIns="52178" bIns="52178" rtlCol="0" anchor="ctr"/>
            <a:lstStyle/>
            <a:p>
              <a:pPr algn="ctr">
                <a:lnSpc>
                  <a:spcPts val="3250"/>
                </a:lnSpc>
              </a:pPr>
              <a:endParaRPr/>
            </a:p>
          </p:txBody>
        </p:sp>
      </p:grpSp>
      <p:sp>
        <p:nvSpPr>
          <p:cNvPr id="28" name="TextBox 28"/>
          <p:cNvSpPr txBox="1"/>
          <p:nvPr/>
        </p:nvSpPr>
        <p:spPr>
          <a:xfrm>
            <a:off x="10599168" y="1720671"/>
            <a:ext cx="6450457" cy="769441"/>
          </a:xfrm>
          <a:prstGeom prst="rect">
            <a:avLst/>
          </a:prstGeom>
        </p:spPr>
        <p:txBody>
          <a:bodyPr lIns="0" tIns="0" rIns="0" bIns="0" rtlCol="0" anchor="t">
            <a:spAutoFit/>
          </a:bodyPr>
          <a:lstStyle/>
          <a:p>
            <a:pPr algn="l">
              <a:lnSpc>
                <a:spcPts val="6023"/>
              </a:lnSpc>
            </a:pPr>
            <a:r>
              <a:rPr lang="ar-EG" sz="6023" b="1" dirty="0">
                <a:solidFill>
                  <a:srgbClr val="FFFFFF"/>
                </a:solidFill>
                <a:latin typeface="Glacial Indifference Bold"/>
                <a:ea typeface="Glacial Indifference Bold"/>
                <a:sym typeface="Glacial Indifference Bold"/>
                <a:rtl/>
              </a:rPr>
              <a:t>الهدف من المشروع</a:t>
            </a:r>
          </a:p>
        </p:txBody>
      </p:sp>
      <p:sp>
        <p:nvSpPr>
          <p:cNvPr id="29" name="TextBox 29"/>
          <p:cNvSpPr txBox="1"/>
          <p:nvPr/>
        </p:nvSpPr>
        <p:spPr>
          <a:xfrm>
            <a:off x="10126852" y="3262042"/>
            <a:ext cx="6725241" cy="785471"/>
          </a:xfrm>
          <a:prstGeom prst="rect">
            <a:avLst/>
          </a:prstGeom>
        </p:spPr>
        <p:txBody>
          <a:bodyPr lIns="0" tIns="0" rIns="0" bIns="0" rtlCol="0" anchor="t">
            <a:spAutoFit/>
          </a:bodyPr>
          <a:lstStyle/>
          <a:p>
            <a:pPr algn="r" rtl="1">
              <a:lnSpc>
                <a:spcPts val="3230"/>
              </a:lnSpc>
            </a:pPr>
            <a:r>
              <a:rPr lang="ar-EG" sz="2307" b="1" dirty="0">
                <a:solidFill>
                  <a:srgbClr val="FFFFFF"/>
                </a:solidFill>
                <a:latin typeface="Poppins Medium"/>
                <a:ea typeface="Poppins Medium"/>
                <a:sym typeface="Poppins Medium"/>
                <a:rtl/>
              </a:rPr>
              <a:t>بناء رحلة موحّدة وواضحة لخدمات ما بعد البيع، يمكن متابعتها وإدارتها من مكان واحد بكفاءة أعلى وأخطاء أقل.</a:t>
            </a:r>
          </a:p>
        </p:txBody>
      </p:sp>
      <p:sp>
        <p:nvSpPr>
          <p:cNvPr id="30" name="TextBox 30"/>
          <p:cNvSpPr txBox="1"/>
          <p:nvPr/>
        </p:nvSpPr>
        <p:spPr>
          <a:xfrm>
            <a:off x="9858680" y="7556298"/>
            <a:ext cx="6993414" cy="636777"/>
          </a:xfrm>
          <a:prstGeom prst="rect">
            <a:avLst/>
          </a:prstGeom>
        </p:spPr>
        <p:txBody>
          <a:bodyPr lIns="0" tIns="0" rIns="0" bIns="0" rtlCol="0" anchor="t">
            <a:spAutoFit/>
          </a:bodyPr>
          <a:lstStyle/>
          <a:p>
            <a:pPr algn="just" rtl="1">
              <a:lnSpc>
                <a:spcPts val="2558"/>
              </a:lnSpc>
            </a:pPr>
            <a:r>
              <a:rPr lang="ar-EG" sz="1827" b="1" dirty="0">
                <a:solidFill>
                  <a:srgbClr val="FFFFFF"/>
                </a:solidFill>
                <a:latin typeface="Poppins Medium"/>
                <a:ea typeface="Poppins Medium"/>
                <a:sym typeface="Poppins Medium"/>
                <a:rtl/>
              </a:rPr>
              <a:t>"تهدف هذه المحاور إلى بناء عملية تشغيلية أكثر وضوحًا وترابطًا، تساعد الموظف على تنفيذ الخدمة بشكل صحيح، وتمنح الإدارة رؤية أفضل على سير الطلبات والخدمات."</a:t>
            </a:r>
          </a:p>
        </p:txBody>
      </p:sp>
      <p:grpSp>
        <p:nvGrpSpPr>
          <p:cNvPr id="31" name="Group 31"/>
          <p:cNvGrpSpPr/>
          <p:nvPr/>
        </p:nvGrpSpPr>
        <p:grpSpPr>
          <a:xfrm>
            <a:off x="4478212" y="3067050"/>
            <a:ext cx="4234200" cy="651479"/>
            <a:chOff x="0" y="0"/>
            <a:chExt cx="1948972" cy="299871"/>
          </a:xfrm>
        </p:grpSpPr>
        <p:sp>
          <p:nvSpPr>
            <p:cNvPr id="32" name="Freeform 32"/>
            <p:cNvSpPr/>
            <p:nvPr/>
          </p:nvSpPr>
          <p:spPr>
            <a:xfrm>
              <a:off x="0" y="0"/>
              <a:ext cx="1948972" cy="299871"/>
            </a:xfrm>
            <a:custGeom>
              <a:avLst/>
              <a:gdLst/>
              <a:ahLst/>
              <a:cxnLst/>
              <a:rect l="l" t="t" r="r" b="b"/>
              <a:pathLst>
                <a:path w="1948972" h="299871">
                  <a:moveTo>
                    <a:pt x="36569" y="0"/>
                  </a:moveTo>
                  <a:lnTo>
                    <a:pt x="1912403" y="0"/>
                  </a:lnTo>
                  <a:cubicBezTo>
                    <a:pt x="1922102" y="0"/>
                    <a:pt x="1931403" y="3853"/>
                    <a:pt x="1938261" y="10711"/>
                  </a:cubicBezTo>
                  <a:cubicBezTo>
                    <a:pt x="1945119" y="17569"/>
                    <a:pt x="1948972" y="26870"/>
                    <a:pt x="1948972" y="36569"/>
                  </a:cubicBezTo>
                  <a:lnTo>
                    <a:pt x="1948972" y="263303"/>
                  </a:lnTo>
                  <a:cubicBezTo>
                    <a:pt x="1948972" y="283499"/>
                    <a:pt x="1932599" y="299871"/>
                    <a:pt x="1912403" y="299871"/>
                  </a:cubicBezTo>
                  <a:lnTo>
                    <a:pt x="36569" y="299871"/>
                  </a:lnTo>
                  <a:cubicBezTo>
                    <a:pt x="26870" y="299871"/>
                    <a:pt x="17569" y="296018"/>
                    <a:pt x="10711" y="289161"/>
                  </a:cubicBezTo>
                  <a:cubicBezTo>
                    <a:pt x="3853" y="282303"/>
                    <a:pt x="0" y="273001"/>
                    <a:pt x="0" y="263303"/>
                  </a:cubicBezTo>
                  <a:lnTo>
                    <a:pt x="0" y="36569"/>
                  </a:lnTo>
                  <a:cubicBezTo>
                    <a:pt x="0" y="26870"/>
                    <a:pt x="3853" y="17569"/>
                    <a:pt x="10711" y="10711"/>
                  </a:cubicBezTo>
                  <a:cubicBezTo>
                    <a:pt x="17569" y="3853"/>
                    <a:pt x="26870" y="0"/>
                    <a:pt x="36569" y="0"/>
                  </a:cubicBezTo>
                  <a:close/>
                </a:path>
              </a:pathLst>
            </a:custGeom>
            <a:solidFill>
              <a:srgbClr val="1960BD"/>
            </a:solidFill>
            <a:ln cap="sq">
              <a:noFill/>
              <a:prstDash val="solid"/>
              <a:miter/>
            </a:ln>
          </p:spPr>
        </p:sp>
        <p:sp>
          <p:nvSpPr>
            <p:cNvPr id="33" name="TextBox 33"/>
            <p:cNvSpPr txBox="1"/>
            <p:nvPr/>
          </p:nvSpPr>
          <p:spPr>
            <a:xfrm>
              <a:off x="0" y="-57150"/>
              <a:ext cx="1948972" cy="357021"/>
            </a:xfrm>
            <a:prstGeom prst="rect">
              <a:avLst/>
            </a:prstGeom>
          </p:spPr>
          <p:txBody>
            <a:bodyPr lIns="50800" tIns="50800" rIns="50800" bIns="50800" rtlCol="0" anchor="ctr"/>
            <a:lstStyle/>
            <a:p>
              <a:pPr algn="r" rtl="1">
                <a:lnSpc>
                  <a:spcPts val="3250"/>
                </a:lnSpc>
              </a:pPr>
              <a:endParaRPr/>
            </a:p>
          </p:txBody>
        </p:sp>
      </p:grpSp>
      <p:sp>
        <p:nvSpPr>
          <p:cNvPr id="34" name="TextBox 34"/>
          <p:cNvSpPr txBox="1"/>
          <p:nvPr/>
        </p:nvSpPr>
        <p:spPr>
          <a:xfrm>
            <a:off x="4478212" y="3099927"/>
            <a:ext cx="4234200" cy="397032"/>
          </a:xfrm>
          <a:prstGeom prst="rect">
            <a:avLst/>
          </a:prstGeom>
        </p:spPr>
        <p:txBody>
          <a:bodyPr lIns="0" tIns="0" rIns="0" bIns="0" rtlCol="0" anchor="t">
            <a:spAutoFit/>
          </a:bodyPr>
          <a:lstStyle/>
          <a:p>
            <a:pPr algn="ctr">
              <a:lnSpc>
                <a:spcPts val="3359"/>
              </a:lnSpc>
            </a:pPr>
            <a:r>
              <a:rPr lang="ar-EG" sz="2400" b="1" dirty="0">
                <a:solidFill>
                  <a:srgbClr val="FFFFFF"/>
                </a:solidFill>
                <a:latin typeface="Poppins Semi-Bold"/>
                <a:ea typeface="Poppins Semi-Bold"/>
                <a:sym typeface="Poppins Semi-Bold"/>
                <a:rtl/>
              </a:rPr>
              <a:t>تنظيم رحلة الخدمة</a:t>
            </a:r>
          </a:p>
        </p:txBody>
      </p:sp>
      <p:grpSp>
        <p:nvGrpSpPr>
          <p:cNvPr id="35" name="Group 35"/>
          <p:cNvGrpSpPr/>
          <p:nvPr/>
        </p:nvGrpSpPr>
        <p:grpSpPr>
          <a:xfrm>
            <a:off x="4478212" y="5186647"/>
            <a:ext cx="4234200" cy="651479"/>
            <a:chOff x="0" y="0"/>
            <a:chExt cx="1948972" cy="299871"/>
          </a:xfrm>
        </p:grpSpPr>
        <p:sp>
          <p:nvSpPr>
            <p:cNvPr id="36" name="Freeform 36"/>
            <p:cNvSpPr/>
            <p:nvPr/>
          </p:nvSpPr>
          <p:spPr>
            <a:xfrm>
              <a:off x="0" y="0"/>
              <a:ext cx="1948972" cy="299871"/>
            </a:xfrm>
            <a:custGeom>
              <a:avLst/>
              <a:gdLst/>
              <a:ahLst/>
              <a:cxnLst/>
              <a:rect l="l" t="t" r="r" b="b"/>
              <a:pathLst>
                <a:path w="1948972" h="299871">
                  <a:moveTo>
                    <a:pt x="36569" y="0"/>
                  </a:moveTo>
                  <a:lnTo>
                    <a:pt x="1912403" y="0"/>
                  </a:lnTo>
                  <a:cubicBezTo>
                    <a:pt x="1922102" y="0"/>
                    <a:pt x="1931403" y="3853"/>
                    <a:pt x="1938261" y="10711"/>
                  </a:cubicBezTo>
                  <a:cubicBezTo>
                    <a:pt x="1945119" y="17569"/>
                    <a:pt x="1948972" y="26870"/>
                    <a:pt x="1948972" y="36569"/>
                  </a:cubicBezTo>
                  <a:lnTo>
                    <a:pt x="1948972" y="263303"/>
                  </a:lnTo>
                  <a:cubicBezTo>
                    <a:pt x="1948972" y="283499"/>
                    <a:pt x="1932599" y="299871"/>
                    <a:pt x="1912403" y="299871"/>
                  </a:cubicBezTo>
                  <a:lnTo>
                    <a:pt x="36569" y="299871"/>
                  </a:lnTo>
                  <a:cubicBezTo>
                    <a:pt x="26870" y="299871"/>
                    <a:pt x="17569" y="296018"/>
                    <a:pt x="10711" y="289161"/>
                  </a:cubicBezTo>
                  <a:cubicBezTo>
                    <a:pt x="3853" y="282303"/>
                    <a:pt x="0" y="273001"/>
                    <a:pt x="0" y="263303"/>
                  </a:cubicBezTo>
                  <a:lnTo>
                    <a:pt x="0" y="36569"/>
                  </a:lnTo>
                  <a:cubicBezTo>
                    <a:pt x="0" y="26870"/>
                    <a:pt x="3853" y="17569"/>
                    <a:pt x="10711" y="10711"/>
                  </a:cubicBezTo>
                  <a:cubicBezTo>
                    <a:pt x="17569" y="3853"/>
                    <a:pt x="26870" y="0"/>
                    <a:pt x="36569" y="0"/>
                  </a:cubicBezTo>
                  <a:close/>
                </a:path>
              </a:pathLst>
            </a:custGeom>
            <a:solidFill>
              <a:srgbClr val="1960BD"/>
            </a:solidFill>
            <a:ln cap="sq">
              <a:noFill/>
              <a:prstDash val="solid"/>
              <a:miter/>
            </a:ln>
          </p:spPr>
        </p:sp>
        <p:sp>
          <p:nvSpPr>
            <p:cNvPr id="37" name="TextBox 37"/>
            <p:cNvSpPr txBox="1"/>
            <p:nvPr/>
          </p:nvSpPr>
          <p:spPr>
            <a:xfrm>
              <a:off x="0" y="-57150"/>
              <a:ext cx="1948972" cy="357021"/>
            </a:xfrm>
            <a:prstGeom prst="rect">
              <a:avLst/>
            </a:prstGeom>
          </p:spPr>
          <p:txBody>
            <a:bodyPr lIns="50800" tIns="50800" rIns="50800" bIns="50800" rtlCol="0" anchor="ctr"/>
            <a:lstStyle/>
            <a:p>
              <a:pPr algn="r" rtl="1">
                <a:lnSpc>
                  <a:spcPts val="3250"/>
                </a:lnSpc>
              </a:pPr>
              <a:endParaRPr/>
            </a:p>
          </p:txBody>
        </p:sp>
      </p:grpSp>
      <p:sp>
        <p:nvSpPr>
          <p:cNvPr id="38" name="TextBox 38"/>
          <p:cNvSpPr txBox="1"/>
          <p:nvPr/>
        </p:nvSpPr>
        <p:spPr>
          <a:xfrm>
            <a:off x="4478212" y="5219524"/>
            <a:ext cx="4234200" cy="397032"/>
          </a:xfrm>
          <a:prstGeom prst="rect">
            <a:avLst/>
          </a:prstGeom>
        </p:spPr>
        <p:txBody>
          <a:bodyPr lIns="0" tIns="0" rIns="0" bIns="0" rtlCol="0" anchor="t">
            <a:spAutoFit/>
          </a:bodyPr>
          <a:lstStyle/>
          <a:p>
            <a:pPr algn="ctr">
              <a:lnSpc>
                <a:spcPts val="3359"/>
              </a:lnSpc>
            </a:pPr>
            <a:r>
              <a:rPr lang="ar-EG" sz="2400" b="1" dirty="0">
                <a:solidFill>
                  <a:srgbClr val="FFFFFF"/>
                </a:solidFill>
                <a:latin typeface="Poppins Semi-Bold"/>
                <a:ea typeface="Poppins Semi-Bold"/>
                <a:sym typeface="Poppins Semi-Bold"/>
                <a:rtl/>
              </a:rPr>
              <a:t>تقليل العمل اليدوي</a:t>
            </a:r>
          </a:p>
        </p:txBody>
      </p:sp>
      <p:grpSp>
        <p:nvGrpSpPr>
          <p:cNvPr id="39" name="Group 39"/>
          <p:cNvGrpSpPr/>
          <p:nvPr/>
        </p:nvGrpSpPr>
        <p:grpSpPr>
          <a:xfrm>
            <a:off x="4478212" y="7325301"/>
            <a:ext cx="4234200" cy="651479"/>
            <a:chOff x="0" y="0"/>
            <a:chExt cx="1948972" cy="299871"/>
          </a:xfrm>
        </p:grpSpPr>
        <p:sp>
          <p:nvSpPr>
            <p:cNvPr id="40" name="Freeform 40"/>
            <p:cNvSpPr/>
            <p:nvPr/>
          </p:nvSpPr>
          <p:spPr>
            <a:xfrm>
              <a:off x="0" y="0"/>
              <a:ext cx="1948972" cy="299871"/>
            </a:xfrm>
            <a:custGeom>
              <a:avLst/>
              <a:gdLst/>
              <a:ahLst/>
              <a:cxnLst/>
              <a:rect l="l" t="t" r="r" b="b"/>
              <a:pathLst>
                <a:path w="1948972" h="299871">
                  <a:moveTo>
                    <a:pt x="36569" y="0"/>
                  </a:moveTo>
                  <a:lnTo>
                    <a:pt x="1912403" y="0"/>
                  </a:lnTo>
                  <a:cubicBezTo>
                    <a:pt x="1922102" y="0"/>
                    <a:pt x="1931403" y="3853"/>
                    <a:pt x="1938261" y="10711"/>
                  </a:cubicBezTo>
                  <a:cubicBezTo>
                    <a:pt x="1945119" y="17569"/>
                    <a:pt x="1948972" y="26870"/>
                    <a:pt x="1948972" y="36569"/>
                  </a:cubicBezTo>
                  <a:lnTo>
                    <a:pt x="1948972" y="263303"/>
                  </a:lnTo>
                  <a:cubicBezTo>
                    <a:pt x="1948972" y="283499"/>
                    <a:pt x="1932599" y="299871"/>
                    <a:pt x="1912403" y="299871"/>
                  </a:cubicBezTo>
                  <a:lnTo>
                    <a:pt x="36569" y="299871"/>
                  </a:lnTo>
                  <a:cubicBezTo>
                    <a:pt x="26870" y="299871"/>
                    <a:pt x="17569" y="296018"/>
                    <a:pt x="10711" y="289161"/>
                  </a:cubicBezTo>
                  <a:cubicBezTo>
                    <a:pt x="3853" y="282303"/>
                    <a:pt x="0" y="273001"/>
                    <a:pt x="0" y="263303"/>
                  </a:cubicBezTo>
                  <a:lnTo>
                    <a:pt x="0" y="36569"/>
                  </a:lnTo>
                  <a:cubicBezTo>
                    <a:pt x="0" y="26870"/>
                    <a:pt x="3853" y="17569"/>
                    <a:pt x="10711" y="10711"/>
                  </a:cubicBezTo>
                  <a:cubicBezTo>
                    <a:pt x="17569" y="3853"/>
                    <a:pt x="26870" y="0"/>
                    <a:pt x="36569" y="0"/>
                  </a:cubicBezTo>
                  <a:close/>
                </a:path>
              </a:pathLst>
            </a:custGeom>
            <a:solidFill>
              <a:srgbClr val="1960BD"/>
            </a:solidFill>
            <a:ln cap="sq">
              <a:noFill/>
              <a:prstDash val="solid"/>
              <a:miter/>
            </a:ln>
          </p:spPr>
        </p:sp>
        <p:sp>
          <p:nvSpPr>
            <p:cNvPr id="41" name="TextBox 41"/>
            <p:cNvSpPr txBox="1"/>
            <p:nvPr/>
          </p:nvSpPr>
          <p:spPr>
            <a:xfrm>
              <a:off x="0" y="-57150"/>
              <a:ext cx="1948972" cy="357021"/>
            </a:xfrm>
            <a:prstGeom prst="rect">
              <a:avLst/>
            </a:prstGeom>
          </p:spPr>
          <p:txBody>
            <a:bodyPr lIns="50800" tIns="50800" rIns="50800" bIns="50800" rtlCol="0" anchor="ctr"/>
            <a:lstStyle/>
            <a:p>
              <a:pPr algn="r" rtl="1">
                <a:lnSpc>
                  <a:spcPts val="3250"/>
                </a:lnSpc>
              </a:pPr>
              <a:endParaRPr/>
            </a:p>
          </p:txBody>
        </p:sp>
      </p:grpSp>
      <p:sp>
        <p:nvSpPr>
          <p:cNvPr id="42" name="TextBox 42"/>
          <p:cNvSpPr txBox="1"/>
          <p:nvPr/>
        </p:nvSpPr>
        <p:spPr>
          <a:xfrm>
            <a:off x="4478212" y="7358178"/>
            <a:ext cx="4234200" cy="397032"/>
          </a:xfrm>
          <a:prstGeom prst="rect">
            <a:avLst/>
          </a:prstGeom>
        </p:spPr>
        <p:txBody>
          <a:bodyPr lIns="0" tIns="0" rIns="0" bIns="0" rtlCol="0" anchor="t">
            <a:spAutoFit/>
          </a:bodyPr>
          <a:lstStyle/>
          <a:p>
            <a:pPr algn="ctr">
              <a:lnSpc>
                <a:spcPts val="3359"/>
              </a:lnSpc>
            </a:pPr>
            <a:r>
              <a:rPr lang="ar-EG" sz="2400" b="1" dirty="0">
                <a:solidFill>
                  <a:srgbClr val="FFFFFF"/>
                </a:solidFill>
                <a:latin typeface="Poppins Semi-Bold"/>
                <a:ea typeface="Poppins Semi-Bold"/>
                <a:sym typeface="Poppins Semi-Bold"/>
                <a:rtl/>
              </a:rPr>
              <a:t>وضوح المسؤوليات والمتابعة</a:t>
            </a:r>
          </a:p>
        </p:txBody>
      </p:sp>
      <p:sp>
        <p:nvSpPr>
          <p:cNvPr id="43" name="TextBox 43"/>
          <p:cNvSpPr txBox="1"/>
          <p:nvPr/>
        </p:nvSpPr>
        <p:spPr>
          <a:xfrm>
            <a:off x="9858680" y="4381831"/>
            <a:ext cx="6993414" cy="1637051"/>
          </a:xfrm>
          <a:prstGeom prst="rect">
            <a:avLst/>
          </a:prstGeom>
        </p:spPr>
        <p:txBody>
          <a:bodyPr lIns="0" tIns="0" rIns="0" bIns="0" rtlCol="0" anchor="t">
            <a:spAutoFit/>
          </a:bodyPr>
          <a:lstStyle/>
          <a:p>
            <a:pPr algn="r" rtl="1">
              <a:lnSpc>
                <a:spcPts val="2558"/>
              </a:lnSpc>
            </a:pPr>
            <a:r>
              <a:rPr lang="ar-EG" sz="1827" b="1" dirty="0">
                <a:solidFill>
                  <a:srgbClr val="FFFFFF"/>
                </a:solidFill>
                <a:latin typeface="Poppins Medium"/>
                <a:ea typeface="Poppins Medium"/>
                <a:sym typeface="Poppins Medium"/>
                <a:rtl/>
              </a:rPr>
              <a:t>"يهدف المشروع إلى بناء منظومة موحدة لخدمات ما بعد البيع تربط مختلف مراحل الخدمة ضمن مسار واضح ومتكامل، بحيث يمكن متابعة الطلب من لحظة إنشائه وحتى إغلاقه، مع تقليل الاعتماد على الإجراءات اليدوية، وتوضيح مسؤوليات كل فريق، وتحسين القدرة على معرفة حالة الطلب ومصدر أي تأخير أو مشكلة. كما يوفّر هذا التنظيم أساسًا يمكن تطويره مستقبلًا لإضافة خدمات جديدة، وتحسين التقارير، ورفع مستوى الرقابة والكفاءة التشغيلية."</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Freeform 46"/>
          <p:cNvSpPr/>
          <p:nvPr/>
        </p:nvSpPr>
        <p:spPr>
          <a:xfrm>
            <a:off x="14317594" y="826639"/>
            <a:ext cx="1524899" cy="1099575"/>
          </a:xfrm>
          <a:custGeom>
            <a:avLst/>
            <a:gdLst/>
            <a:ahLst/>
            <a:cxnLst/>
            <a:rect l="l" t="t" r="r" b="b"/>
            <a:pathLst>
              <a:path w="1524899" h="669646">
                <a:moveTo>
                  <a:pt x="1524899" y="0"/>
                </a:moveTo>
                <a:lnTo>
                  <a:pt x="219075" y="0"/>
                </a:lnTo>
                <a:cubicBezTo>
                  <a:pt x="98083" y="0"/>
                  <a:pt x="0" y="98083"/>
                  <a:pt x="0" y="219075"/>
                </a:cubicBezTo>
                <a:lnTo>
                  <a:pt x="0" y="669645"/>
                </a:lnTo>
              </a:path>
            </a:pathLst>
          </a:custGeom>
          <a:ln w="38100" cap="rnd">
            <a:solidFill>
              <a:srgbClr val="1960BD"/>
            </a:solidFill>
            <a:prstDash val="sysDot"/>
            <a:headEnd type="none" w="sm" len="sm"/>
            <a:tailEnd type="none" w="sm" len="sm"/>
          </a:ln>
        </p:spPr>
        <p:txBody>
          <a:bodyPr/>
          <a:lstStyle/>
          <a:p>
            <a:endParaRPr/>
          </a:p>
        </p:txBody>
      </p:sp>
      <p:sp>
        <p:nvSpPr>
          <p:cNvPr id="109" name="Freeform 46"/>
          <p:cNvSpPr/>
          <p:nvPr/>
        </p:nvSpPr>
        <p:spPr>
          <a:xfrm>
            <a:off x="8996594" y="2448634"/>
            <a:ext cx="1524899" cy="1099575"/>
          </a:xfrm>
          <a:custGeom>
            <a:avLst/>
            <a:gdLst/>
            <a:ahLst/>
            <a:cxnLst/>
            <a:rect l="l" t="t" r="r" b="b"/>
            <a:pathLst>
              <a:path w="1524899" h="669646">
                <a:moveTo>
                  <a:pt x="1524899" y="0"/>
                </a:moveTo>
                <a:lnTo>
                  <a:pt x="219075" y="0"/>
                </a:lnTo>
                <a:cubicBezTo>
                  <a:pt x="98083" y="0"/>
                  <a:pt x="0" y="98083"/>
                  <a:pt x="0" y="219075"/>
                </a:cubicBezTo>
                <a:lnTo>
                  <a:pt x="0" y="669645"/>
                </a:lnTo>
              </a:path>
            </a:pathLst>
          </a:custGeom>
          <a:ln w="38100" cap="rnd">
            <a:solidFill>
              <a:srgbClr val="1960BD"/>
            </a:solidFill>
            <a:prstDash val="sysDot"/>
            <a:headEnd type="none" w="sm" len="sm"/>
            <a:tailEnd type="none" w="sm" len="sm"/>
          </a:ln>
        </p:spPr>
        <p:txBody>
          <a:bodyPr/>
          <a:lstStyle/>
          <a:p>
            <a:endParaRPr/>
          </a:p>
        </p:txBody>
      </p:sp>
      <p:sp>
        <p:nvSpPr>
          <p:cNvPr id="108" name="Freeform 44"/>
          <p:cNvSpPr/>
          <p:nvPr/>
        </p:nvSpPr>
        <p:spPr>
          <a:xfrm>
            <a:off x="6346299" y="6742725"/>
            <a:ext cx="2592935" cy="820840"/>
          </a:xfrm>
          <a:custGeom>
            <a:avLst/>
            <a:gdLst/>
            <a:ahLst/>
            <a:cxnLst/>
            <a:rect l="l" t="t" r="r" b="b"/>
            <a:pathLst>
              <a:path w="2592935" h="820840">
                <a:moveTo>
                  <a:pt x="0" y="386549"/>
                </a:moveTo>
                <a:lnTo>
                  <a:pt x="0" y="603695"/>
                </a:lnTo>
                <a:cubicBezTo>
                  <a:pt x="0" y="723621"/>
                  <a:pt x="97219" y="820840"/>
                  <a:pt x="217145" y="820840"/>
                </a:cubicBezTo>
                <a:lnTo>
                  <a:pt x="2373860" y="820840"/>
                </a:lnTo>
                <a:cubicBezTo>
                  <a:pt x="2494852" y="820840"/>
                  <a:pt x="2592935" y="722757"/>
                  <a:pt x="2592935" y="601765"/>
                </a:cubicBezTo>
                <a:lnTo>
                  <a:pt x="2592935" y="0"/>
                </a:lnTo>
              </a:path>
            </a:pathLst>
          </a:custGeom>
          <a:ln w="38100" cap="rnd">
            <a:solidFill>
              <a:srgbClr val="1960BD"/>
            </a:solidFill>
            <a:prstDash val="sysDot"/>
            <a:headEnd type="none" w="sm" len="sm"/>
            <a:tailEnd type="none" w="sm" len="sm"/>
          </a:ln>
        </p:spPr>
        <p:txBody>
          <a:bodyPr/>
          <a:lstStyle/>
          <a:p>
            <a:endParaRPr/>
          </a:p>
        </p:txBody>
      </p:sp>
      <p:grpSp>
        <p:nvGrpSpPr>
          <p:cNvPr id="2" name="Group 2"/>
          <p:cNvGrpSpPr/>
          <p:nvPr/>
        </p:nvGrpSpPr>
        <p:grpSpPr>
          <a:xfrm>
            <a:off x="177596" y="5578079"/>
            <a:ext cx="2145026" cy="1310525"/>
            <a:chOff x="0" y="0"/>
            <a:chExt cx="598252" cy="365508"/>
          </a:xfrm>
        </p:grpSpPr>
        <p:sp>
          <p:nvSpPr>
            <p:cNvPr id="3" name="Freeform 3"/>
            <p:cNvSpPr/>
            <p:nvPr/>
          </p:nvSpPr>
          <p:spPr>
            <a:xfrm>
              <a:off x="0" y="0"/>
              <a:ext cx="598252" cy="365508"/>
            </a:xfrm>
            <a:custGeom>
              <a:avLst/>
              <a:gdLst/>
              <a:ahLst/>
              <a:cxnLst/>
              <a:rect l="l" t="t" r="r" b="b"/>
              <a:pathLst>
                <a:path w="598252" h="365508">
                  <a:moveTo>
                    <a:pt x="86622" y="0"/>
                  </a:moveTo>
                  <a:lnTo>
                    <a:pt x="511630" y="0"/>
                  </a:lnTo>
                  <a:cubicBezTo>
                    <a:pt x="534604" y="0"/>
                    <a:pt x="556636" y="9126"/>
                    <a:pt x="572881" y="25371"/>
                  </a:cubicBezTo>
                  <a:cubicBezTo>
                    <a:pt x="589126" y="41616"/>
                    <a:pt x="598252" y="63648"/>
                    <a:pt x="598252" y="86622"/>
                  </a:cubicBezTo>
                  <a:lnTo>
                    <a:pt x="598252" y="278886"/>
                  </a:lnTo>
                  <a:cubicBezTo>
                    <a:pt x="598252" y="301860"/>
                    <a:pt x="589126" y="323892"/>
                    <a:pt x="572881" y="340137"/>
                  </a:cubicBezTo>
                  <a:cubicBezTo>
                    <a:pt x="556636" y="356382"/>
                    <a:pt x="534604" y="365508"/>
                    <a:pt x="511630" y="365508"/>
                  </a:cubicBezTo>
                  <a:lnTo>
                    <a:pt x="86622" y="365508"/>
                  </a:lnTo>
                  <a:cubicBezTo>
                    <a:pt x="63648" y="365508"/>
                    <a:pt x="41616" y="356382"/>
                    <a:pt x="25371" y="340137"/>
                  </a:cubicBezTo>
                  <a:cubicBezTo>
                    <a:pt x="9126" y="323892"/>
                    <a:pt x="0" y="301860"/>
                    <a:pt x="0" y="278886"/>
                  </a:cubicBezTo>
                  <a:lnTo>
                    <a:pt x="0" y="86622"/>
                  </a:lnTo>
                  <a:cubicBezTo>
                    <a:pt x="0" y="63648"/>
                    <a:pt x="9126" y="41616"/>
                    <a:pt x="25371" y="25371"/>
                  </a:cubicBezTo>
                  <a:cubicBezTo>
                    <a:pt x="41616" y="9126"/>
                    <a:pt x="63648" y="0"/>
                    <a:pt x="86622" y="0"/>
                  </a:cubicBezTo>
                  <a:close/>
                </a:path>
              </a:pathLst>
            </a:custGeom>
            <a:solidFill>
              <a:srgbClr val="E0E0E0"/>
            </a:solidFill>
            <a:ln cap="rnd">
              <a:noFill/>
              <a:prstDash val="solid"/>
              <a:round/>
            </a:ln>
          </p:spPr>
        </p:sp>
        <p:sp>
          <p:nvSpPr>
            <p:cNvPr id="4" name="TextBox 4"/>
            <p:cNvSpPr txBox="1"/>
            <p:nvPr/>
          </p:nvSpPr>
          <p:spPr>
            <a:xfrm>
              <a:off x="0" y="-19050"/>
              <a:ext cx="598252" cy="384558"/>
            </a:xfrm>
            <a:prstGeom prst="rect">
              <a:avLst/>
            </a:prstGeom>
          </p:spPr>
          <p:txBody>
            <a:bodyPr lIns="50800" tIns="50800" rIns="50800" bIns="50800" rtlCol="0" anchor="ctr"/>
            <a:lstStyle/>
            <a:p>
              <a:pPr marL="0" lvl="0" indent="0" algn="ctr">
                <a:lnSpc>
                  <a:spcPts val="2239"/>
                </a:lnSpc>
                <a:spcBef>
                  <a:spcPct val="0"/>
                </a:spcBef>
              </a:pPr>
              <a:endParaRPr/>
            </a:p>
          </p:txBody>
        </p:sp>
      </p:grpSp>
      <p:sp>
        <p:nvSpPr>
          <p:cNvPr id="5" name="Freeform 5"/>
          <p:cNvSpPr/>
          <p:nvPr/>
        </p:nvSpPr>
        <p:spPr>
          <a:xfrm rot="5400000">
            <a:off x="1016521" y="7704930"/>
            <a:ext cx="477027" cy="2134582"/>
          </a:xfrm>
          <a:custGeom>
            <a:avLst/>
            <a:gdLst/>
            <a:ahLst/>
            <a:cxnLst/>
            <a:rect l="l" t="t" r="r" b="b"/>
            <a:pathLst>
              <a:path w="477027" h="2134582">
                <a:moveTo>
                  <a:pt x="0" y="0"/>
                </a:moveTo>
                <a:lnTo>
                  <a:pt x="477027" y="0"/>
                </a:lnTo>
                <a:lnTo>
                  <a:pt x="477027" y="2134582"/>
                </a:lnTo>
                <a:lnTo>
                  <a:pt x="0" y="2134582"/>
                </a:lnTo>
                <a:lnTo>
                  <a:pt x="0" y="0"/>
                </a:lnTo>
                <a:close/>
              </a:path>
            </a:pathLst>
          </a:custGeom>
          <a:blipFill>
            <a:blip r:embed="rId2"/>
            <a:stretch>
              <a:fillRect l="-345849"/>
            </a:stretch>
          </a:blipFill>
        </p:spPr>
        <p:txBody>
          <a:bodyPr/>
          <a:lstStyle/>
          <a:p>
            <a:endParaRPr/>
          </a:p>
        </p:txBody>
      </p:sp>
      <p:grpSp>
        <p:nvGrpSpPr>
          <p:cNvPr id="6" name="Group 6"/>
          <p:cNvGrpSpPr/>
          <p:nvPr/>
        </p:nvGrpSpPr>
        <p:grpSpPr>
          <a:xfrm>
            <a:off x="177893" y="6566481"/>
            <a:ext cx="2144433" cy="2280178"/>
            <a:chOff x="0" y="0"/>
            <a:chExt cx="434313" cy="461805"/>
          </a:xfrm>
        </p:grpSpPr>
        <p:sp>
          <p:nvSpPr>
            <p:cNvPr id="7" name="Freeform 7"/>
            <p:cNvSpPr/>
            <p:nvPr/>
          </p:nvSpPr>
          <p:spPr>
            <a:xfrm>
              <a:off x="0" y="0"/>
              <a:ext cx="434313" cy="461805"/>
            </a:xfrm>
            <a:custGeom>
              <a:avLst/>
              <a:gdLst/>
              <a:ahLst/>
              <a:cxnLst/>
              <a:rect l="l" t="t" r="r" b="b"/>
              <a:pathLst>
                <a:path w="434313" h="461805">
                  <a:moveTo>
                    <a:pt x="61374" y="0"/>
                  </a:moveTo>
                  <a:lnTo>
                    <a:pt x="372939" y="0"/>
                  </a:lnTo>
                  <a:cubicBezTo>
                    <a:pt x="406835" y="0"/>
                    <a:pt x="434313" y="27478"/>
                    <a:pt x="434313" y="61374"/>
                  </a:cubicBezTo>
                  <a:lnTo>
                    <a:pt x="434313" y="400431"/>
                  </a:lnTo>
                  <a:cubicBezTo>
                    <a:pt x="434313" y="434327"/>
                    <a:pt x="406835" y="461805"/>
                    <a:pt x="372939" y="461805"/>
                  </a:cubicBezTo>
                  <a:lnTo>
                    <a:pt x="61374" y="461805"/>
                  </a:lnTo>
                  <a:cubicBezTo>
                    <a:pt x="27478" y="461805"/>
                    <a:pt x="0" y="434327"/>
                    <a:pt x="0" y="400431"/>
                  </a:cubicBezTo>
                  <a:lnTo>
                    <a:pt x="0" y="61374"/>
                  </a:lnTo>
                  <a:cubicBezTo>
                    <a:pt x="0" y="27478"/>
                    <a:pt x="27478" y="0"/>
                    <a:pt x="61374" y="0"/>
                  </a:cubicBezTo>
                  <a:close/>
                </a:path>
              </a:pathLst>
            </a:custGeom>
            <a:solidFill>
              <a:srgbClr val="FFFFFF"/>
            </a:solidFill>
            <a:ln w="38100" cap="sq">
              <a:solidFill>
                <a:srgbClr val="1960BD"/>
              </a:solidFill>
              <a:prstDash val="solid"/>
              <a:miter/>
            </a:ln>
          </p:spPr>
        </p:sp>
        <p:sp>
          <p:nvSpPr>
            <p:cNvPr id="8" name="TextBox 8"/>
            <p:cNvSpPr txBox="1"/>
            <p:nvPr/>
          </p:nvSpPr>
          <p:spPr>
            <a:xfrm>
              <a:off x="0" y="-19050"/>
              <a:ext cx="434313" cy="480855"/>
            </a:xfrm>
            <a:prstGeom prst="rect">
              <a:avLst/>
            </a:prstGeom>
          </p:spPr>
          <p:txBody>
            <a:bodyPr lIns="50800" tIns="50800" rIns="50800" bIns="50800" rtlCol="0" anchor="ctr"/>
            <a:lstStyle/>
            <a:p>
              <a:pPr algn="ctr">
                <a:lnSpc>
                  <a:spcPts val="2239"/>
                </a:lnSpc>
              </a:pPr>
              <a:endParaRPr/>
            </a:p>
          </p:txBody>
        </p:sp>
      </p:grpSp>
      <p:sp>
        <p:nvSpPr>
          <p:cNvPr id="9" name="Freeform 9"/>
          <p:cNvSpPr/>
          <p:nvPr/>
        </p:nvSpPr>
        <p:spPr>
          <a:xfrm rot="5400000">
            <a:off x="8792638" y="5606923"/>
            <a:ext cx="477027" cy="2134582"/>
          </a:xfrm>
          <a:custGeom>
            <a:avLst/>
            <a:gdLst/>
            <a:ahLst/>
            <a:cxnLst/>
            <a:rect l="l" t="t" r="r" b="b"/>
            <a:pathLst>
              <a:path w="477027" h="2134582">
                <a:moveTo>
                  <a:pt x="0" y="0"/>
                </a:moveTo>
                <a:lnTo>
                  <a:pt x="477027" y="0"/>
                </a:lnTo>
                <a:lnTo>
                  <a:pt x="477027" y="2134583"/>
                </a:lnTo>
                <a:lnTo>
                  <a:pt x="0" y="2134583"/>
                </a:lnTo>
                <a:lnTo>
                  <a:pt x="0" y="0"/>
                </a:lnTo>
                <a:close/>
              </a:path>
            </a:pathLst>
          </a:custGeom>
          <a:blipFill>
            <a:blip r:embed="rId2"/>
            <a:stretch>
              <a:fillRect l="-345849"/>
            </a:stretch>
          </a:blipFill>
        </p:spPr>
        <p:txBody>
          <a:bodyPr/>
          <a:lstStyle/>
          <a:p>
            <a:endParaRPr/>
          </a:p>
        </p:txBody>
      </p:sp>
      <p:grpSp>
        <p:nvGrpSpPr>
          <p:cNvPr id="10" name="Group 10"/>
          <p:cNvGrpSpPr/>
          <p:nvPr/>
        </p:nvGrpSpPr>
        <p:grpSpPr>
          <a:xfrm rot="-10800000">
            <a:off x="7958638" y="5438128"/>
            <a:ext cx="2145026" cy="1310525"/>
            <a:chOff x="0" y="0"/>
            <a:chExt cx="598252" cy="365508"/>
          </a:xfrm>
        </p:grpSpPr>
        <p:sp>
          <p:nvSpPr>
            <p:cNvPr id="11" name="Freeform 11"/>
            <p:cNvSpPr/>
            <p:nvPr/>
          </p:nvSpPr>
          <p:spPr>
            <a:xfrm>
              <a:off x="0" y="0"/>
              <a:ext cx="598252" cy="365508"/>
            </a:xfrm>
            <a:custGeom>
              <a:avLst/>
              <a:gdLst/>
              <a:ahLst/>
              <a:cxnLst/>
              <a:rect l="l" t="t" r="r" b="b"/>
              <a:pathLst>
                <a:path w="598252" h="365508">
                  <a:moveTo>
                    <a:pt x="86622" y="0"/>
                  </a:moveTo>
                  <a:lnTo>
                    <a:pt x="511630" y="0"/>
                  </a:lnTo>
                  <a:cubicBezTo>
                    <a:pt x="534604" y="0"/>
                    <a:pt x="556636" y="9126"/>
                    <a:pt x="572881" y="25371"/>
                  </a:cubicBezTo>
                  <a:cubicBezTo>
                    <a:pt x="589126" y="41616"/>
                    <a:pt x="598252" y="63648"/>
                    <a:pt x="598252" y="86622"/>
                  </a:cubicBezTo>
                  <a:lnTo>
                    <a:pt x="598252" y="278886"/>
                  </a:lnTo>
                  <a:cubicBezTo>
                    <a:pt x="598252" y="301860"/>
                    <a:pt x="589126" y="323892"/>
                    <a:pt x="572881" y="340137"/>
                  </a:cubicBezTo>
                  <a:cubicBezTo>
                    <a:pt x="556636" y="356382"/>
                    <a:pt x="534604" y="365508"/>
                    <a:pt x="511630" y="365508"/>
                  </a:cubicBezTo>
                  <a:lnTo>
                    <a:pt x="86622" y="365508"/>
                  </a:lnTo>
                  <a:cubicBezTo>
                    <a:pt x="63648" y="365508"/>
                    <a:pt x="41616" y="356382"/>
                    <a:pt x="25371" y="340137"/>
                  </a:cubicBezTo>
                  <a:cubicBezTo>
                    <a:pt x="9126" y="323892"/>
                    <a:pt x="0" y="301860"/>
                    <a:pt x="0" y="278886"/>
                  </a:cubicBezTo>
                  <a:lnTo>
                    <a:pt x="0" y="86622"/>
                  </a:lnTo>
                  <a:cubicBezTo>
                    <a:pt x="0" y="63648"/>
                    <a:pt x="9126" y="41616"/>
                    <a:pt x="25371" y="25371"/>
                  </a:cubicBezTo>
                  <a:cubicBezTo>
                    <a:pt x="41616" y="9126"/>
                    <a:pt x="63648" y="0"/>
                    <a:pt x="86622" y="0"/>
                  </a:cubicBezTo>
                  <a:close/>
                </a:path>
              </a:pathLst>
            </a:custGeom>
            <a:solidFill>
              <a:srgbClr val="E0E0E0"/>
            </a:solidFill>
            <a:ln cap="rnd">
              <a:noFill/>
              <a:prstDash val="solid"/>
              <a:round/>
            </a:ln>
          </p:spPr>
        </p:sp>
        <p:sp>
          <p:nvSpPr>
            <p:cNvPr id="12" name="TextBox 12"/>
            <p:cNvSpPr txBox="1"/>
            <p:nvPr/>
          </p:nvSpPr>
          <p:spPr>
            <a:xfrm>
              <a:off x="0" y="-9525"/>
              <a:ext cx="598252" cy="375033"/>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13" name="Group 13"/>
          <p:cNvGrpSpPr/>
          <p:nvPr/>
        </p:nvGrpSpPr>
        <p:grpSpPr>
          <a:xfrm rot="-10800000">
            <a:off x="7958935" y="3480072"/>
            <a:ext cx="2144433" cy="2280178"/>
            <a:chOff x="0" y="0"/>
            <a:chExt cx="434313" cy="461805"/>
          </a:xfrm>
        </p:grpSpPr>
        <p:sp>
          <p:nvSpPr>
            <p:cNvPr id="14" name="Freeform 14"/>
            <p:cNvSpPr/>
            <p:nvPr/>
          </p:nvSpPr>
          <p:spPr>
            <a:xfrm>
              <a:off x="0" y="0"/>
              <a:ext cx="434313" cy="461805"/>
            </a:xfrm>
            <a:custGeom>
              <a:avLst/>
              <a:gdLst/>
              <a:ahLst/>
              <a:cxnLst/>
              <a:rect l="l" t="t" r="r" b="b"/>
              <a:pathLst>
                <a:path w="434313" h="461805">
                  <a:moveTo>
                    <a:pt x="61374" y="0"/>
                  </a:moveTo>
                  <a:lnTo>
                    <a:pt x="372939" y="0"/>
                  </a:lnTo>
                  <a:cubicBezTo>
                    <a:pt x="406835" y="0"/>
                    <a:pt x="434313" y="27478"/>
                    <a:pt x="434313" y="61374"/>
                  </a:cubicBezTo>
                  <a:lnTo>
                    <a:pt x="434313" y="400431"/>
                  </a:lnTo>
                  <a:cubicBezTo>
                    <a:pt x="434313" y="434327"/>
                    <a:pt x="406835" y="461805"/>
                    <a:pt x="372939" y="461805"/>
                  </a:cubicBezTo>
                  <a:lnTo>
                    <a:pt x="61374" y="461805"/>
                  </a:lnTo>
                  <a:cubicBezTo>
                    <a:pt x="27478" y="461805"/>
                    <a:pt x="0" y="434327"/>
                    <a:pt x="0" y="400431"/>
                  </a:cubicBezTo>
                  <a:lnTo>
                    <a:pt x="0" y="61374"/>
                  </a:lnTo>
                  <a:cubicBezTo>
                    <a:pt x="0" y="27478"/>
                    <a:pt x="27478" y="0"/>
                    <a:pt x="61374" y="0"/>
                  </a:cubicBezTo>
                  <a:close/>
                </a:path>
              </a:pathLst>
            </a:custGeom>
            <a:solidFill>
              <a:srgbClr val="FFFFFF"/>
            </a:solidFill>
            <a:ln w="28575" cap="sq">
              <a:solidFill>
                <a:srgbClr val="1960BD"/>
              </a:solidFill>
              <a:prstDash val="solid"/>
              <a:miter/>
            </a:ln>
          </p:spPr>
        </p:sp>
        <p:sp>
          <p:nvSpPr>
            <p:cNvPr id="15" name="TextBox 15"/>
            <p:cNvSpPr txBox="1"/>
            <p:nvPr/>
          </p:nvSpPr>
          <p:spPr>
            <a:xfrm>
              <a:off x="0" y="-19050"/>
              <a:ext cx="434313" cy="480855"/>
            </a:xfrm>
            <a:prstGeom prst="rect">
              <a:avLst/>
            </a:prstGeom>
          </p:spPr>
          <p:txBody>
            <a:bodyPr lIns="50800" tIns="50800" rIns="50800" bIns="50800" rtlCol="0" anchor="ctr"/>
            <a:lstStyle/>
            <a:p>
              <a:pPr algn="ctr">
                <a:lnSpc>
                  <a:spcPts val="2239"/>
                </a:lnSpc>
              </a:pPr>
              <a:endParaRPr/>
            </a:p>
          </p:txBody>
        </p:sp>
      </p:grpSp>
      <p:grpSp>
        <p:nvGrpSpPr>
          <p:cNvPr id="16" name="Group 16"/>
          <p:cNvGrpSpPr/>
          <p:nvPr/>
        </p:nvGrpSpPr>
        <p:grpSpPr>
          <a:xfrm>
            <a:off x="5367943" y="3866622"/>
            <a:ext cx="2145026" cy="1310525"/>
            <a:chOff x="0" y="0"/>
            <a:chExt cx="598252" cy="365508"/>
          </a:xfrm>
        </p:grpSpPr>
        <p:sp>
          <p:nvSpPr>
            <p:cNvPr id="17" name="Freeform 17"/>
            <p:cNvSpPr/>
            <p:nvPr/>
          </p:nvSpPr>
          <p:spPr>
            <a:xfrm>
              <a:off x="0" y="0"/>
              <a:ext cx="598252" cy="365508"/>
            </a:xfrm>
            <a:custGeom>
              <a:avLst/>
              <a:gdLst/>
              <a:ahLst/>
              <a:cxnLst/>
              <a:rect l="l" t="t" r="r" b="b"/>
              <a:pathLst>
                <a:path w="598252" h="365508">
                  <a:moveTo>
                    <a:pt x="86622" y="0"/>
                  </a:moveTo>
                  <a:lnTo>
                    <a:pt x="511630" y="0"/>
                  </a:lnTo>
                  <a:cubicBezTo>
                    <a:pt x="534604" y="0"/>
                    <a:pt x="556636" y="9126"/>
                    <a:pt x="572881" y="25371"/>
                  </a:cubicBezTo>
                  <a:cubicBezTo>
                    <a:pt x="589126" y="41616"/>
                    <a:pt x="598252" y="63648"/>
                    <a:pt x="598252" y="86622"/>
                  </a:cubicBezTo>
                  <a:lnTo>
                    <a:pt x="598252" y="278886"/>
                  </a:lnTo>
                  <a:cubicBezTo>
                    <a:pt x="598252" y="301860"/>
                    <a:pt x="589126" y="323892"/>
                    <a:pt x="572881" y="340137"/>
                  </a:cubicBezTo>
                  <a:cubicBezTo>
                    <a:pt x="556636" y="356382"/>
                    <a:pt x="534604" y="365508"/>
                    <a:pt x="511630" y="365508"/>
                  </a:cubicBezTo>
                  <a:lnTo>
                    <a:pt x="86622" y="365508"/>
                  </a:lnTo>
                  <a:cubicBezTo>
                    <a:pt x="63648" y="365508"/>
                    <a:pt x="41616" y="356382"/>
                    <a:pt x="25371" y="340137"/>
                  </a:cubicBezTo>
                  <a:cubicBezTo>
                    <a:pt x="9126" y="323892"/>
                    <a:pt x="0" y="301860"/>
                    <a:pt x="0" y="278886"/>
                  </a:cubicBezTo>
                  <a:lnTo>
                    <a:pt x="0" y="86622"/>
                  </a:lnTo>
                  <a:cubicBezTo>
                    <a:pt x="0" y="63648"/>
                    <a:pt x="9126" y="41616"/>
                    <a:pt x="25371" y="25371"/>
                  </a:cubicBezTo>
                  <a:cubicBezTo>
                    <a:pt x="41616" y="9126"/>
                    <a:pt x="63648" y="0"/>
                    <a:pt x="86622" y="0"/>
                  </a:cubicBezTo>
                  <a:close/>
                </a:path>
              </a:pathLst>
            </a:custGeom>
            <a:solidFill>
              <a:srgbClr val="E0E0E0"/>
            </a:solidFill>
            <a:ln cap="rnd">
              <a:noFill/>
              <a:prstDash val="solid"/>
              <a:round/>
            </a:ln>
          </p:spPr>
        </p:sp>
        <p:sp>
          <p:nvSpPr>
            <p:cNvPr id="18" name="TextBox 18"/>
            <p:cNvSpPr txBox="1"/>
            <p:nvPr/>
          </p:nvSpPr>
          <p:spPr>
            <a:xfrm>
              <a:off x="0" y="-9525"/>
              <a:ext cx="598252" cy="375033"/>
            </a:xfrm>
            <a:prstGeom prst="rect">
              <a:avLst/>
            </a:prstGeom>
          </p:spPr>
          <p:txBody>
            <a:bodyPr lIns="50800" tIns="50800" rIns="50800" bIns="50800" rtlCol="0" anchor="ctr"/>
            <a:lstStyle/>
            <a:p>
              <a:pPr marL="0" lvl="0" indent="0" algn="ctr">
                <a:lnSpc>
                  <a:spcPts val="1919"/>
                </a:lnSpc>
                <a:spcBef>
                  <a:spcPct val="0"/>
                </a:spcBef>
              </a:pPr>
              <a:endParaRPr/>
            </a:p>
          </p:txBody>
        </p:sp>
      </p:grpSp>
      <p:sp>
        <p:nvSpPr>
          <p:cNvPr id="19" name="Freeform 19"/>
          <p:cNvSpPr/>
          <p:nvPr/>
        </p:nvSpPr>
        <p:spPr>
          <a:xfrm rot="5400000">
            <a:off x="6206868" y="5993472"/>
            <a:ext cx="477027" cy="2134582"/>
          </a:xfrm>
          <a:custGeom>
            <a:avLst/>
            <a:gdLst/>
            <a:ahLst/>
            <a:cxnLst/>
            <a:rect l="l" t="t" r="r" b="b"/>
            <a:pathLst>
              <a:path w="477027" h="2134582">
                <a:moveTo>
                  <a:pt x="0" y="0"/>
                </a:moveTo>
                <a:lnTo>
                  <a:pt x="477027" y="0"/>
                </a:lnTo>
                <a:lnTo>
                  <a:pt x="477027" y="2134583"/>
                </a:lnTo>
                <a:lnTo>
                  <a:pt x="0" y="2134583"/>
                </a:lnTo>
                <a:lnTo>
                  <a:pt x="0" y="0"/>
                </a:lnTo>
                <a:close/>
              </a:path>
            </a:pathLst>
          </a:custGeom>
          <a:blipFill>
            <a:blip r:embed="rId2"/>
            <a:stretch>
              <a:fillRect l="-345849"/>
            </a:stretch>
          </a:blipFill>
        </p:spPr>
        <p:txBody>
          <a:bodyPr/>
          <a:lstStyle/>
          <a:p>
            <a:endParaRPr/>
          </a:p>
        </p:txBody>
      </p:sp>
      <p:grpSp>
        <p:nvGrpSpPr>
          <p:cNvPr id="20" name="Group 20"/>
          <p:cNvGrpSpPr/>
          <p:nvPr/>
        </p:nvGrpSpPr>
        <p:grpSpPr>
          <a:xfrm>
            <a:off x="5368239" y="4855024"/>
            <a:ext cx="2144433" cy="2280178"/>
            <a:chOff x="0" y="0"/>
            <a:chExt cx="434313" cy="461805"/>
          </a:xfrm>
        </p:grpSpPr>
        <p:sp>
          <p:nvSpPr>
            <p:cNvPr id="21" name="Freeform 21"/>
            <p:cNvSpPr/>
            <p:nvPr/>
          </p:nvSpPr>
          <p:spPr>
            <a:xfrm>
              <a:off x="0" y="0"/>
              <a:ext cx="434313" cy="461805"/>
            </a:xfrm>
            <a:custGeom>
              <a:avLst/>
              <a:gdLst/>
              <a:ahLst/>
              <a:cxnLst/>
              <a:rect l="l" t="t" r="r" b="b"/>
              <a:pathLst>
                <a:path w="434313" h="461805">
                  <a:moveTo>
                    <a:pt x="61374" y="0"/>
                  </a:moveTo>
                  <a:lnTo>
                    <a:pt x="372939" y="0"/>
                  </a:lnTo>
                  <a:cubicBezTo>
                    <a:pt x="406835" y="0"/>
                    <a:pt x="434313" y="27478"/>
                    <a:pt x="434313" y="61374"/>
                  </a:cubicBezTo>
                  <a:lnTo>
                    <a:pt x="434313" y="400431"/>
                  </a:lnTo>
                  <a:cubicBezTo>
                    <a:pt x="434313" y="434327"/>
                    <a:pt x="406835" y="461805"/>
                    <a:pt x="372939" y="461805"/>
                  </a:cubicBezTo>
                  <a:lnTo>
                    <a:pt x="61374" y="461805"/>
                  </a:lnTo>
                  <a:cubicBezTo>
                    <a:pt x="27478" y="461805"/>
                    <a:pt x="0" y="434327"/>
                    <a:pt x="0" y="400431"/>
                  </a:cubicBezTo>
                  <a:lnTo>
                    <a:pt x="0" y="61374"/>
                  </a:lnTo>
                  <a:cubicBezTo>
                    <a:pt x="0" y="27478"/>
                    <a:pt x="27478" y="0"/>
                    <a:pt x="61374" y="0"/>
                  </a:cubicBezTo>
                  <a:close/>
                </a:path>
              </a:pathLst>
            </a:custGeom>
            <a:solidFill>
              <a:srgbClr val="FFFFFF"/>
            </a:solidFill>
            <a:ln w="28575" cap="sq">
              <a:solidFill>
                <a:srgbClr val="1960BD"/>
              </a:solidFill>
              <a:prstDash val="solid"/>
              <a:miter/>
            </a:ln>
          </p:spPr>
        </p:sp>
        <p:sp>
          <p:nvSpPr>
            <p:cNvPr id="22" name="TextBox 22"/>
            <p:cNvSpPr txBox="1"/>
            <p:nvPr/>
          </p:nvSpPr>
          <p:spPr>
            <a:xfrm>
              <a:off x="0" y="-19050"/>
              <a:ext cx="434313" cy="480855"/>
            </a:xfrm>
            <a:prstGeom prst="rect">
              <a:avLst/>
            </a:prstGeom>
          </p:spPr>
          <p:txBody>
            <a:bodyPr lIns="50800" tIns="50800" rIns="50800" bIns="50800" rtlCol="0" anchor="ctr"/>
            <a:lstStyle/>
            <a:p>
              <a:pPr algn="ctr">
                <a:lnSpc>
                  <a:spcPts val="2239"/>
                </a:lnSpc>
              </a:pPr>
              <a:endParaRPr/>
            </a:p>
          </p:txBody>
        </p:sp>
      </p:grpSp>
      <p:sp>
        <p:nvSpPr>
          <p:cNvPr id="23" name="Freeform 23"/>
          <p:cNvSpPr/>
          <p:nvPr/>
        </p:nvSpPr>
        <p:spPr>
          <a:xfrm rot="5400000">
            <a:off x="14073462" y="3895466"/>
            <a:ext cx="477027" cy="2134582"/>
          </a:xfrm>
          <a:custGeom>
            <a:avLst/>
            <a:gdLst/>
            <a:ahLst/>
            <a:cxnLst/>
            <a:rect l="l" t="t" r="r" b="b"/>
            <a:pathLst>
              <a:path w="477027" h="2134582">
                <a:moveTo>
                  <a:pt x="0" y="0"/>
                </a:moveTo>
                <a:lnTo>
                  <a:pt x="477027" y="0"/>
                </a:lnTo>
                <a:lnTo>
                  <a:pt x="477027" y="2134582"/>
                </a:lnTo>
                <a:lnTo>
                  <a:pt x="0" y="2134582"/>
                </a:lnTo>
                <a:lnTo>
                  <a:pt x="0" y="0"/>
                </a:lnTo>
                <a:close/>
              </a:path>
            </a:pathLst>
          </a:custGeom>
          <a:blipFill>
            <a:blip r:embed="rId2"/>
            <a:stretch>
              <a:fillRect l="-345849"/>
            </a:stretch>
          </a:blipFill>
        </p:spPr>
        <p:txBody>
          <a:bodyPr/>
          <a:lstStyle/>
          <a:p>
            <a:endParaRPr/>
          </a:p>
        </p:txBody>
      </p:sp>
      <p:grpSp>
        <p:nvGrpSpPr>
          <p:cNvPr id="24" name="Group 24"/>
          <p:cNvGrpSpPr/>
          <p:nvPr/>
        </p:nvGrpSpPr>
        <p:grpSpPr>
          <a:xfrm rot="-10800000">
            <a:off x="13239462" y="3726671"/>
            <a:ext cx="2145026" cy="1310525"/>
            <a:chOff x="0" y="0"/>
            <a:chExt cx="598252" cy="365508"/>
          </a:xfrm>
        </p:grpSpPr>
        <p:sp>
          <p:nvSpPr>
            <p:cNvPr id="25" name="Freeform 25"/>
            <p:cNvSpPr/>
            <p:nvPr/>
          </p:nvSpPr>
          <p:spPr>
            <a:xfrm>
              <a:off x="0" y="0"/>
              <a:ext cx="598252" cy="365508"/>
            </a:xfrm>
            <a:custGeom>
              <a:avLst/>
              <a:gdLst/>
              <a:ahLst/>
              <a:cxnLst/>
              <a:rect l="l" t="t" r="r" b="b"/>
              <a:pathLst>
                <a:path w="598252" h="365508">
                  <a:moveTo>
                    <a:pt x="86622" y="0"/>
                  </a:moveTo>
                  <a:lnTo>
                    <a:pt x="511630" y="0"/>
                  </a:lnTo>
                  <a:cubicBezTo>
                    <a:pt x="534604" y="0"/>
                    <a:pt x="556636" y="9126"/>
                    <a:pt x="572881" y="25371"/>
                  </a:cubicBezTo>
                  <a:cubicBezTo>
                    <a:pt x="589126" y="41616"/>
                    <a:pt x="598252" y="63648"/>
                    <a:pt x="598252" y="86622"/>
                  </a:cubicBezTo>
                  <a:lnTo>
                    <a:pt x="598252" y="278886"/>
                  </a:lnTo>
                  <a:cubicBezTo>
                    <a:pt x="598252" y="301860"/>
                    <a:pt x="589126" y="323892"/>
                    <a:pt x="572881" y="340137"/>
                  </a:cubicBezTo>
                  <a:cubicBezTo>
                    <a:pt x="556636" y="356382"/>
                    <a:pt x="534604" y="365508"/>
                    <a:pt x="511630" y="365508"/>
                  </a:cubicBezTo>
                  <a:lnTo>
                    <a:pt x="86622" y="365508"/>
                  </a:lnTo>
                  <a:cubicBezTo>
                    <a:pt x="63648" y="365508"/>
                    <a:pt x="41616" y="356382"/>
                    <a:pt x="25371" y="340137"/>
                  </a:cubicBezTo>
                  <a:cubicBezTo>
                    <a:pt x="9126" y="323892"/>
                    <a:pt x="0" y="301860"/>
                    <a:pt x="0" y="278886"/>
                  </a:cubicBezTo>
                  <a:lnTo>
                    <a:pt x="0" y="86622"/>
                  </a:lnTo>
                  <a:cubicBezTo>
                    <a:pt x="0" y="63648"/>
                    <a:pt x="9126" y="41616"/>
                    <a:pt x="25371" y="25371"/>
                  </a:cubicBezTo>
                  <a:cubicBezTo>
                    <a:pt x="41616" y="9126"/>
                    <a:pt x="63648" y="0"/>
                    <a:pt x="86622" y="0"/>
                  </a:cubicBezTo>
                  <a:close/>
                </a:path>
              </a:pathLst>
            </a:custGeom>
            <a:solidFill>
              <a:srgbClr val="E0E0E0"/>
            </a:solidFill>
            <a:ln cap="rnd">
              <a:noFill/>
              <a:prstDash val="solid"/>
              <a:round/>
            </a:ln>
          </p:spPr>
        </p:sp>
        <p:sp>
          <p:nvSpPr>
            <p:cNvPr id="26" name="TextBox 26"/>
            <p:cNvSpPr txBox="1"/>
            <p:nvPr/>
          </p:nvSpPr>
          <p:spPr>
            <a:xfrm>
              <a:off x="0" y="-9525"/>
              <a:ext cx="598252" cy="375033"/>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27" name="Group 27"/>
          <p:cNvGrpSpPr/>
          <p:nvPr/>
        </p:nvGrpSpPr>
        <p:grpSpPr>
          <a:xfrm rot="-10800000">
            <a:off x="13239759" y="1768615"/>
            <a:ext cx="2144433" cy="2280178"/>
            <a:chOff x="0" y="0"/>
            <a:chExt cx="434313" cy="461805"/>
          </a:xfrm>
        </p:grpSpPr>
        <p:sp>
          <p:nvSpPr>
            <p:cNvPr id="28" name="Freeform 28"/>
            <p:cNvSpPr/>
            <p:nvPr/>
          </p:nvSpPr>
          <p:spPr>
            <a:xfrm>
              <a:off x="0" y="0"/>
              <a:ext cx="434313" cy="461805"/>
            </a:xfrm>
            <a:custGeom>
              <a:avLst/>
              <a:gdLst/>
              <a:ahLst/>
              <a:cxnLst/>
              <a:rect l="l" t="t" r="r" b="b"/>
              <a:pathLst>
                <a:path w="434313" h="461805">
                  <a:moveTo>
                    <a:pt x="61374" y="0"/>
                  </a:moveTo>
                  <a:lnTo>
                    <a:pt x="372939" y="0"/>
                  </a:lnTo>
                  <a:cubicBezTo>
                    <a:pt x="406835" y="0"/>
                    <a:pt x="434313" y="27478"/>
                    <a:pt x="434313" y="61374"/>
                  </a:cubicBezTo>
                  <a:lnTo>
                    <a:pt x="434313" y="400431"/>
                  </a:lnTo>
                  <a:cubicBezTo>
                    <a:pt x="434313" y="434327"/>
                    <a:pt x="406835" y="461805"/>
                    <a:pt x="372939" y="461805"/>
                  </a:cubicBezTo>
                  <a:lnTo>
                    <a:pt x="61374" y="461805"/>
                  </a:lnTo>
                  <a:cubicBezTo>
                    <a:pt x="27478" y="461805"/>
                    <a:pt x="0" y="434327"/>
                    <a:pt x="0" y="400431"/>
                  </a:cubicBezTo>
                  <a:lnTo>
                    <a:pt x="0" y="61374"/>
                  </a:lnTo>
                  <a:cubicBezTo>
                    <a:pt x="0" y="27478"/>
                    <a:pt x="27478" y="0"/>
                    <a:pt x="61374" y="0"/>
                  </a:cubicBezTo>
                  <a:close/>
                </a:path>
              </a:pathLst>
            </a:custGeom>
            <a:solidFill>
              <a:srgbClr val="FFFFFF"/>
            </a:solidFill>
            <a:ln w="28575" cap="sq">
              <a:solidFill>
                <a:srgbClr val="1960BD"/>
              </a:solidFill>
              <a:prstDash val="solid"/>
              <a:miter/>
            </a:ln>
          </p:spPr>
        </p:sp>
        <p:sp>
          <p:nvSpPr>
            <p:cNvPr id="29" name="TextBox 29"/>
            <p:cNvSpPr txBox="1"/>
            <p:nvPr/>
          </p:nvSpPr>
          <p:spPr>
            <a:xfrm>
              <a:off x="0" y="-19050"/>
              <a:ext cx="434313" cy="480855"/>
            </a:xfrm>
            <a:prstGeom prst="rect">
              <a:avLst/>
            </a:prstGeom>
          </p:spPr>
          <p:txBody>
            <a:bodyPr lIns="50800" tIns="50800" rIns="50800" bIns="50800" rtlCol="0" anchor="ctr"/>
            <a:lstStyle/>
            <a:p>
              <a:pPr algn="ctr">
                <a:lnSpc>
                  <a:spcPts val="2239"/>
                </a:lnSpc>
              </a:pPr>
              <a:endParaRPr/>
            </a:p>
          </p:txBody>
        </p:sp>
      </p:grpSp>
      <p:sp>
        <p:nvSpPr>
          <p:cNvPr id="30" name="Freeform 30"/>
          <p:cNvSpPr/>
          <p:nvPr/>
        </p:nvSpPr>
        <p:spPr>
          <a:xfrm rot="5400000">
            <a:off x="3604530" y="7318380"/>
            <a:ext cx="477027" cy="2134582"/>
          </a:xfrm>
          <a:custGeom>
            <a:avLst/>
            <a:gdLst/>
            <a:ahLst/>
            <a:cxnLst/>
            <a:rect l="l" t="t" r="r" b="b"/>
            <a:pathLst>
              <a:path w="477027" h="2134582">
                <a:moveTo>
                  <a:pt x="0" y="0"/>
                </a:moveTo>
                <a:lnTo>
                  <a:pt x="477027" y="0"/>
                </a:lnTo>
                <a:lnTo>
                  <a:pt x="477027" y="2134583"/>
                </a:lnTo>
                <a:lnTo>
                  <a:pt x="0" y="2134583"/>
                </a:lnTo>
                <a:lnTo>
                  <a:pt x="0" y="0"/>
                </a:lnTo>
                <a:close/>
              </a:path>
            </a:pathLst>
          </a:custGeom>
          <a:blipFill>
            <a:blip r:embed="rId2"/>
            <a:stretch>
              <a:fillRect l="-345849"/>
            </a:stretch>
          </a:blipFill>
        </p:spPr>
        <p:txBody>
          <a:bodyPr/>
          <a:lstStyle/>
          <a:p>
            <a:endParaRPr/>
          </a:p>
        </p:txBody>
      </p:sp>
      <p:grpSp>
        <p:nvGrpSpPr>
          <p:cNvPr id="31" name="Group 31"/>
          <p:cNvGrpSpPr/>
          <p:nvPr/>
        </p:nvGrpSpPr>
        <p:grpSpPr>
          <a:xfrm rot="-10800000">
            <a:off x="2770531" y="7149585"/>
            <a:ext cx="2145026" cy="1310525"/>
            <a:chOff x="0" y="0"/>
            <a:chExt cx="598252" cy="365508"/>
          </a:xfrm>
        </p:grpSpPr>
        <p:sp>
          <p:nvSpPr>
            <p:cNvPr id="32" name="Freeform 32"/>
            <p:cNvSpPr/>
            <p:nvPr/>
          </p:nvSpPr>
          <p:spPr>
            <a:xfrm>
              <a:off x="0" y="0"/>
              <a:ext cx="598252" cy="365508"/>
            </a:xfrm>
            <a:custGeom>
              <a:avLst/>
              <a:gdLst/>
              <a:ahLst/>
              <a:cxnLst/>
              <a:rect l="l" t="t" r="r" b="b"/>
              <a:pathLst>
                <a:path w="598252" h="365508">
                  <a:moveTo>
                    <a:pt x="86622" y="0"/>
                  </a:moveTo>
                  <a:lnTo>
                    <a:pt x="511630" y="0"/>
                  </a:lnTo>
                  <a:cubicBezTo>
                    <a:pt x="534604" y="0"/>
                    <a:pt x="556636" y="9126"/>
                    <a:pt x="572881" y="25371"/>
                  </a:cubicBezTo>
                  <a:cubicBezTo>
                    <a:pt x="589126" y="41616"/>
                    <a:pt x="598252" y="63648"/>
                    <a:pt x="598252" y="86622"/>
                  </a:cubicBezTo>
                  <a:lnTo>
                    <a:pt x="598252" y="278886"/>
                  </a:lnTo>
                  <a:cubicBezTo>
                    <a:pt x="598252" y="301860"/>
                    <a:pt x="589126" y="323892"/>
                    <a:pt x="572881" y="340137"/>
                  </a:cubicBezTo>
                  <a:cubicBezTo>
                    <a:pt x="556636" y="356382"/>
                    <a:pt x="534604" y="365508"/>
                    <a:pt x="511630" y="365508"/>
                  </a:cubicBezTo>
                  <a:lnTo>
                    <a:pt x="86622" y="365508"/>
                  </a:lnTo>
                  <a:cubicBezTo>
                    <a:pt x="63648" y="365508"/>
                    <a:pt x="41616" y="356382"/>
                    <a:pt x="25371" y="340137"/>
                  </a:cubicBezTo>
                  <a:cubicBezTo>
                    <a:pt x="9126" y="323892"/>
                    <a:pt x="0" y="301860"/>
                    <a:pt x="0" y="278886"/>
                  </a:cubicBezTo>
                  <a:lnTo>
                    <a:pt x="0" y="86622"/>
                  </a:lnTo>
                  <a:cubicBezTo>
                    <a:pt x="0" y="63648"/>
                    <a:pt x="9126" y="41616"/>
                    <a:pt x="25371" y="25371"/>
                  </a:cubicBezTo>
                  <a:cubicBezTo>
                    <a:pt x="41616" y="9126"/>
                    <a:pt x="63648" y="0"/>
                    <a:pt x="86622" y="0"/>
                  </a:cubicBezTo>
                  <a:close/>
                </a:path>
              </a:pathLst>
            </a:custGeom>
            <a:solidFill>
              <a:srgbClr val="E0E0E0"/>
            </a:solidFill>
            <a:ln cap="rnd">
              <a:noFill/>
              <a:prstDash val="solid"/>
              <a:round/>
            </a:ln>
          </p:spPr>
        </p:sp>
        <p:sp>
          <p:nvSpPr>
            <p:cNvPr id="33" name="TextBox 33"/>
            <p:cNvSpPr txBox="1"/>
            <p:nvPr/>
          </p:nvSpPr>
          <p:spPr>
            <a:xfrm>
              <a:off x="0" y="-9525"/>
              <a:ext cx="598252" cy="375033"/>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34" name="Group 34"/>
          <p:cNvGrpSpPr/>
          <p:nvPr/>
        </p:nvGrpSpPr>
        <p:grpSpPr>
          <a:xfrm rot="-10800000">
            <a:off x="2770827" y="5191530"/>
            <a:ext cx="2144433" cy="2280178"/>
            <a:chOff x="0" y="0"/>
            <a:chExt cx="434313" cy="461805"/>
          </a:xfrm>
        </p:grpSpPr>
        <p:sp>
          <p:nvSpPr>
            <p:cNvPr id="35" name="Freeform 35"/>
            <p:cNvSpPr/>
            <p:nvPr/>
          </p:nvSpPr>
          <p:spPr>
            <a:xfrm>
              <a:off x="0" y="0"/>
              <a:ext cx="434313" cy="461805"/>
            </a:xfrm>
            <a:custGeom>
              <a:avLst/>
              <a:gdLst/>
              <a:ahLst/>
              <a:cxnLst/>
              <a:rect l="l" t="t" r="r" b="b"/>
              <a:pathLst>
                <a:path w="434313" h="461805">
                  <a:moveTo>
                    <a:pt x="61374" y="0"/>
                  </a:moveTo>
                  <a:lnTo>
                    <a:pt x="372939" y="0"/>
                  </a:lnTo>
                  <a:cubicBezTo>
                    <a:pt x="406835" y="0"/>
                    <a:pt x="434313" y="27478"/>
                    <a:pt x="434313" y="61374"/>
                  </a:cubicBezTo>
                  <a:lnTo>
                    <a:pt x="434313" y="400431"/>
                  </a:lnTo>
                  <a:cubicBezTo>
                    <a:pt x="434313" y="434327"/>
                    <a:pt x="406835" y="461805"/>
                    <a:pt x="372939" y="461805"/>
                  </a:cubicBezTo>
                  <a:lnTo>
                    <a:pt x="61374" y="461805"/>
                  </a:lnTo>
                  <a:cubicBezTo>
                    <a:pt x="27478" y="461805"/>
                    <a:pt x="0" y="434327"/>
                    <a:pt x="0" y="400431"/>
                  </a:cubicBezTo>
                  <a:lnTo>
                    <a:pt x="0" y="61374"/>
                  </a:lnTo>
                  <a:cubicBezTo>
                    <a:pt x="0" y="27478"/>
                    <a:pt x="27478" y="0"/>
                    <a:pt x="61374" y="0"/>
                  </a:cubicBezTo>
                  <a:close/>
                </a:path>
              </a:pathLst>
            </a:custGeom>
            <a:solidFill>
              <a:srgbClr val="FFFFFF"/>
            </a:solidFill>
            <a:ln w="28575" cap="sq">
              <a:solidFill>
                <a:srgbClr val="1960BD"/>
              </a:solidFill>
              <a:prstDash val="solid"/>
              <a:miter/>
            </a:ln>
          </p:spPr>
        </p:sp>
        <p:sp>
          <p:nvSpPr>
            <p:cNvPr id="36" name="TextBox 36"/>
            <p:cNvSpPr txBox="1"/>
            <p:nvPr/>
          </p:nvSpPr>
          <p:spPr>
            <a:xfrm>
              <a:off x="0" y="-19050"/>
              <a:ext cx="434313" cy="480855"/>
            </a:xfrm>
            <a:prstGeom prst="rect">
              <a:avLst/>
            </a:prstGeom>
          </p:spPr>
          <p:txBody>
            <a:bodyPr lIns="50800" tIns="50800" rIns="50800" bIns="50800" rtlCol="0" anchor="ctr"/>
            <a:lstStyle/>
            <a:p>
              <a:pPr algn="ctr">
                <a:lnSpc>
                  <a:spcPts val="2239"/>
                </a:lnSpc>
              </a:pPr>
              <a:endParaRPr/>
            </a:p>
          </p:txBody>
        </p:sp>
      </p:grpSp>
      <p:grpSp>
        <p:nvGrpSpPr>
          <p:cNvPr id="37" name="Group 37"/>
          <p:cNvGrpSpPr/>
          <p:nvPr/>
        </p:nvGrpSpPr>
        <p:grpSpPr>
          <a:xfrm>
            <a:off x="10556051" y="2155165"/>
            <a:ext cx="2145026" cy="1310525"/>
            <a:chOff x="0" y="0"/>
            <a:chExt cx="598252" cy="365508"/>
          </a:xfrm>
        </p:grpSpPr>
        <p:sp>
          <p:nvSpPr>
            <p:cNvPr id="38" name="Freeform 38"/>
            <p:cNvSpPr/>
            <p:nvPr/>
          </p:nvSpPr>
          <p:spPr>
            <a:xfrm>
              <a:off x="0" y="0"/>
              <a:ext cx="598252" cy="365508"/>
            </a:xfrm>
            <a:custGeom>
              <a:avLst/>
              <a:gdLst/>
              <a:ahLst/>
              <a:cxnLst/>
              <a:rect l="l" t="t" r="r" b="b"/>
              <a:pathLst>
                <a:path w="598252" h="365508">
                  <a:moveTo>
                    <a:pt x="86622" y="0"/>
                  </a:moveTo>
                  <a:lnTo>
                    <a:pt x="511630" y="0"/>
                  </a:lnTo>
                  <a:cubicBezTo>
                    <a:pt x="534604" y="0"/>
                    <a:pt x="556636" y="9126"/>
                    <a:pt x="572881" y="25371"/>
                  </a:cubicBezTo>
                  <a:cubicBezTo>
                    <a:pt x="589126" y="41616"/>
                    <a:pt x="598252" y="63648"/>
                    <a:pt x="598252" y="86622"/>
                  </a:cubicBezTo>
                  <a:lnTo>
                    <a:pt x="598252" y="278886"/>
                  </a:lnTo>
                  <a:cubicBezTo>
                    <a:pt x="598252" y="301860"/>
                    <a:pt x="589126" y="323892"/>
                    <a:pt x="572881" y="340137"/>
                  </a:cubicBezTo>
                  <a:cubicBezTo>
                    <a:pt x="556636" y="356382"/>
                    <a:pt x="534604" y="365508"/>
                    <a:pt x="511630" y="365508"/>
                  </a:cubicBezTo>
                  <a:lnTo>
                    <a:pt x="86622" y="365508"/>
                  </a:lnTo>
                  <a:cubicBezTo>
                    <a:pt x="63648" y="365508"/>
                    <a:pt x="41616" y="356382"/>
                    <a:pt x="25371" y="340137"/>
                  </a:cubicBezTo>
                  <a:cubicBezTo>
                    <a:pt x="9126" y="323892"/>
                    <a:pt x="0" y="301860"/>
                    <a:pt x="0" y="278886"/>
                  </a:cubicBezTo>
                  <a:lnTo>
                    <a:pt x="0" y="86622"/>
                  </a:lnTo>
                  <a:cubicBezTo>
                    <a:pt x="0" y="63648"/>
                    <a:pt x="9126" y="41616"/>
                    <a:pt x="25371" y="25371"/>
                  </a:cubicBezTo>
                  <a:cubicBezTo>
                    <a:pt x="41616" y="9126"/>
                    <a:pt x="63648" y="0"/>
                    <a:pt x="86622" y="0"/>
                  </a:cubicBezTo>
                  <a:close/>
                </a:path>
              </a:pathLst>
            </a:custGeom>
            <a:solidFill>
              <a:srgbClr val="E0E0E0"/>
            </a:solidFill>
            <a:ln cap="rnd">
              <a:noFill/>
              <a:prstDash val="solid"/>
              <a:round/>
            </a:ln>
          </p:spPr>
        </p:sp>
        <p:sp>
          <p:nvSpPr>
            <p:cNvPr id="39" name="TextBox 39"/>
            <p:cNvSpPr txBox="1"/>
            <p:nvPr/>
          </p:nvSpPr>
          <p:spPr>
            <a:xfrm>
              <a:off x="0" y="-9525"/>
              <a:ext cx="598252" cy="375033"/>
            </a:xfrm>
            <a:prstGeom prst="rect">
              <a:avLst/>
            </a:prstGeom>
          </p:spPr>
          <p:txBody>
            <a:bodyPr lIns="50800" tIns="50800" rIns="50800" bIns="50800" rtlCol="0" anchor="ctr"/>
            <a:lstStyle/>
            <a:p>
              <a:pPr marL="0" lvl="0" indent="0" algn="ctr">
                <a:lnSpc>
                  <a:spcPts val="1919"/>
                </a:lnSpc>
                <a:spcBef>
                  <a:spcPct val="0"/>
                </a:spcBef>
              </a:pPr>
              <a:endParaRPr/>
            </a:p>
          </p:txBody>
        </p:sp>
      </p:grpSp>
      <p:sp>
        <p:nvSpPr>
          <p:cNvPr id="40" name="Freeform 40"/>
          <p:cNvSpPr/>
          <p:nvPr/>
        </p:nvSpPr>
        <p:spPr>
          <a:xfrm rot="5400000">
            <a:off x="11394976" y="4282015"/>
            <a:ext cx="477027" cy="2134582"/>
          </a:xfrm>
          <a:custGeom>
            <a:avLst/>
            <a:gdLst/>
            <a:ahLst/>
            <a:cxnLst/>
            <a:rect l="l" t="t" r="r" b="b"/>
            <a:pathLst>
              <a:path w="477027" h="2134582">
                <a:moveTo>
                  <a:pt x="0" y="0"/>
                </a:moveTo>
                <a:lnTo>
                  <a:pt x="477026" y="0"/>
                </a:lnTo>
                <a:lnTo>
                  <a:pt x="477026" y="2134583"/>
                </a:lnTo>
                <a:lnTo>
                  <a:pt x="0" y="2134583"/>
                </a:lnTo>
                <a:lnTo>
                  <a:pt x="0" y="0"/>
                </a:lnTo>
                <a:close/>
              </a:path>
            </a:pathLst>
          </a:custGeom>
          <a:blipFill>
            <a:blip r:embed="rId2"/>
            <a:stretch>
              <a:fillRect l="-345849"/>
            </a:stretch>
          </a:blipFill>
        </p:spPr>
        <p:txBody>
          <a:bodyPr/>
          <a:lstStyle/>
          <a:p>
            <a:endParaRPr/>
          </a:p>
        </p:txBody>
      </p:sp>
      <p:grpSp>
        <p:nvGrpSpPr>
          <p:cNvPr id="41" name="Group 41"/>
          <p:cNvGrpSpPr/>
          <p:nvPr/>
        </p:nvGrpSpPr>
        <p:grpSpPr>
          <a:xfrm>
            <a:off x="10556347" y="3143567"/>
            <a:ext cx="2144433" cy="2280178"/>
            <a:chOff x="0" y="0"/>
            <a:chExt cx="434313" cy="461805"/>
          </a:xfrm>
        </p:grpSpPr>
        <p:sp>
          <p:nvSpPr>
            <p:cNvPr id="42" name="Freeform 42"/>
            <p:cNvSpPr/>
            <p:nvPr/>
          </p:nvSpPr>
          <p:spPr>
            <a:xfrm>
              <a:off x="0" y="0"/>
              <a:ext cx="434313" cy="461805"/>
            </a:xfrm>
            <a:custGeom>
              <a:avLst/>
              <a:gdLst/>
              <a:ahLst/>
              <a:cxnLst/>
              <a:rect l="l" t="t" r="r" b="b"/>
              <a:pathLst>
                <a:path w="434313" h="461805">
                  <a:moveTo>
                    <a:pt x="61374" y="0"/>
                  </a:moveTo>
                  <a:lnTo>
                    <a:pt x="372939" y="0"/>
                  </a:lnTo>
                  <a:cubicBezTo>
                    <a:pt x="406835" y="0"/>
                    <a:pt x="434313" y="27478"/>
                    <a:pt x="434313" y="61374"/>
                  </a:cubicBezTo>
                  <a:lnTo>
                    <a:pt x="434313" y="400431"/>
                  </a:lnTo>
                  <a:cubicBezTo>
                    <a:pt x="434313" y="434327"/>
                    <a:pt x="406835" y="461805"/>
                    <a:pt x="372939" y="461805"/>
                  </a:cubicBezTo>
                  <a:lnTo>
                    <a:pt x="61374" y="461805"/>
                  </a:lnTo>
                  <a:cubicBezTo>
                    <a:pt x="27478" y="461805"/>
                    <a:pt x="0" y="434327"/>
                    <a:pt x="0" y="400431"/>
                  </a:cubicBezTo>
                  <a:lnTo>
                    <a:pt x="0" y="61374"/>
                  </a:lnTo>
                  <a:cubicBezTo>
                    <a:pt x="0" y="27478"/>
                    <a:pt x="27478" y="0"/>
                    <a:pt x="61374" y="0"/>
                  </a:cubicBezTo>
                  <a:close/>
                </a:path>
              </a:pathLst>
            </a:custGeom>
            <a:solidFill>
              <a:srgbClr val="FFFFFF"/>
            </a:solidFill>
            <a:ln w="28575" cap="sq">
              <a:solidFill>
                <a:srgbClr val="1960BD"/>
              </a:solidFill>
              <a:prstDash val="solid"/>
              <a:miter/>
            </a:ln>
          </p:spPr>
        </p:sp>
        <p:sp>
          <p:nvSpPr>
            <p:cNvPr id="43" name="TextBox 43"/>
            <p:cNvSpPr txBox="1"/>
            <p:nvPr/>
          </p:nvSpPr>
          <p:spPr>
            <a:xfrm>
              <a:off x="0" y="-19050"/>
              <a:ext cx="434313" cy="480855"/>
            </a:xfrm>
            <a:prstGeom prst="rect">
              <a:avLst/>
            </a:prstGeom>
          </p:spPr>
          <p:txBody>
            <a:bodyPr lIns="50800" tIns="50800" rIns="50800" bIns="50800" rtlCol="0" anchor="ctr"/>
            <a:lstStyle/>
            <a:p>
              <a:pPr algn="ctr">
                <a:lnSpc>
                  <a:spcPts val="2239"/>
                </a:lnSpc>
              </a:pPr>
              <a:endParaRPr/>
            </a:p>
          </p:txBody>
        </p:sp>
      </p:grpSp>
      <p:sp>
        <p:nvSpPr>
          <p:cNvPr id="44" name="Freeform 44"/>
          <p:cNvSpPr/>
          <p:nvPr/>
        </p:nvSpPr>
        <p:spPr>
          <a:xfrm>
            <a:off x="1250109" y="8460110"/>
            <a:ext cx="2592935" cy="820840"/>
          </a:xfrm>
          <a:custGeom>
            <a:avLst/>
            <a:gdLst/>
            <a:ahLst/>
            <a:cxnLst/>
            <a:rect l="l" t="t" r="r" b="b"/>
            <a:pathLst>
              <a:path w="2592935" h="820840">
                <a:moveTo>
                  <a:pt x="0" y="386549"/>
                </a:moveTo>
                <a:lnTo>
                  <a:pt x="0" y="603695"/>
                </a:lnTo>
                <a:cubicBezTo>
                  <a:pt x="0" y="723621"/>
                  <a:pt x="97219" y="820840"/>
                  <a:pt x="217145" y="820840"/>
                </a:cubicBezTo>
                <a:lnTo>
                  <a:pt x="2373860" y="820840"/>
                </a:lnTo>
                <a:cubicBezTo>
                  <a:pt x="2494852" y="820840"/>
                  <a:pt x="2592935" y="722757"/>
                  <a:pt x="2592935" y="601765"/>
                </a:cubicBezTo>
                <a:lnTo>
                  <a:pt x="2592935" y="0"/>
                </a:lnTo>
              </a:path>
            </a:pathLst>
          </a:custGeom>
          <a:ln w="38100" cap="rnd">
            <a:solidFill>
              <a:srgbClr val="1960BD"/>
            </a:solidFill>
            <a:prstDash val="sysDot"/>
            <a:headEnd type="none" w="sm" len="sm"/>
            <a:tailEnd type="none" w="sm" len="sm"/>
          </a:ln>
        </p:spPr>
        <p:txBody>
          <a:bodyPr/>
          <a:lstStyle/>
          <a:p>
            <a:endParaRPr/>
          </a:p>
        </p:txBody>
      </p:sp>
      <p:sp>
        <p:nvSpPr>
          <p:cNvPr id="45" name="Freeform 45"/>
          <p:cNvSpPr/>
          <p:nvPr/>
        </p:nvSpPr>
        <p:spPr>
          <a:xfrm>
            <a:off x="3843044" y="4521884"/>
            <a:ext cx="1524899" cy="669646"/>
          </a:xfrm>
          <a:custGeom>
            <a:avLst/>
            <a:gdLst/>
            <a:ahLst/>
            <a:cxnLst/>
            <a:rect l="l" t="t" r="r" b="b"/>
            <a:pathLst>
              <a:path w="1524899" h="669646">
                <a:moveTo>
                  <a:pt x="0" y="669646"/>
                </a:moveTo>
                <a:lnTo>
                  <a:pt x="0" y="219075"/>
                </a:lnTo>
                <a:cubicBezTo>
                  <a:pt x="0" y="98083"/>
                  <a:pt x="98083" y="0"/>
                  <a:pt x="219075" y="0"/>
                </a:cubicBezTo>
                <a:lnTo>
                  <a:pt x="1524899" y="0"/>
                </a:lnTo>
              </a:path>
            </a:pathLst>
          </a:custGeom>
          <a:ln w="38100" cap="rnd">
            <a:solidFill>
              <a:srgbClr val="1960BD"/>
            </a:solidFill>
            <a:prstDash val="sysDot"/>
            <a:headEnd type="none" w="sm" len="sm"/>
            <a:tailEnd type="none" w="sm" len="sm"/>
          </a:ln>
        </p:spPr>
        <p:txBody>
          <a:bodyPr/>
          <a:lstStyle/>
          <a:p>
            <a:endParaRPr/>
          </a:p>
        </p:txBody>
      </p:sp>
      <p:grpSp>
        <p:nvGrpSpPr>
          <p:cNvPr id="49" name="Group 49"/>
          <p:cNvGrpSpPr/>
          <p:nvPr/>
        </p:nvGrpSpPr>
        <p:grpSpPr>
          <a:xfrm rot="-5400000">
            <a:off x="2452196" y="9127939"/>
            <a:ext cx="345126" cy="301986"/>
            <a:chOff x="0" y="0"/>
            <a:chExt cx="812800" cy="711200"/>
          </a:xfrm>
        </p:grpSpPr>
        <p:sp>
          <p:nvSpPr>
            <p:cNvPr id="50" name="Freeform 50"/>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004369"/>
            </a:solidFill>
          </p:spPr>
        </p:sp>
        <p:sp>
          <p:nvSpPr>
            <p:cNvPr id="51" name="TextBox 51"/>
            <p:cNvSpPr txBox="1"/>
            <p:nvPr/>
          </p:nvSpPr>
          <p:spPr>
            <a:xfrm>
              <a:off x="127000" y="41275"/>
              <a:ext cx="558800" cy="339725"/>
            </a:xfrm>
            <a:prstGeom prst="rect">
              <a:avLst/>
            </a:prstGeom>
          </p:spPr>
          <p:txBody>
            <a:bodyPr lIns="50800" tIns="50800" rIns="50800" bIns="50800" rtlCol="0" anchor="ctr"/>
            <a:lstStyle/>
            <a:p>
              <a:pPr algn="ctr">
                <a:lnSpc>
                  <a:spcPts val="1919"/>
                </a:lnSpc>
              </a:pPr>
              <a:endParaRPr/>
            </a:p>
          </p:txBody>
        </p:sp>
      </p:grpSp>
      <p:grpSp>
        <p:nvGrpSpPr>
          <p:cNvPr id="52" name="Group 52"/>
          <p:cNvGrpSpPr/>
          <p:nvPr/>
        </p:nvGrpSpPr>
        <p:grpSpPr>
          <a:xfrm rot="-5400000">
            <a:off x="4347282" y="4370891"/>
            <a:ext cx="345126" cy="301986"/>
            <a:chOff x="0" y="0"/>
            <a:chExt cx="812800" cy="711200"/>
          </a:xfrm>
        </p:grpSpPr>
        <p:sp>
          <p:nvSpPr>
            <p:cNvPr id="53" name="Freeform 53"/>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004369"/>
            </a:solidFill>
          </p:spPr>
        </p:sp>
        <p:sp>
          <p:nvSpPr>
            <p:cNvPr id="54" name="TextBox 54"/>
            <p:cNvSpPr txBox="1"/>
            <p:nvPr/>
          </p:nvSpPr>
          <p:spPr>
            <a:xfrm>
              <a:off x="127000" y="41275"/>
              <a:ext cx="558800" cy="339725"/>
            </a:xfrm>
            <a:prstGeom prst="rect">
              <a:avLst/>
            </a:prstGeom>
          </p:spPr>
          <p:txBody>
            <a:bodyPr lIns="50800" tIns="50800" rIns="50800" bIns="50800" rtlCol="0" anchor="ctr"/>
            <a:lstStyle/>
            <a:p>
              <a:pPr marL="0" lvl="0" indent="0" algn="ctr">
                <a:lnSpc>
                  <a:spcPts val="1919"/>
                </a:lnSpc>
                <a:spcBef>
                  <a:spcPct val="0"/>
                </a:spcBef>
              </a:pPr>
              <a:endParaRPr/>
            </a:p>
          </p:txBody>
        </p:sp>
      </p:grpSp>
      <p:sp>
        <p:nvSpPr>
          <p:cNvPr id="61" name="TextBox 61"/>
          <p:cNvSpPr txBox="1"/>
          <p:nvPr/>
        </p:nvSpPr>
        <p:spPr>
          <a:xfrm>
            <a:off x="482216" y="5753510"/>
            <a:ext cx="1536136" cy="564257"/>
          </a:xfrm>
          <a:prstGeom prst="rect">
            <a:avLst/>
          </a:prstGeom>
        </p:spPr>
        <p:txBody>
          <a:bodyPr lIns="0" tIns="0" rIns="0" bIns="0" rtlCol="0" anchor="t">
            <a:spAutoFit/>
          </a:bodyPr>
          <a:lstStyle/>
          <a:p>
            <a:pPr algn="ctr" rtl="1">
              <a:lnSpc>
                <a:spcPts val="2183"/>
              </a:lnSpc>
            </a:pPr>
            <a:r>
              <a:rPr lang="ar-EG" sz="1819" b="1">
                <a:solidFill>
                  <a:srgbClr val="000000"/>
                </a:solidFill>
                <a:latin typeface="Arial" panose="020B0604020202020204" pitchFamily="34" charset="0"/>
                <a:ea typeface="Public Sans Bold"/>
                <a:cs typeface="Arial" panose="020B0604020202020204" pitchFamily="34" charset="0"/>
                <a:sym typeface="Public Sans Bold"/>
                <a:rtl/>
              </a:rPr>
              <a:t>فاتورة من </a:t>
            </a:r>
            <a:r>
              <a:rPr lang="en-US" sz="1819" b="1">
                <a:solidFill>
                  <a:srgbClr val="000000"/>
                </a:solidFill>
                <a:latin typeface="Arial" panose="020B0604020202020204" pitchFamily="34" charset="0"/>
                <a:ea typeface="Public Sans Bold"/>
                <a:cs typeface="Arial" panose="020B0604020202020204" pitchFamily="34" charset="0"/>
                <a:sym typeface="Public Sans Bold"/>
              </a:rPr>
              <a:t>SAP</a:t>
            </a:r>
            <a:r>
              <a:rPr lang="ar-EG" sz="1819" b="1">
                <a:solidFill>
                  <a:srgbClr val="000000"/>
                </a:solidFill>
                <a:latin typeface="Arial" panose="020B0604020202020204" pitchFamily="34" charset="0"/>
                <a:ea typeface="Public Sans Bold"/>
                <a:cs typeface="Arial" panose="020B0604020202020204" pitchFamily="34" charset="0"/>
                <a:sym typeface="Public Sans Bold"/>
                <a:rtl/>
              </a:rPr>
              <a:t>  قسم المبيعات</a:t>
            </a:r>
          </a:p>
        </p:txBody>
      </p:sp>
      <p:sp>
        <p:nvSpPr>
          <p:cNvPr id="62" name="TextBox 62"/>
          <p:cNvSpPr txBox="1"/>
          <p:nvPr/>
        </p:nvSpPr>
        <p:spPr>
          <a:xfrm>
            <a:off x="435808" y="7027991"/>
            <a:ext cx="1628602" cy="1590179"/>
          </a:xfrm>
          <a:prstGeom prst="rect">
            <a:avLst/>
          </a:prstGeom>
        </p:spPr>
        <p:txBody>
          <a:bodyPr lIns="0" tIns="0" rIns="0" bIns="0" rtlCol="0" anchor="t">
            <a:spAutoFit/>
          </a:bodyPr>
          <a:lstStyle/>
          <a:p>
            <a:pPr algn="ctr" rtl="1">
              <a:lnSpc>
                <a:spcPts val="2183"/>
              </a:lnSpc>
            </a:pPr>
            <a:r>
              <a:rPr lang="ar-EG" sz="1819">
                <a:solidFill>
                  <a:srgbClr val="737373"/>
                </a:solidFill>
                <a:latin typeface="Arial" panose="020B0604020202020204" pitchFamily="34" charset="0"/>
                <a:ea typeface="Public Sans"/>
                <a:cs typeface="Arial" panose="020B0604020202020204" pitchFamily="34" charset="0"/>
                <a:sym typeface="Public Sans"/>
                <a:rtl/>
              </a:rPr>
              <a:t>وصول الفاتورة إلى نظام خدمات ما بعد البيع وبدء رحلة الخدمة.</a:t>
            </a:r>
          </a:p>
          <a:p>
            <a:pPr algn="ctr">
              <a:lnSpc>
                <a:spcPts val="1823"/>
              </a:lnSpc>
            </a:pPr>
            <a:endParaRPr lang="ar-EG" sz="1819">
              <a:solidFill>
                <a:srgbClr val="737373"/>
              </a:solidFill>
              <a:latin typeface="Arial" panose="020B0604020202020204" pitchFamily="34" charset="0"/>
              <a:ea typeface="Public Sans"/>
              <a:cs typeface="Arial" panose="020B0604020202020204" pitchFamily="34" charset="0"/>
              <a:sym typeface="Public Sans"/>
              <a:rtl/>
            </a:endParaRPr>
          </a:p>
          <a:p>
            <a:pPr algn="ctr">
              <a:lnSpc>
                <a:spcPts val="1823"/>
              </a:lnSpc>
            </a:pPr>
            <a:endParaRPr lang="ar-EG" sz="1819">
              <a:solidFill>
                <a:srgbClr val="737373"/>
              </a:solidFill>
              <a:latin typeface="Arial" panose="020B0604020202020204" pitchFamily="34" charset="0"/>
              <a:ea typeface="Public Sans"/>
              <a:cs typeface="Arial" panose="020B0604020202020204" pitchFamily="34" charset="0"/>
              <a:sym typeface="Public Sans"/>
              <a:rtl/>
            </a:endParaRPr>
          </a:p>
        </p:txBody>
      </p:sp>
      <p:sp>
        <p:nvSpPr>
          <p:cNvPr id="63" name="TextBox 63"/>
          <p:cNvSpPr txBox="1"/>
          <p:nvPr/>
        </p:nvSpPr>
        <p:spPr>
          <a:xfrm>
            <a:off x="3028743" y="5653039"/>
            <a:ext cx="1628602" cy="1692771"/>
          </a:xfrm>
          <a:prstGeom prst="rect">
            <a:avLst/>
          </a:prstGeom>
        </p:spPr>
        <p:txBody>
          <a:bodyPr lIns="0" tIns="0" rIns="0" bIns="0" rtlCol="0" anchor="t">
            <a:spAutoFit/>
          </a:bodyPr>
          <a:lstStyle/>
          <a:p>
            <a:pPr algn="ctr" rtl="1">
              <a:lnSpc>
                <a:spcPts val="2183"/>
              </a:lnSpc>
            </a:pPr>
            <a:r>
              <a:rPr lang="ar-EG" sz="1819">
                <a:solidFill>
                  <a:srgbClr val="737373"/>
                </a:solidFill>
                <a:latin typeface="Arial" panose="020B0604020202020204" pitchFamily="34" charset="0"/>
                <a:ea typeface="Public Sans"/>
                <a:cs typeface="Arial" panose="020B0604020202020204" pitchFamily="34" charset="0"/>
                <a:sym typeface="Public Sans"/>
                <a:rtl/>
              </a:rPr>
              <a:t>أخذ القياسات المطلوبة من موقع العميل وتجهيز البيانات للخدمات التالية.</a:t>
            </a:r>
          </a:p>
          <a:p>
            <a:pPr algn="ctr" rtl="1">
              <a:lnSpc>
                <a:spcPts val="2183"/>
              </a:lnSpc>
            </a:pPr>
            <a:endParaRPr lang="ar-EG" sz="1819">
              <a:solidFill>
                <a:srgbClr val="737373"/>
              </a:solidFill>
              <a:latin typeface="Arial" panose="020B0604020202020204" pitchFamily="34" charset="0"/>
              <a:ea typeface="Public Sans"/>
              <a:cs typeface="Arial" panose="020B0604020202020204" pitchFamily="34" charset="0"/>
              <a:sym typeface="Public Sans"/>
              <a:rtl/>
            </a:endParaRPr>
          </a:p>
          <a:p>
            <a:pPr algn="ctr" rtl="1">
              <a:lnSpc>
                <a:spcPts val="2183"/>
              </a:lnSpc>
            </a:pPr>
            <a:endParaRPr lang="ar-EG" sz="1819">
              <a:solidFill>
                <a:srgbClr val="737373"/>
              </a:solidFill>
              <a:latin typeface="Arial" panose="020B0604020202020204" pitchFamily="34" charset="0"/>
              <a:ea typeface="Public Sans"/>
              <a:cs typeface="Arial" panose="020B0604020202020204" pitchFamily="34" charset="0"/>
              <a:sym typeface="Public Sans"/>
              <a:rtl/>
            </a:endParaRPr>
          </a:p>
        </p:txBody>
      </p:sp>
      <p:sp>
        <p:nvSpPr>
          <p:cNvPr id="64" name="TextBox 64"/>
          <p:cNvSpPr txBox="1"/>
          <p:nvPr/>
        </p:nvSpPr>
        <p:spPr>
          <a:xfrm>
            <a:off x="5626155" y="5316534"/>
            <a:ext cx="1628602" cy="1410643"/>
          </a:xfrm>
          <a:prstGeom prst="rect">
            <a:avLst/>
          </a:prstGeom>
        </p:spPr>
        <p:txBody>
          <a:bodyPr lIns="0" tIns="0" rIns="0" bIns="0" rtlCol="0" anchor="t">
            <a:spAutoFit/>
          </a:bodyPr>
          <a:lstStyle/>
          <a:p>
            <a:pPr algn="ctr" rtl="1">
              <a:lnSpc>
                <a:spcPts val="2183"/>
              </a:lnSpc>
            </a:pPr>
            <a:r>
              <a:rPr lang="ar-EG" sz="1819">
                <a:solidFill>
                  <a:srgbClr val="737373"/>
                </a:solidFill>
                <a:latin typeface="Arial" panose="020B0604020202020204" pitchFamily="34" charset="0"/>
                <a:ea typeface="Public Sans"/>
                <a:cs typeface="Arial" panose="020B0604020202020204" pitchFamily="34" charset="0"/>
                <a:sym typeface="Public Sans"/>
                <a:rtl/>
              </a:rPr>
              <a:t>إعداد التصميم بناءً على القياسات ومتطلبات العميل.</a:t>
            </a:r>
          </a:p>
          <a:p>
            <a:pPr algn="ctr" rtl="1">
              <a:lnSpc>
                <a:spcPts val="2183"/>
              </a:lnSpc>
            </a:pPr>
            <a:endParaRPr lang="ar-EG" sz="1819">
              <a:solidFill>
                <a:srgbClr val="737373"/>
              </a:solidFill>
              <a:latin typeface="Arial" panose="020B0604020202020204" pitchFamily="34" charset="0"/>
              <a:ea typeface="Public Sans"/>
              <a:cs typeface="Arial" panose="020B0604020202020204" pitchFamily="34" charset="0"/>
              <a:sym typeface="Public Sans"/>
              <a:rtl/>
            </a:endParaRPr>
          </a:p>
          <a:p>
            <a:pPr algn="ctr" rtl="1">
              <a:lnSpc>
                <a:spcPts val="2183"/>
              </a:lnSpc>
            </a:pPr>
            <a:endParaRPr lang="ar-EG" sz="1819">
              <a:solidFill>
                <a:srgbClr val="737373"/>
              </a:solidFill>
              <a:latin typeface="Arial" panose="020B0604020202020204" pitchFamily="34" charset="0"/>
              <a:ea typeface="Public Sans"/>
              <a:cs typeface="Arial" panose="020B0604020202020204" pitchFamily="34" charset="0"/>
              <a:sym typeface="Public Sans"/>
              <a:rtl/>
            </a:endParaRPr>
          </a:p>
        </p:txBody>
      </p:sp>
      <p:sp>
        <p:nvSpPr>
          <p:cNvPr id="65" name="TextBox 65"/>
          <p:cNvSpPr txBox="1"/>
          <p:nvPr/>
        </p:nvSpPr>
        <p:spPr>
          <a:xfrm>
            <a:off x="8216850" y="3941582"/>
            <a:ext cx="1628602" cy="846386"/>
          </a:xfrm>
          <a:prstGeom prst="rect">
            <a:avLst/>
          </a:prstGeom>
        </p:spPr>
        <p:txBody>
          <a:bodyPr lIns="0" tIns="0" rIns="0" bIns="0" rtlCol="0" anchor="t">
            <a:spAutoFit/>
          </a:bodyPr>
          <a:lstStyle/>
          <a:p>
            <a:pPr algn="ctr" rtl="1">
              <a:lnSpc>
                <a:spcPts val="2183"/>
              </a:lnSpc>
            </a:pPr>
            <a:r>
              <a:rPr lang="ar-EG" sz="1819">
                <a:solidFill>
                  <a:srgbClr val="737373"/>
                </a:solidFill>
                <a:latin typeface="Arial" panose="020B0604020202020204" pitchFamily="34" charset="0"/>
                <a:ea typeface="Public Sans"/>
                <a:cs typeface="Arial" panose="020B0604020202020204" pitchFamily="34" charset="0"/>
                <a:sym typeface="Public Sans"/>
                <a:rtl/>
              </a:rPr>
              <a:t>تصنيع وتجهيز الطلب حسب التصميم والمواصفات المعتمدة.</a:t>
            </a:r>
          </a:p>
        </p:txBody>
      </p:sp>
      <p:sp>
        <p:nvSpPr>
          <p:cNvPr id="66" name="TextBox 66"/>
          <p:cNvSpPr txBox="1"/>
          <p:nvPr/>
        </p:nvSpPr>
        <p:spPr>
          <a:xfrm>
            <a:off x="10814263" y="3595552"/>
            <a:ext cx="1628602" cy="461665"/>
          </a:xfrm>
          <a:prstGeom prst="rect">
            <a:avLst/>
          </a:prstGeom>
        </p:spPr>
        <p:txBody>
          <a:bodyPr lIns="0" tIns="0" rIns="0" bIns="0" rtlCol="0" anchor="t">
            <a:spAutoFit/>
          </a:bodyPr>
          <a:lstStyle/>
          <a:p>
            <a:pPr algn="ctr" rtl="1">
              <a:lnSpc>
                <a:spcPts val="1823"/>
              </a:lnSpc>
            </a:pPr>
            <a:r>
              <a:rPr lang="ar-EG" sz="1519">
                <a:solidFill>
                  <a:srgbClr val="737373"/>
                </a:solidFill>
                <a:latin typeface="Arial" panose="020B0604020202020204" pitchFamily="34" charset="0"/>
                <a:ea typeface="Public Sans"/>
                <a:cs typeface="Arial" panose="020B0604020202020204" pitchFamily="34" charset="0"/>
                <a:sym typeface="Public Sans"/>
                <a:rtl/>
              </a:rPr>
              <a:t>تجهيز الطلب وتسليمه للعميل في الموعد المحدد.</a:t>
            </a:r>
          </a:p>
        </p:txBody>
      </p:sp>
      <p:sp>
        <p:nvSpPr>
          <p:cNvPr id="67" name="TextBox 67"/>
          <p:cNvSpPr txBox="1"/>
          <p:nvPr/>
        </p:nvSpPr>
        <p:spPr>
          <a:xfrm>
            <a:off x="13497675" y="2220600"/>
            <a:ext cx="1628602" cy="695325"/>
          </a:xfrm>
          <a:prstGeom prst="rect">
            <a:avLst/>
          </a:prstGeom>
        </p:spPr>
        <p:txBody>
          <a:bodyPr lIns="0" tIns="0" rIns="0" bIns="0" rtlCol="0" anchor="t">
            <a:spAutoFit/>
          </a:bodyPr>
          <a:lstStyle/>
          <a:p>
            <a:pPr algn="ctr" rtl="1">
              <a:lnSpc>
                <a:spcPts val="1823"/>
              </a:lnSpc>
            </a:pPr>
            <a:r>
              <a:rPr lang="ar-EG" sz="1519">
                <a:solidFill>
                  <a:srgbClr val="737373"/>
                </a:solidFill>
                <a:latin typeface="Arial" panose="020B0604020202020204" pitchFamily="34" charset="0"/>
                <a:ea typeface="Public Sans"/>
                <a:cs typeface="Arial" panose="020B0604020202020204" pitchFamily="34" charset="0"/>
                <a:sym typeface="Public Sans"/>
                <a:rtl/>
              </a:rPr>
              <a:t>تنفيذ أعمال التركيب في موقع العميل وإكمال الخدمة.</a:t>
            </a:r>
          </a:p>
        </p:txBody>
      </p:sp>
      <p:sp>
        <p:nvSpPr>
          <p:cNvPr id="68" name="TextBox 68"/>
          <p:cNvSpPr txBox="1"/>
          <p:nvPr/>
        </p:nvSpPr>
        <p:spPr>
          <a:xfrm>
            <a:off x="8263084" y="5979126"/>
            <a:ext cx="1536136" cy="564257"/>
          </a:xfrm>
          <a:prstGeom prst="rect">
            <a:avLst/>
          </a:prstGeom>
        </p:spPr>
        <p:txBody>
          <a:bodyPr lIns="0" tIns="0" rIns="0" bIns="0" rtlCol="0" anchor="t">
            <a:spAutoFit/>
          </a:bodyPr>
          <a:lstStyle/>
          <a:p>
            <a:pPr marL="0" lvl="0" indent="0" algn="ctr">
              <a:lnSpc>
                <a:spcPts val="2183"/>
              </a:lnSpc>
            </a:pPr>
            <a:r>
              <a:rPr lang="ar-EG" sz="1819" b="1">
                <a:solidFill>
                  <a:srgbClr val="000000"/>
                </a:solidFill>
                <a:latin typeface="Arial" panose="020B0604020202020204" pitchFamily="34" charset="0"/>
                <a:ea typeface="Public Sans Bold"/>
                <a:cs typeface="Arial" panose="020B0604020202020204" pitchFamily="34" charset="0"/>
                <a:sym typeface="Public Sans Bold"/>
                <a:rtl/>
              </a:rPr>
              <a:t>التصنيع</a:t>
            </a:r>
            <a:r>
              <a:rPr lang="en-US" sz="1819" b="1">
                <a:solidFill>
                  <a:srgbClr val="000000"/>
                </a:solidFill>
                <a:latin typeface="Arial" panose="020B0604020202020204" pitchFamily="34" charset="0"/>
                <a:ea typeface="Public Sans Bold"/>
                <a:cs typeface="Arial" panose="020B0604020202020204" pitchFamily="34" charset="0"/>
                <a:sym typeface="Public Sans Bold"/>
              </a:rPr>
              <a:t>  </a:t>
            </a:r>
          </a:p>
          <a:p>
            <a:pPr algn="ctr">
              <a:lnSpc>
                <a:spcPts val="2183"/>
              </a:lnSpc>
            </a:pPr>
            <a:r>
              <a:rPr lang="ar-EG" sz="1819" b="1">
                <a:solidFill>
                  <a:srgbClr val="000000"/>
                </a:solidFill>
                <a:latin typeface="Arial" panose="020B0604020202020204" pitchFamily="34" charset="0"/>
                <a:ea typeface="Public Sans Bold"/>
                <a:cs typeface="Arial" panose="020B0604020202020204" pitchFamily="34" charset="0"/>
                <a:sym typeface="Public Sans Bold"/>
                <a:rtl/>
              </a:rPr>
              <a:t>قسم التصنيع</a:t>
            </a:r>
            <a:r>
              <a:rPr lang="en-US" sz="1819" b="1">
                <a:solidFill>
                  <a:srgbClr val="000000"/>
                </a:solidFill>
                <a:latin typeface="Arial" panose="020B0604020202020204" pitchFamily="34" charset="0"/>
                <a:ea typeface="Public Sans Bold"/>
                <a:cs typeface="Arial" panose="020B0604020202020204" pitchFamily="34" charset="0"/>
                <a:sym typeface="Public Sans Bold"/>
              </a:rPr>
              <a:t>  </a:t>
            </a:r>
          </a:p>
        </p:txBody>
      </p:sp>
      <p:sp>
        <p:nvSpPr>
          <p:cNvPr id="69" name="TextBox 69"/>
          <p:cNvSpPr txBox="1"/>
          <p:nvPr/>
        </p:nvSpPr>
        <p:spPr>
          <a:xfrm>
            <a:off x="5672388" y="4083699"/>
            <a:ext cx="1536136" cy="564257"/>
          </a:xfrm>
          <a:prstGeom prst="rect">
            <a:avLst/>
          </a:prstGeom>
        </p:spPr>
        <p:txBody>
          <a:bodyPr lIns="0" tIns="0" rIns="0" bIns="0" rtlCol="0" anchor="t">
            <a:spAutoFit/>
          </a:bodyPr>
          <a:lstStyle/>
          <a:p>
            <a:pPr algn="ctr">
              <a:lnSpc>
                <a:spcPts val="2183"/>
              </a:lnSpc>
            </a:pPr>
            <a:r>
              <a:rPr lang="ar-EG" sz="1819" b="1">
                <a:solidFill>
                  <a:srgbClr val="000000"/>
                </a:solidFill>
                <a:latin typeface="Arial" panose="020B0604020202020204" pitchFamily="34" charset="0"/>
                <a:ea typeface="Public Sans Bold"/>
                <a:cs typeface="Arial" panose="020B0604020202020204" pitchFamily="34" charset="0"/>
                <a:sym typeface="Public Sans Bold"/>
                <a:rtl/>
              </a:rPr>
              <a:t>التصميم</a:t>
            </a:r>
            <a:r>
              <a:rPr lang="en-US" sz="1819" b="1">
                <a:solidFill>
                  <a:srgbClr val="000000"/>
                </a:solidFill>
                <a:latin typeface="Arial" panose="020B0604020202020204" pitchFamily="34" charset="0"/>
                <a:ea typeface="Public Sans Bold"/>
                <a:cs typeface="Arial" panose="020B0604020202020204" pitchFamily="34" charset="0"/>
                <a:sym typeface="Public Sans Bold"/>
              </a:rPr>
              <a:t> </a:t>
            </a:r>
          </a:p>
          <a:p>
            <a:pPr algn="ctr">
              <a:lnSpc>
                <a:spcPts val="2183"/>
              </a:lnSpc>
            </a:pPr>
            <a:r>
              <a:rPr lang="en-US" sz="1819" b="1">
                <a:solidFill>
                  <a:srgbClr val="000000"/>
                </a:solidFill>
                <a:latin typeface="Arial" panose="020B0604020202020204" pitchFamily="34" charset="0"/>
                <a:ea typeface="Public Sans Bold"/>
                <a:cs typeface="Arial" panose="020B0604020202020204" pitchFamily="34" charset="0"/>
                <a:sym typeface="Public Sans Bold"/>
              </a:rPr>
              <a:t> </a:t>
            </a:r>
            <a:r>
              <a:rPr lang="ar-EG" sz="1819" b="1">
                <a:solidFill>
                  <a:srgbClr val="000000"/>
                </a:solidFill>
                <a:latin typeface="Arial" panose="020B0604020202020204" pitchFamily="34" charset="0"/>
                <a:ea typeface="Public Sans Bold"/>
                <a:cs typeface="Arial" panose="020B0604020202020204" pitchFamily="34" charset="0"/>
                <a:sym typeface="Public Sans Bold"/>
                <a:rtl/>
              </a:rPr>
              <a:t>قسم التصميم</a:t>
            </a:r>
          </a:p>
        </p:txBody>
      </p:sp>
      <p:sp>
        <p:nvSpPr>
          <p:cNvPr id="70" name="TextBox 70"/>
          <p:cNvSpPr txBox="1"/>
          <p:nvPr/>
        </p:nvSpPr>
        <p:spPr>
          <a:xfrm>
            <a:off x="13543908" y="4267668"/>
            <a:ext cx="1536136" cy="564257"/>
          </a:xfrm>
          <a:prstGeom prst="rect">
            <a:avLst/>
          </a:prstGeom>
        </p:spPr>
        <p:txBody>
          <a:bodyPr lIns="0" tIns="0" rIns="0" bIns="0" rtlCol="0" anchor="t">
            <a:spAutoFit/>
          </a:bodyPr>
          <a:lstStyle/>
          <a:p>
            <a:pPr algn="ctr">
              <a:lnSpc>
                <a:spcPts val="2183"/>
              </a:lnSpc>
            </a:pPr>
            <a:r>
              <a:rPr lang="ar-EG" sz="1819" b="1">
                <a:solidFill>
                  <a:srgbClr val="000000"/>
                </a:solidFill>
                <a:latin typeface="Arial" panose="020B0604020202020204" pitchFamily="34" charset="0"/>
                <a:ea typeface="Public Sans Bold"/>
                <a:cs typeface="Arial" panose="020B0604020202020204" pitchFamily="34" charset="0"/>
                <a:sym typeface="Public Sans Bold"/>
                <a:rtl/>
              </a:rPr>
              <a:t>التركيب</a:t>
            </a:r>
            <a:r>
              <a:rPr lang="en-US" sz="1819" b="1">
                <a:solidFill>
                  <a:srgbClr val="000000"/>
                </a:solidFill>
                <a:latin typeface="Arial" panose="020B0604020202020204" pitchFamily="34" charset="0"/>
                <a:ea typeface="Public Sans Bold"/>
                <a:cs typeface="Arial" panose="020B0604020202020204" pitchFamily="34" charset="0"/>
                <a:sym typeface="Public Sans Bold"/>
              </a:rPr>
              <a:t> </a:t>
            </a:r>
          </a:p>
          <a:p>
            <a:pPr algn="ctr">
              <a:lnSpc>
                <a:spcPts val="2183"/>
              </a:lnSpc>
            </a:pPr>
            <a:r>
              <a:rPr lang="en-US" sz="1819" b="1">
                <a:solidFill>
                  <a:srgbClr val="000000"/>
                </a:solidFill>
                <a:latin typeface="Arial" panose="020B0604020202020204" pitchFamily="34" charset="0"/>
                <a:ea typeface="Public Sans Bold"/>
                <a:cs typeface="Arial" panose="020B0604020202020204" pitchFamily="34" charset="0"/>
                <a:sym typeface="Public Sans Bold"/>
              </a:rPr>
              <a:t> </a:t>
            </a:r>
            <a:r>
              <a:rPr lang="ar-EG" sz="1819" b="1">
                <a:solidFill>
                  <a:srgbClr val="000000"/>
                </a:solidFill>
                <a:latin typeface="Arial" panose="020B0604020202020204" pitchFamily="34" charset="0"/>
                <a:ea typeface="Public Sans Bold"/>
                <a:cs typeface="Arial" panose="020B0604020202020204" pitchFamily="34" charset="0"/>
                <a:sym typeface="Public Sans Bold"/>
                <a:rtl/>
              </a:rPr>
              <a:t>قسم التركيب</a:t>
            </a:r>
            <a:r>
              <a:rPr lang="en-US" sz="1819" b="1">
                <a:solidFill>
                  <a:srgbClr val="000000"/>
                </a:solidFill>
                <a:latin typeface="Arial" panose="020B0604020202020204" pitchFamily="34" charset="0"/>
                <a:ea typeface="Public Sans Bold"/>
                <a:cs typeface="Arial" panose="020B0604020202020204" pitchFamily="34" charset="0"/>
                <a:sym typeface="Public Sans Bold"/>
              </a:rPr>
              <a:t>  </a:t>
            </a:r>
          </a:p>
        </p:txBody>
      </p:sp>
      <p:sp>
        <p:nvSpPr>
          <p:cNvPr id="71" name="TextBox 71"/>
          <p:cNvSpPr txBox="1"/>
          <p:nvPr/>
        </p:nvSpPr>
        <p:spPr>
          <a:xfrm>
            <a:off x="3074976" y="7690583"/>
            <a:ext cx="1536136" cy="564257"/>
          </a:xfrm>
          <a:prstGeom prst="rect">
            <a:avLst/>
          </a:prstGeom>
        </p:spPr>
        <p:txBody>
          <a:bodyPr lIns="0" tIns="0" rIns="0" bIns="0" rtlCol="0" anchor="t">
            <a:spAutoFit/>
          </a:bodyPr>
          <a:lstStyle/>
          <a:p>
            <a:pPr algn="ctr" rtl="1">
              <a:lnSpc>
                <a:spcPts val="2183"/>
              </a:lnSpc>
            </a:pPr>
            <a:r>
              <a:rPr lang="ar-EG" sz="1819" b="1">
                <a:solidFill>
                  <a:srgbClr val="000000"/>
                </a:solidFill>
                <a:latin typeface="Arial" panose="020B0604020202020204" pitchFamily="34" charset="0"/>
                <a:ea typeface="Public Sans Bold"/>
                <a:cs typeface="Arial" panose="020B0604020202020204" pitchFamily="34" charset="0"/>
                <a:sym typeface="Public Sans Bold"/>
                <a:rtl/>
              </a:rPr>
              <a:t>  رفع المقاسات</a:t>
            </a:r>
          </a:p>
          <a:p>
            <a:pPr algn="ctr" rtl="1">
              <a:lnSpc>
                <a:spcPts val="2183"/>
              </a:lnSpc>
            </a:pPr>
            <a:r>
              <a:rPr lang="ar-EG" sz="1819" b="1">
                <a:solidFill>
                  <a:srgbClr val="000000"/>
                </a:solidFill>
                <a:latin typeface="Arial" panose="020B0604020202020204" pitchFamily="34" charset="0"/>
                <a:ea typeface="Public Sans Bold"/>
                <a:cs typeface="Arial" panose="020B0604020202020204" pitchFamily="34" charset="0"/>
                <a:sym typeface="Public Sans Bold"/>
                <a:rtl/>
              </a:rPr>
              <a:t>قسم التركيب</a:t>
            </a:r>
          </a:p>
        </p:txBody>
      </p:sp>
      <p:sp>
        <p:nvSpPr>
          <p:cNvPr id="72" name="TextBox 72"/>
          <p:cNvSpPr txBox="1"/>
          <p:nvPr/>
        </p:nvSpPr>
        <p:spPr>
          <a:xfrm>
            <a:off x="10860496" y="2234129"/>
            <a:ext cx="1536136" cy="846386"/>
          </a:xfrm>
          <a:prstGeom prst="rect">
            <a:avLst/>
          </a:prstGeom>
        </p:spPr>
        <p:txBody>
          <a:bodyPr lIns="0" tIns="0" rIns="0" bIns="0" rtlCol="0" anchor="t">
            <a:spAutoFit/>
          </a:bodyPr>
          <a:lstStyle/>
          <a:p>
            <a:pPr algn="ctr">
              <a:lnSpc>
                <a:spcPts val="2183"/>
              </a:lnSpc>
            </a:pPr>
            <a:r>
              <a:rPr lang="ar-EG" sz="1819" b="1">
                <a:solidFill>
                  <a:srgbClr val="000000"/>
                </a:solidFill>
                <a:latin typeface="Arial" panose="020B0604020202020204" pitchFamily="34" charset="0"/>
                <a:ea typeface="Public Sans Bold"/>
                <a:cs typeface="Arial" panose="020B0604020202020204" pitchFamily="34" charset="0"/>
                <a:sym typeface="Public Sans Bold"/>
                <a:rtl/>
              </a:rPr>
              <a:t>التوصيل</a:t>
            </a:r>
            <a:r>
              <a:rPr lang="en-US" sz="1819" b="1">
                <a:solidFill>
                  <a:srgbClr val="000000"/>
                </a:solidFill>
                <a:latin typeface="Arial" panose="020B0604020202020204" pitchFamily="34" charset="0"/>
                <a:ea typeface="Public Sans Bold"/>
                <a:cs typeface="Arial" panose="020B0604020202020204" pitchFamily="34" charset="0"/>
                <a:sym typeface="Public Sans Bold"/>
              </a:rPr>
              <a:t> </a:t>
            </a:r>
          </a:p>
          <a:p>
            <a:pPr algn="ctr">
              <a:lnSpc>
                <a:spcPts val="2183"/>
              </a:lnSpc>
            </a:pPr>
            <a:r>
              <a:rPr lang="en-US" sz="1819" b="1">
                <a:solidFill>
                  <a:srgbClr val="000000"/>
                </a:solidFill>
                <a:latin typeface="Arial" panose="020B0604020202020204" pitchFamily="34" charset="0"/>
                <a:ea typeface="Public Sans Bold"/>
                <a:cs typeface="Arial" panose="020B0604020202020204" pitchFamily="34" charset="0"/>
                <a:sym typeface="Public Sans Bold"/>
              </a:rPr>
              <a:t> </a:t>
            </a:r>
            <a:r>
              <a:rPr lang="ar-EG" sz="1819" b="1">
                <a:solidFill>
                  <a:srgbClr val="000000"/>
                </a:solidFill>
                <a:latin typeface="Arial" panose="020B0604020202020204" pitchFamily="34" charset="0"/>
                <a:ea typeface="Public Sans Bold"/>
                <a:cs typeface="Arial" panose="020B0604020202020204" pitchFamily="34" charset="0"/>
                <a:sym typeface="Public Sans Bold"/>
                <a:rtl/>
              </a:rPr>
              <a:t>قسم التوصيل والمستودعات</a:t>
            </a:r>
          </a:p>
        </p:txBody>
      </p:sp>
      <p:grpSp>
        <p:nvGrpSpPr>
          <p:cNvPr id="76" name="Group 76"/>
          <p:cNvGrpSpPr/>
          <p:nvPr/>
        </p:nvGrpSpPr>
        <p:grpSpPr>
          <a:xfrm>
            <a:off x="9845452" y="7907357"/>
            <a:ext cx="8216607" cy="1455743"/>
            <a:chOff x="-223647" y="170472"/>
            <a:chExt cx="10955475" cy="1940991"/>
          </a:xfrm>
        </p:grpSpPr>
        <p:sp>
          <p:nvSpPr>
            <p:cNvPr id="77" name="TextBox 77"/>
            <p:cNvSpPr txBox="1"/>
            <p:nvPr/>
          </p:nvSpPr>
          <p:spPr>
            <a:xfrm>
              <a:off x="-163662" y="170472"/>
              <a:ext cx="10895490" cy="770809"/>
            </a:xfrm>
            <a:prstGeom prst="rect">
              <a:avLst/>
            </a:prstGeom>
          </p:spPr>
          <p:txBody>
            <a:bodyPr lIns="0" tIns="0" rIns="0" bIns="0" rtlCol="0" anchor="t">
              <a:spAutoFit/>
            </a:bodyPr>
            <a:lstStyle/>
            <a:p>
              <a:pPr algn="r" rtl="1">
                <a:lnSpc>
                  <a:spcPts val="4787"/>
                </a:lnSpc>
              </a:pPr>
              <a:r>
                <a:rPr lang="ar-EG" sz="3989" b="1">
                  <a:solidFill>
                    <a:srgbClr val="000000"/>
                  </a:solidFill>
                  <a:latin typeface="Arial" panose="020B0604020202020204" pitchFamily="34" charset="0"/>
                  <a:ea typeface="Public Sans Ultra-Bold"/>
                  <a:cs typeface="Arial" panose="020B0604020202020204" pitchFamily="34" charset="0"/>
                  <a:sym typeface="Public Sans Ultra-Bold"/>
                  <a:rtl/>
                </a:rPr>
                <a:t> رحلة الخدمة الجديدة</a:t>
              </a:r>
            </a:p>
          </p:txBody>
        </p:sp>
        <p:sp>
          <p:nvSpPr>
            <p:cNvPr id="78" name="TextBox 78"/>
            <p:cNvSpPr txBox="1"/>
            <p:nvPr/>
          </p:nvSpPr>
          <p:spPr>
            <a:xfrm>
              <a:off x="-223647" y="1720587"/>
              <a:ext cx="10895490" cy="390876"/>
            </a:xfrm>
            <a:prstGeom prst="rect">
              <a:avLst/>
            </a:prstGeom>
          </p:spPr>
          <p:txBody>
            <a:bodyPr lIns="0" tIns="0" rIns="0" bIns="0" rtlCol="0" anchor="t">
              <a:spAutoFit/>
            </a:bodyPr>
            <a:lstStyle/>
            <a:p>
              <a:pPr algn="r" rtl="1">
                <a:lnSpc>
                  <a:spcPts val="2526"/>
                </a:lnSpc>
                <a:spcBef>
                  <a:spcPct val="0"/>
                </a:spcBef>
              </a:pPr>
              <a:r>
                <a:rPr lang="ar-EG" sz="1804">
                  <a:solidFill>
                    <a:srgbClr val="1E1E1E"/>
                  </a:solidFill>
                  <a:latin typeface="Arial" panose="020B0604020202020204" pitchFamily="34" charset="0"/>
                  <a:ea typeface="Public Sans"/>
                  <a:cs typeface="Arial" panose="020B0604020202020204" pitchFamily="34" charset="0"/>
                  <a:sym typeface="Public Sans"/>
                  <a:rtl/>
                </a:rPr>
                <a:t>رحلة مترابطة تبدأ من الفاتورة وتنتقل بين الخدمات حسب احتياج العميل حتى إتمام الخدمة وتقييم التجرب</a:t>
              </a:r>
              <a:r>
                <a:rPr lang="ar-SY" sz="1804">
                  <a:solidFill>
                    <a:srgbClr val="1E1E1E"/>
                  </a:solidFill>
                  <a:latin typeface="Arial" panose="020B0604020202020204" pitchFamily="34" charset="0"/>
                  <a:ea typeface="Public Sans"/>
                  <a:cs typeface="Arial" panose="020B0604020202020204" pitchFamily="34" charset="0"/>
                  <a:sym typeface="Public Sans"/>
                  <a:rtl/>
                </a:rPr>
                <a:t>ة</a:t>
              </a:r>
              <a:endParaRPr lang="ar-EG" sz="1804">
                <a:solidFill>
                  <a:srgbClr val="1E1E1E"/>
                </a:solidFill>
                <a:latin typeface="Arial" panose="020B0604020202020204" pitchFamily="34" charset="0"/>
                <a:ea typeface="Public Sans"/>
                <a:cs typeface="Arial" panose="020B0604020202020204" pitchFamily="34" charset="0"/>
                <a:sym typeface="Public Sans"/>
                <a:rtl/>
              </a:endParaRPr>
            </a:p>
          </p:txBody>
        </p:sp>
      </p:grpSp>
      <p:grpSp>
        <p:nvGrpSpPr>
          <p:cNvPr id="79" name="Group 79"/>
          <p:cNvGrpSpPr/>
          <p:nvPr/>
        </p:nvGrpSpPr>
        <p:grpSpPr>
          <a:xfrm>
            <a:off x="15855523" y="458091"/>
            <a:ext cx="2145026" cy="1310525"/>
            <a:chOff x="0" y="0"/>
            <a:chExt cx="598252" cy="365508"/>
          </a:xfrm>
        </p:grpSpPr>
        <p:sp>
          <p:nvSpPr>
            <p:cNvPr id="80" name="Freeform 80"/>
            <p:cNvSpPr/>
            <p:nvPr/>
          </p:nvSpPr>
          <p:spPr>
            <a:xfrm>
              <a:off x="0" y="0"/>
              <a:ext cx="598252" cy="365508"/>
            </a:xfrm>
            <a:custGeom>
              <a:avLst/>
              <a:gdLst/>
              <a:ahLst/>
              <a:cxnLst/>
              <a:rect l="l" t="t" r="r" b="b"/>
              <a:pathLst>
                <a:path w="598252" h="365508">
                  <a:moveTo>
                    <a:pt x="86622" y="0"/>
                  </a:moveTo>
                  <a:lnTo>
                    <a:pt x="511630" y="0"/>
                  </a:lnTo>
                  <a:cubicBezTo>
                    <a:pt x="534604" y="0"/>
                    <a:pt x="556636" y="9126"/>
                    <a:pt x="572881" y="25371"/>
                  </a:cubicBezTo>
                  <a:cubicBezTo>
                    <a:pt x="589126" y="41616"/>
                    <a:pt x="598252" y="63648"/>
                    <a:pt x="598252" y="86622"/>
                  </a:cubicBezTo>
                  <a:lnTo>
                    <a:pt x="598252" y="278886"/>
                  </a:lnTo>
                  <a:cubicBezTo>
                    <a:pt x="598252" y="301860"/>
                    <a:pt x="589126" y="323892"/>
                    <a:pt x="572881" y="340137"/>
                  </a:cubicBezTo>
                  <a:cubicBezTo>
                    <a:pt x="556636" y="356382"/>
                    <a:pt x="534604" y="365508"/>
                    <a:pt x="511630" y="365508"/>
                  </a:cubicBezTo>
                  <a:lnTo>
                    <a:pt x="86622" y="365508"/>
                  </a:lnTo>
                  <a:cubicBezTo>
                    <a:pt x="63648" y="365508"/>
                    <a:pt x="41616" y="356382"/>
                    <a:pt x="25371" y="340137"/>
                  </a:cubicBezTo>
                  <a:cubicBezTo>
                    <a:pt x="9126" y="323892"/>
                    <a:pt x="0" y="301860"/>
                    <a:pt x="0" y="278886"/>
                  </a:cubicBezTo>
                  <a:lnTo>
                    <a:pt x="0" y="86622"/>
                  </a:lnTo>
                  <a:cubicBezTo>
                    <a:pt x="0" y="63648"/>
                    <a:pt x="9126" y="41616"/>
                    <a:pt x="25371" y="25371"/>
                  </a:cubicBezTo>
                  <a:cubicBezTo>
                    <a:pt x="41616" y="9126"/>
                    <a:pt x="63648" y="0"/>
                    <a:pt x="86622" y="0"/>
                  </a:cubicBezTo>
                  <a:close/>
                </a:path>
              </a:pathLst>
            </a:custGeom>
            <a:solidFill>
              <a:srgbClr val="E0E0E0"/>
            </a:solidFill>
            <a:ln cap="rnd">
              <a:noFill/>
              <a:prstDash val="solid"/>
              <a:round/>
            </a:ln>
          </p:spPr>
        </p:sp>
        <p:sp>
          <p:nvSpPr>
            <p:cNvPr id="81" name="TextBox 81"/>
            <p:cNvSpPr txBox="1"/>
            <p:nvPr/>
          </p:nvSpPr>
          <p:spPr>
            <a:xfrm>
              <a:off x="0" y="-9525"/>
              <a:ext cx="598252" cy="375033"/>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82" name="Group 82"/>
          <p:cNvGrpSpPr/>
          <p:nvPr/>
        </p:nvGrpSpPr>
        <p:grpSpPr>
          <a:xfrm>
            <a:off x="15855820" y="1446493"/>
            <a:ext cx="2144433" cy="2280178"/>
            <a:chOff x="0" y="0"/>
            <a:chExt cx="434313" cy="461805"/>
          </a:xfrm>
        </p:grpSpPr>
        <p:sp>
          <p:nvSpPr>
            <p:cNvPr id="83" name="Freeform 83"/>
            <p:cNvSpPr/>
            <p:nvPr/>
          </p:nvSpPr>
          <p:spPr>
            <a:xfrm>
              <a:off x="0" y="0"/>
              <a:ext cx="434313" cy="461805"/>
            </a:xfrm>
            <a:custGeom>
              <a:avLst/>
              <a:gdLst/>
              <a:ahLst/>
              <a:cxnLst/>
              <a:rect l="l" t="t" r="r" b="b"/>
              <a:pathLst>
                <a:path w="434313" h="461805">
                  <a:moveTo>
                    <a:pt x="61374" y="0"/>
                  </a:moveTo>
                  <a:lnTo>
                    <a:pt x="372939" y="0"/>
                  </a:lnTo>
                  <a:cubicBezTo>
                    <a:pt x="406835" y="0"/>
                    <a:pt x="434313" y="27478"/>
                    <a:pt x="434313" y="61374"/>
                  </a:cubicBezTo>
                  <a:lnTo>
                    <a:pt x="434313" y="400431"/>
                  </a:lnTo>
                  <a:cubicBezTo>
                    <a:pt x="434313" y="434327"/>
                    <a:pt x="406835" y="461805"/>
                    <a:pt x="372939" y="461805"/>
                  </a:cubicBezTo>
                  <a:lnTo>
                    <a:pt x="61374" y="461805"/>
                  </a:lnTo>
                  <a:cubicBezTo>
                    <a:pt x="27478" y="461805"/>
                    <a:pt x="0" y="434327"/>
                    <a:pt x="0" y="400431"/>
                  </a:cubicBezTo>
                  <a:lnTo>
                    <a:pt x="0" y="61374"/>
                  </a:lnTo>
                  <a:cubicBezTo>
                    <a:pt x="0" y="27478"/>
                    <a:pt x="27478" y="0"/>
                    <a:pt x="61374" y="0"/>
                  </a:cubicBezTo>
                  <a:close/>
                </a:path>
              </a:pathLst>
            </a:custGeom>
            <a:solidFill>
              <a:srgbClr val="FFFFFF"/>
            </a:solidFill>
            <a:ln w="28575" cap="sq">
              <a:solidFill>
                <a:srgbClr val="1960BD"/>
              </a:solidFill>
              <a:prstDash val="solid"/>
              <a:miter/>
            </a:ln>
          </p:spPr>
        </p:sp>
        <p:sp>
          <p:nvSpPr>
            <p:cNvPr id="84" name="TextBox 84"/>
            <p:cNvSpPr txBox="1"/>
            <p:nvPr/>
          </p:nvSpPr>
          <p:spPr>
            <a:xfrm>
              <a:off x="0" y="-19050"/>
              <a:ext cx="434313" cy="480855"/>
            </a:xfrm>
            <a:prstGeom prst="rect">
              <a:avLst/>
            </a:prstGeom>
          </p:spPr>
          <p:txBody>
            <a:bodyPr lIns="50800" tIns="50800" rIns="50800" bIns="50800" rtlCol="0" anchor="ctr"/>
            <a:lstStyle/>
            <a:p>
              <a:pPr algn="ctr">
                <a:lnSpc>
                  <a:spcPts val="2239"/>
                </a:lnSpc>
              </a:pPr>
              <a:endParaRPr/>
            </a:p>
          </p:txBody>
        </p:sp>
      </p:grpSp>
      <p:sp>
        <p:nvSpPr>
          <p:cNvPr id="89" name="TextBox 89"/>
          <p:cNvSpPr txBox="1"/>
          <p:nvPr/>
        </p:nvSpPr>
        <p:spPr>
          <a:xfrm>
            <a:off x="16159968" y="813280"/>
            <a:ext cx="1536136" cy="564257"/>
          </a:xfrm>
          <a:prstGeom prst="rect">
            <a:avLst/>
          </a:prstGeom>
        </p:spPr>
        <p:txBody>
          <a:bodyPr lIns="0" tIns="0" rIns="0" bIns="0" rtlCol="0" anchor="t">
            <a:spAutoFit/>
          </a:bodyPr>
          <a:lstStyle/>
          <a:p>
            <a:pPr algn="ctr">
              <a:lnSpc>
                <a:spcPts val="2183"/>
              </a:lnSpc>
            </a:pPr>
            <a:r>
              <a:rPr lang="ar-EG" sz="1819" b="1" dirty="0">
                <a:solidFill>
                  <a:srgbClr val="000000"/>
                </a:solidFill>
                <a:latin typeface="Arial" panose="020B0604020202020204" pitchFamily="34" charset="0"/>
                <a:ea typeface="Public Sans Bold"/>
                <a:cs typeface="Arial" panose="020B0604020202020204" pitchFamily="34" charset="0"/>
                <a:sym typeface="Public Sans Bold"/>
                <a:rtl/>
              </a:rPr>
              <a:t>تقييم العميل</a:t>
            </a:r>
            <a:endParaRPr lang="en-US" sz="1819" b="1" dirty="0">
              <a:solidFill>
                <a:srgbClr val="000000"/>
              </a:solidFill>
              <a:latin typeface="Arial" panose="020B0604020202020204" pitchFamily="34" charset="0"/>
              <a:ea typeface="Public Sans Bold"/>
              <a:cs typeface="Arial" panose="020B0604020202020204" pitchFamily="34" charset="0"/>
              <a:sym typeface="Public Sans Bold"/>
              <a:rtl/>
            </a:endParaRPr>
          </a:p>
          <a:p>
            <a:pPr algn="ctr">
              <a:lnSpc>
                <a:spcPts val="2183"/>
              </a:lnSpc>
            </a:pPr>
            <a:r>
              <a:rPr lang="ar-SY" sz="1819" b="1" dirty="0">
                <a:solidFill>
                  <a:srgbClr val="000000"/>
                </a:solidFill>
                <a:latin typeface="Arial" panose="020B0604020202020204" pitchFamily="34" charset="0"/>
                <a:ea typeface="Public Sans Bold"/>
                <a:cs typeface="Arial" panose="020B0604020202020204" pitchFamily="34" charset="0"/>
                <a:sym typeface="Public Sans Bold"/>
                <a:rtl/>
              </a:rPr>
              <a:t>خدمة العملاء</a:t>
            </a:r>
            <a:endParaRPr lang="ar-EG" sz="1819" b="1" dirty="0">
              <a:solidFill>
                <a:srgbClr val="000000"/>
              </a:solidFill>
              <a:latin typeface="Arial" panose="020B0604020202020204" pitchFamily="34" charset="0"/>
              <a:ea typeface="Public Sans Bold"/>
              <a:cs typeface="Arial" panose="020B0604020202020204" pitchFamily="34" charset="0"/>
              <a:sym typeface="Public Sans Bold"/>
              <a:rtl/>
            </a:endParaRPr>
          </a:p>
        </p:txBody>
      </p:sp>
      <p:sp>
        <p:nvSpPr>
          <p:cNvPr id="90" name="TextBox 90"/>
          <p:cNvSpPr txBox="1"/>
          <p:nvPr/>
        </p:nvSpPr>
        <p:spPr>
          <a:xfrm>
            <a:off x="16184292" y="1953142"/>
            <a:ext cx="1628602" cy="695325"/>
          </a:xfrm>
          <a:prstGeom prst="rect">
            <a:avLst/>
          </a:prstGeom>
        </p:spPr>
        <p:txBody>
          <a:bodyPr lIns="0" tIns="0" rIns="0" bIns="0" rtlCol="0" anchor="t">
            <a:spAutoFit/>
          </a:bodyPr>
          <a:lstStyle/>
          <a:p>
            <a:pPr algn="ctr" rtl="1">
              <a:lnSpc>
                <a:spcPts val="1823"/>
              </a:lnSpc>
            </a:pPr>
            <a:r>
              <a:rPr lang="ar-EG" sz="1519">
                <a:solidFill>
                  <a:srgbClr val="737373"/>
                </a:solidFill>
                <a:latin typeface="Arial" panose="020B0604020202020204" pitchFamily="34" charset="0"/>
                <a:ea typeface="Public Sans"/>
                <a:cs typeface="Arial" panose="020B0604020202020204" pitchFamily="34" charset="0"/>
                <a:sym typeface="Public Sans"/>
                <a:rtl/>
              </a:rPr>
              <a:t>توثيق تجربة العميل وقياس مستوى رضاه بعد اكتمال الخدمة.</a:t>
            </a:r>
          </a:p>
        </p:txBody>
      </p:sp>
      <p:grpSp>
        <p:nvGrpSpPr>
          <p:cNvPr id="103" name="Group 55"/>
          <p:cNvGrpSpPr/>
          <p:nvPr/>
        </p:nvGrpSpPr>
        <p:grpSpPr>
          <a:xfrm rot="-5400000">
            <a:off x="7619937" y="7412572"/>
            <a:ext cx="345126" cy="301986"/>
            <a:chOff x="0" y="0"/>
            <a:chExt cx="812800" cy="711200"/>
          </a:xfrm>
        </p:grpSpPr>
        <p:sp>
          <p:nvSpPr>
            <p:cNvPr id="104" name="Freeform 5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004369"/>
            </a:solidFill>
          </p:spPr>
        </p:sp>
        <p:sp>
          <p:nvSpPr>
            <p:cNvPr id="105" name="TextBox 57"/>
            <p:cNvSpPr txBox="1"/>
            <p:nvPr/>
          </p:nvSpPr>
          <p:spPr>
            <a:xfrm>
              <a:off x="127000" y="41275"/>
              <a:ext cx="558800" cy="339725"/>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110" name="Group 55"/>
          <p:cNvGrpSpPr/>
          <p:nvPr/>
        </p:nvGrpSpPr>
        <p:grpSpPr>
          <a:xfrm rot="-5400000">
            <a:off x="9566885" y="2295159"/>
            <a:ext cx="345126" cy="301986"/>
            <a:chOff x="0" y="0"/>
            <a:chExt cx="812800" cy="711200"/>
          </a:xfrm>
        </p:grpSpPr>
        <p:sp>
          <p:nvSpPr>
            <p:cNvPr id="111" name="Freeform 5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004369"/>
            </a:solidFill>
          </p:spPr>
        </p:sp>
        <p:sp>
          <p:nvSpPr>
            <p:cNvPr id="112" name="TextBox 57"/>
            <p:cNvSpPr txBox="1"/>
            <p:nvPr/>
          </p:nvSpPr>
          <p:spPr>
            <a:xfrm>
              <a:off x="127000" y="41275"/>
              <a:ext cx="558800" cy="339725"/>
            </a:xfrm>
            <a:prstGeom prst="rect">
              <a:avLst/>
            </a:prstGeom>
          </p:spPr>
          <p:txBody>
            <a:bodyPr lIns="50800" tIns="50800" rIns="50800" bIns="50800" rtlCol="0" anchor="ctr"/>
            <a:lstStyle/>
            <a:p>
              <a:pPr marL="0" lvl="0" indent="0" algn="ctr">
                <a:lnSpc>
                  <a:spcPts val="1919"/>
                </a:lnSpc>
                <a:spcBef>
                  <a:spcPct val="0"/>
                </a:spcBef>
              </a:pPr>
              <a:endParaRPr/>
            </a:p>
          </p:txBody>
        </p:sp>
      </p:grpSp>
      <p:sp>
        <p:nvSpPr>
          <p:cNvPr id="113" name="Freeform 44"/>
          <p:cNvSpPr/>
          <p:nvPr/>
        </p:nvSpPr>
        <p:spPr>
          <a:xfrm>
            <a:off x="11673654" y="5079465"/>
            <a:ext cx="2592935" cy="820840"/>
          </a:xfrm>
          <a:custGeom>
            <a:avLst/>
            <a:gdLst/>
            <a:ahLst/>
            <a:cxnLst/>
            <a:rect l="l" t="t" r="r" b="b"/>
            <a:pathLst>
              <a:path w="2592935" h="820840">
                <a:moveTo>
                  <a:pt x="0" y="386549"/>
                </a:moveTo>
                <a:lnTo>
                  <a:pt x="0" y="603695"/>
                </a:lnTo>
                <a:cubicBezTo>
                  <a:pt x="0" y="723621"/>
                  <a:pt x="97219" y="820840"/>
                  <a:pt x="217145" y="820840"/>
                </a:cubicBezTo>
                <a:lnTo>
                  <a:pt x="2373860" y="820840"/>
                </a:lnTo>
                <a:cubicBezTo>
                  <a:pt x="2494852" y="820840"/>
                  <a:pt x="2592935" y="722757"/>
                  <a:pt x="2592935" y="601765"/>
                </a:cubicBezTo>
                <a:lnTo>
                  <a:pt x="2592935" y="0"/>
                </a:lnTo>
              </a:path>
            </a:pathLst>
          </a:custGeom>
          <a:ln w="38100" cap="rnd">
            <a:solidFill>
              <a:srgbClr val="1960BD"/>
            </a:solidFill>
            <a:prstDash val="sysDot"/>
            <a:headEnd type="none" w="sm" len="sm"/>
            <a:tailEnd type="none" w="sm" len="sm"/>
          </a:ln>
        </p:spPr>
        <p:txBody>
          <a:bodyPr/>
          <a:lstStyle/>
          <a:p>
            <a:endParaRPr/>
          </a:p>
        </p:txBody>
      </p:sp>
      <p:grpSp>
        <p:nvGrpSpPr>
          <p:cNvPr id="114" name="Group 55"/>
          <p:cNvGrpSpPr/>
          <p:nvPr/>
        </p:nvGrpSpPr>
        <p:grpSpPr>
          <a:xfrm rot="-5400000">
            <a:off x="12871412" y="5749312"/>
            <a:ext cx="345126" cy="301986"/>
            <a:chOff x="0" y="0"/>
            <a:chExt cx="812800" cy="711200"/>
          </a:xfrm>
        </p:grpSpPr>
        <p:sp>
          <p:nvSpPr>
            <p:cNvPr id="115" name="Freeform 5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004369"/>
            </a:solidFill>
          </p:spPr>
        </p:sp>
        <p:sp>
          <p:nvSpPr>
            <p:cNvPr id="116" name="TextBox 57"/>
            <p:cNvSpPr txBox="1"/>
            <p:nvPr/>
          </p:nvSpPr>
          <p:spPr>
            <a:xfrm>
              <a:off x="127000" y="41275"/>
              <a:ext cx="558800" cy="339725"/>
            </a:xfrm>
            <a:prstGeom prst="rect">
              <a:avLst/>
            </a:prstGeom>
          </p:spPr>
          <p:txBody>
            <a:bodyPr lIns="50800" tIns="50800" rIns="50800" bIns="50800" rtlCol="0" anchor="ctr"/>
            <a:lstStyle/>
            <a:p>
              <a:pPr marL="0" lvl="0" indent="0" algn="ctr">
                <a:lnSpc>
                  <a:spcPts val="1919"/>
                </a:lnSpc>
                <a:spcBef>
                  <a:spcPct val="0"/>
                </a:spcBef>
              </a:pPr>
              <a:endParaRPr/>
            </a:p>
          </p:txBody>
        </p:sp>
      </p:grpSp>
      <p:grpSp>
        <p:nvGrpSpPr>
          <p:cNvPr id="118" name="Group 55"/>
          <p:cNvGrpSpPr/>
          <p:nvPr/>
        </p:nvGrpSpPr>
        <p:grpSpPr>
          <a:xfrm rot="-5400000">
            <a:off x="14953714" y="702026"/>
            <a:ext cx="345126" cy="301986"/>
            <a:chOff x="0" y="0"/>
            <a:chExt cx="812800" cy="711200"/>
          </a:xfrm>
        </p:grpSpPr>
        <p:sp>
          <p:nvSpPr>
            <p:cNvPr id="119" name="Freeform 5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004369"/>
            </a:solidFill>
          </p:spPr>
        </p:sp>
        <p:sp>
          <p:nvSpPr>
            <p:cNvPr id="120" name="TextBox 57"/>
            <p:cNvSpPr txBox="1"/>
            <p:nvPr/>
          </p:nvSpPr>
          <p:spPr>
            <a:xfrm>
              <a:off x="127000" y="41275"/>
              <a:ext cx="558800" cy="339725"/>
            </a:xfrm>
            <a:prstGeom prst="rect">
              <a:avLst/>
            </a:prstGeom>
          </p:spPr>
          <p:txBody>
            <a:bodyPr lIns="50800" tIns="50800" rIns="50800" bIns="50800" rtlCol="0" anchor="ctr"/>
            <a:lstStyle/>
            <a:p>
              <a:pPr marL="0" lvl="0" indent="0" algn="ctr">
                <a:lnSpc>
                  <a:spcPts val="1919"/>
                </a:lnSpc>
                <a:spcBef>
                  <a:spcPct val="0"/>
                </a:spcBef>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18287543"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 name="TextBox 2"/>
          <p:cNvSpPr txBox="1"/>
          <p:nvPr/>
        </p:nvSpPr>
        <p:spPr>
          <a:xfrm>
            <a:off x="5726034" y="380701"/>
            <a:ext cx="2675411" cy="692497"/>
          </a:xfrm>
          <a:prstGeom prst="rect">
            <a:avLst/>
          </a:prstGeom>
          <a:noFill/>
        </p:spPr>
        <p:txBody>
          <a:bodyPr wrap="none" lIns="0" tIns="0" rIns="0" bIns="0" anchor="ctr">
            <a:spAutoFit/>
          </a:bodyPr>
          <a:lstStyle/>
          <a:p>
            <a:pPr algn="ctr" rtl="1">
              <a:lnSpc>
                <a:spcPct val="100000"/>
              </a:lnSpc>
            </a:pPr>
            <a:r>
              <a:rPr sz="4500" b="1">
                <a:solidFill>
                  <a:srgbClr val="1960BD"/>
                </a:solidFill>
                <a:latin typeface="Arial" panose="020B0604020202020204" pitchFamily="34" charset="0"/>
              </a:rPr>
              <a:t>خدمة التوصيل</a:t>
            </a:r>
          </a:p>
        </p:txBody>
      </p:sp>
      <p:sp>
        <p:nvSpPr>
          <p:cNvPr id="4" name="Rounded Rectangle 3"/>
          <p:cNvSpPr/>
          <p:nvPr/>
        </p:nvSpPr>
        <p:spPr>
          <a:xfrm>
            <a:off x="3360420" y="1261872"/>
            <a:ext cx="7406640" cy="603504"/>
          </a:xfrm>
          <a:prstGeom prst="roundRect">
            <a:avLst>
              <a:gd name="adj" fmla="val 50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 name="TextBox 4"/>
          <p:cNvSpPr txBox="1"/>
          <p:nvPr/>
        </p:nvSpPr>
        <p:spPr>
          <a:xfrm>
            <a:off x="5262766" y="1419353"/>
            <a:ext cx="3601948" cy="288541"/>
          </a:xfrm>
          <a:prstGeom prst="rect">
            <a:avLst/>
          </a:prstGeom>
          <a:noFill/>
        </p:spPr>
        <p:txBody>
          <a:bodyPr wrap="none" lIns="0" tIns="0" rIns="0" bIns="0" anchor="ctr">
            <a:spAutoFit/>
          </a:bodyPr>
          <a:lstStyle/>
          <a:p>
            <a:pPr algn="ctr" rtl="1">
              <a:lnSpc>
                <a:spcPct val="100000"/>
              </a:lnSpc>
            </a:pPr>
            <a:r>
              <a:rPr sz="1875" b="1">
                <a:solidFill>
                  <a:srgbClr val="000000"/>
                </a:solidFill>
                <a:latin typeface="Arial" panose="020B0604020202020204" pitchFamily="34" charset="0"/>
              </a:rPr>
              <a:t>الجهة المسؤولة: إدارة المستودعات / التوصيل</a:t>
            </a:r>
          </a:p>
        </p:txBody>
      </p:sp>
      <p:pic>
        <p:nvPicPr>
          <p:cNvPr id="6" name="Picture 5" descr="3.jpg"/>
          <p:cNvPicPr>
            <a:picLocks noChangeAspect="1"/>
          </p:cNvPicPr>
          <p:nvPr/>
        </p:nvPicPr>
        <p:blipFill>
          <a:blip r:embed="rId2"/>
          <a:srcRect/>
          <a:stretch>
            <a:fillRect/>
          </a:stretch>
        </p:blipFill>
        <p:spPr>
          <a:xfrm>
            <a:off x="15670530" y="171450"/>
            <a:ext cx="1988820" cy="1988820"/>
          </a:xfrm>
          <a:prstGeom prst="ellipse">
            <a:avLst/>
          </a:prstGeom>
        </p:spPr>
      </p:pic>
      <p:sp>
        <p:nvSpPr>
          <p:cNvPr id="7" name="Oval 6"/>
          <p:cNvSpPr/>
          <p:nvPr/>
        </p:nvSpPr>
        <p:spPr>
          <a:xfrm>
            <a:off x="15670530" y="171450"/>
            <a:ext cx="1988820" cy="1988820"/>
          </a:xfrm>
          <a:prstGeom prst="ellipse">
            <a:avLst/>
          </a:prstGeom>
          <a:noFill/>
          <a:ln w="381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9" name="TextBox 48"/>
          <p:cNvSpPr txBox="1"/>
          <p:nvPr/>
        </p:nvSpPr>
        <p:spPr>
          <a:xfrm>
            <a:off x="480060" y="4775507"/>
            <a:ext cx="17323308" cy="461665"/>
          </a:xfrm>
          <a:prstGeom prst="rect">
            <a:avLst/>
          </a:prstGeom>
          <a:noFill/>
        </p:spPr>
        <p:txBody>
          <a:bodyPr wrap="square" lIns="0" tIns="0" rIns="0" bIns="0" anchor="ctr">
            <a:spAutoFit/>
          </a:bodyPr>
          <a:lstStyle/>
          <a:p>
            <a:pPr algn="ctr" rtl="1">
              <a:lnSpc>
                <a:spcPct val="100000"/>
              </a:lnSpc>
            </a:pPr>
            <a:r>
              <a:rPr sz="3000" b="1">
                <a:solidFill>
                  <a:srgbClr val="1960BD"/>
                </a:solidFill>
                <a:latin typeface="Arial" panose="020B0604020202020204" pitchFamily="34" charset="0"/>
              </a:rPr>
              <a:t>ملخص الدورة</a:t>
            </a:r>
          </a:p>
        </p:txBody>
      </p:sp>
      <p:sp>
        <p:nvSpPr>
          <p:cNvPr id="50" name="Rounded Rectangle 49"/>
          <p:cNvSpPr/>
          <p:nvPr/>
        </p:nvSpPr>
        <p:spPr>
          <a:xfrm>
            <a:off x="13657707"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1" name="Oval 50"/>
          <p:cNvSpPr/>
          <p:nvPr/>
        </p:nvSpPr>
        <p:spPr>
          <a:xfrm>
            <a:off x="17035272"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2" name="TextBox 51"/>
          <p:cNvSpPr txBox="1"/>
          <p:nvPr/>
        </p:nvSpPr>
        <p:spPr>
          <a:xfrm>
            <a:off x="17181352"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00</a:t>
            </a:r>
          </a:p>
        </p:txBody>
      </p:sp>
      <p:sp>
        <p:nvSpPr>
          <p:cNvPr id="53" name="TextBox 52"/>
          <p:cNvSpPr txBox="1"/>
          <p:nvPr/>
        </p:nvSpPr>
        <p:spPr>
          <a:xfrm>
            <a:off x="13877163" y="6419088"/>
            <a:ext cx="3706749"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وصول فاتورة من SAP تحتوي على خدمة التوصيل.</a:t>
            </a:r>
          </a:p>
        </p:txBody>
      </p:sp>
      <p:sp>
        <p:nvSpPr>
          <p:cNvPr id="54" name="Rounded Rectangle 53"/>
          <p:cNvSpPr/>
          <p:nvPr/>
        </p:nvSpPr>
        <p:spPr>
          <a:xfrm>
            <a:off x="13794867" y="6967728"/>
            <a:ext cx="3871341"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5" name="TextBox 54"/>
          <p:cNvSpPr txBox="1"/>
          <p:nvPr/>
        </p:nvSpPr>
        <p:spPr>
          <a:xfrm>
            <a:off x="13877163" y="7115090"/>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آلي من خلال النظام</a:t>
            </a:r>
          </a:p>
        </p:txBody>
      </p:sp>
      <p:sp>
        <p:nvSpPr>
          <p:cNvPr id="56" name="Rounded Rectangle 55"/>
          <p:cNvSpPr/>
          <p:nvPr/>
        </p:nvSpPr>
        <p:spPr>
          <a:xfrm>
            <a:off x="9265158"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7" name="Oval 56"/>
          <p:cNvSpPr/>
          <p:nvPr/>
        </p:nvSpPr>
        <p:spPr>
          <a:xfrm>
            <a:off x="12642723"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8" name="TextBox 57"/>
          <p:cNvSpPr txBox="1"/>
          <p:nvPr/>
        </p:nvSpPr>
        <p:spPr>
          <a:xfrm>
            <a:off x="12788803"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01</a:t>
            </a:r>
          </a:p>
        </p:txBody>
      </p:sp>
      <p:sp>
        <p:nvSpPr>
          <p:cNvPr id="59" name="TextBox 58"/>
          <p:cNvSpPr txBox="1"/>
          <p:nvPr/>
        </p:nvSpPr>
        <p:spPr>
          <a:xfrm>
            <a:off x="9484614" y="6419088"/>
            <a:ext cx="3706749"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إنشاء طلب التوصيل داخل نظام خدمات ما بعد البيع.</a:t>
            </a:r>
          </a:p>
        </p:txBody>
      </p:sp>
      <p:sp>
        <p:nvSpPr>
          <p:cNvPr id="60" name="Rounded Rectangle 59"/>
          <p:cNvSpPr/>
          <p:nvPr/>
        </p:nvSpPr>
        <p:spPr>
          <a:xfrm>
            <a:off x="9402318" y="6967728"/>
            <a:ext cx="3871341"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1" name="TextBox 60"/>
          <p:cNvSpPr txBox="1"/>
          <p:nvPr/>
        </p:nvSpPr>
        <p:spPr>
          <a:xfrm>
            <a:off x="9484614" y="7115090"/>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آلي من خلال النظام</a:t>
            </a:r>
          </a:p>
        </p:txBody>
      </p:sp>
      <p:sp>
        <p:nvSpPr>
          <p:cNvPr id="62" name="Rounded Rectangle 61"/>
          <p:cNvSpPr/>
          <p:nvPr/>
        </p:nvSpPr>
        <p:spPr>
          <a:xfrm>
            <a:off x="4872609"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3" name="Oval 62"/>
          <p:cNvSpPr/>
          <p:nvPr/>
        </p:nvSpPr>
        <p:spPr>
          <a:xfrm>
            <a:off x="8250174"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4" name="TextBox 63"/>
          <p:cNvSpPr txBox="1"/>
          <p:nvPr/>
        </p:nvSpPr>
        <p:spPr>
          <a:xfrm>
            <a:off x="8396253"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02</a:t>
            </a:r>
          </a:p>
        </p:txBody>
      </p:sp>
      <p:sp>
        <p:nvSpPr>
          <p:cNvPr id="65" name="TextBox 64"/>
          <p:cNvSpPr txBox="1"/>
          <p:nvPr/>
        </p:nvSpPr>
        <p:spPr>
          <a:xfrm>
            <a:off x="5092065" y="6419089"/>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انتقال الطلب إلى مرحلة جدولة التوصيل، وإرسال رابط الحجز للعميل لتحديد الموعد وموقع التسليم.</a:t>
            </a:r>
          </a:p>
        </p:txBody>
      </p:sp>
      <p:sp>
        <p:nvSpPr>
          <p:cNvPr id="66" name="Rounded Rectangle 65"/>
          <p:cNvSpPr/>
          <p:nvPr/>
        </p:nvSpPr>
        <p:spPr>
          <a:xfrm>
            <a:off x="5009769" y="6967728"/>
            <a:ext cx="3871341"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7" name="TextBox 66"/>
          <p:cNvSpPr txBox="1"/>
          <p:nvPr/>
        </p:nvSpPr>
        <p:spPr>
          <a:xfrm>
            <a:off x="5092065" y="7115090"/>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آلي من خلال النظام</a:t>
            </a:r>
          </a:p>
        </p:txBody>
      </p:sp>
      <p:sp>
        <p:nvSpPr>
          <p:cNvPr id="68" name="Rounded Rectangle 67"/>
          <p:cNvSpPr/>
          <p:nvPr/>
        </p:nvSpPr>
        <p:spPr>
          <a:xfrm>
            <a:off x="480060"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9" name="Oval 68"/>
          <p:cNvSpPr/>
          <p:nvPr/>
        </p:nvSpPr>
        <p:spPr>
          <a:xfrm>
            <a:off x="3857625"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0" name="TextBox 69"/>
          <p:cNvSpPr txBox="1"/>
          <p:nvPr/>
        </p:nvSpPr>
        <p:spPr>
          <a:xfrm>
            <a:off x="4003705"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03</a:t>
            </a:r>
          </a:p>
        </p:txBody>
      </p:sp>
      <p:sp>
        <p:nvSpPr>
          <p:cNvPr id="71" name="TextBox 70"/>
          <p:cNvSpPr txBox="1"/>
          <p:nvPr/>
        </p:nvSpPr>
        <p:spPr>
          <a:xfrm>
            <a:off x="699516" y="6419088"/>
            <a:ext cx="3706749" cy="267189"/>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ربط الخدمة بالسائق المسؤول عن التنفيذ.</a:t>
            </a:r>
          </a:p>
        </p:txBody>
      </p:sp>
      <p:sp>
        <p:nvSpPr>
          <p:cNvPr id="72" name="Rounded Rectangle 71"/>
          <p:cNvSpPr/>
          <p:nvPr/>
        </p:nvSpPr>
        <p:spPr>
          <a:xfrm>
            <a:off x="617220" y="6967728"/>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3" name="TextBox 72"/>
          <p:cNvSpPr txBox="1"/>
          <p:nvPr/>
        </p:nvSpPr>
        <p:spPr>
          <a:xfrm>
            <a:off x="699516" y="7115091"/>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مسؤول التحميل / إدارة المستودعات</a:t>
            </a:r>
          </a:p>
        </p:txBody>
      </p:sp>
      <p:sp>
        <p:nvSpPr>
          <p:cNvPr id="74" name="Rounded Rectangle 73"/>
          <p:cNvSpPr/>
          <p:nvPr/>
        </p:nvSpPr>
        <p:spPr>
          <a:xfrm>
            <a:off x="13657707"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5" name="Oval 74"/>
          <p:cNvSpPr/>
          <p:nvPr/>
        </p:nvSpPr>
        <p:spPr>
          <a:xfrm>
            <a:off x="17035272"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6" name="TextBox 75"/>
          <p:cNvSpPr txBox="1"/>
          <p:nvPr/>
        </p:nvSpPr>
        <p:spPr>
          <a:xfrm>
            <a:off x="17181352"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04</a:t>
            </a:r>
          </a:p>
        </p:txBody>
      </p:sp>
      <p:sp>
        <p:nvSpPr>
          <p:cNvPr id="77" name="TextBox 76"/>
          <p:cNvSpPr txBox="1"/>
          <p:nvPr/>
        </p:nvSpPr>
        <p:spPr>
          <a:xfrm>
            <a:off x="13877163" y="8833104"/>
            <a:ext cx="3706749"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تعبئة نموذج سند التحميل وتجهيز بيانات الرحلة.</a:t>
            </a:r>
          </a:p>
        </p:txBody>
      </p:sp>
      <p:sp>
        <p:nvSpPr>
          <p:cNvPr id="78" name="Rounded Rectangle 77"/>
          <p:cNvSpPr/>
          <p:nvPr/>
        </p:nvSpPr>
        <p:spPr>
          <a:xfrm>
            <a:off x="13794867" y="9381744"/>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9" name="TextBox 78"/>
          <p:cNvSpPr txBox="1"/>
          <p:nvPr/>
        </p:nvSpPr>
        <p:spPr>
          <a:xfrm>
            <a:off x="13877163" y="9529107"/>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مسؤول التحميل / إدارة المستودعات</a:t>
            </a:r>
          </a:p>
        </p:txBody>
      </p:sp>
      <p:sp>
        <p:nvSpPr>
          <p:cNvPr id="80" name="Rounded Rectangle 79"/>
          <p:cNvSpPr/>
          <p:nvPr/>
        </p:nvSpPr>
        <p:spPr>
          <a:xfrm>
            <a:off x="9265158"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1" name="Oval 80"/>
          <p:cNvSpPr/>
          <p:nvPr/>
        </p:nvSpPr>
        <p:spPr>
          <a:xfrm>
            <a:off x="12642723"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2" name="TextBox 81"/>
          <p:cNvSpPr txBox="1"/>
          <p:nvPr/>
        </p:nvSpPr>
        <p:spPr>
          <a:xfrm>
            <a:off x="12788803"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05</a:t>
            </a:r>
          </a:p>
        </p:txBody>
      </p:sp>
      <p:sp>
        <p:nvSpPr>
          <p:cNvPr id="83" name="TextBox 82"/>
          <p:cNvSpPr txBox="1"/>
          <p:nvPr/>
        </p:nvSpPr>
        <p:spPr>
          <a:xfrm>
            <a:off x="9484614" y="8833104"/>
            <a:ext cx="3706749"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بدء رحلة التوصيل وتوثيق تنفيذ الخدمة.</a:t>
            </a:r>
          </a:p>
        </p:txBody>
      </p:sp>
      <p:sp>
        <p:nvSpPr>
          <p:cNvPr id="84" name="Rounded Rectangle 83"/>
          <p:cNvSpPr/>
          <p:nvPr/>
        </p:nvSpPr>
        <p:spPr>
          <a:xfrm>
            <a:off x="9402318" y="9381744"/>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5" name="TextBox 84"/>
          <p:cNvSpPr txBox="1"/>
          <p:nvPr/>
        </p:nvSpPr>
        <p:spPr>
          <a:xfrm>
            <a:off x="9484614" y="9529106"/>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السائق / إدارة المستودعات</a:t>
            </a:r>
          </a:p>
        </p:txBody>
      </p:sp>
      <p:sp>
        <p:nvSpPr>
          <p:cNvPr id="86" name="Rounded Rectangle 85"/>
          <p:cNvSpPr/>
          <p:nvPr/>
        </p:nvSpPr>
        <p:spPr>
          <a:xfrm>
            <a:off x="4872609"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7" name="Oval 86"/>
          <p:cNvSpPr/>
          <p:nvPr/>
        </p:nvSpPr>
        <p:spPr>
          <a:xfrm>
            <a:off x="8250174"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8" name="TextBox 87"/>
          <p:cNvSpPr txBox="1"/>
          <p:nvPr/>
        </p:nvSpPr>
        <p:spPr>
          <a:xfrm>
            <a:off x="8396253"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06</a:t>
            </a:r>
          </a:p>
        </p:txBody>
      </p:sp>
      <p:sp>
        <p:nvSpPr>
          <p:cNvPr id="89" name="TextBox 88"/>
          <p:cNvSpPr txBox="1"/>
          <p:nvPr/>
        </p:nvSpPr>
        <p:spPr>
          <a:xfrm>
            <a:off x="5092065" y="8833104"/>
            <a:ext cx="3706749"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استلام العميل للخدمة وإغلاق دورة التوصيل.</a:t>
            </a:r>
          </a:p>
        </p:txBody>
      </p:sp>
      <p:sp>
        <p:nvSpPr>
          <p:cNvPr id="90" name="Rounded Rectangle 89"/>
          <p:cNvSpPr/>
          <p:nvPr/>
        </p:nvSpPr>
        <p:spPr>
          <a:xfrm>
            <a:off x="5009769" y="9381744"/>
            <a:ext cx="3871341"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1" name="TextBox 90"/>
          <p:cNvSpPr txBox="1"/>
          <p:nvPr/>
        </p:nvSpPr>
        <p:spPr>
          <a:xfrm>
            <a:off x="5092065" y="9529106"/>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آلي من خلال النظام</a:t>
            </a:r>
          </a:p>
        </p:txBody>
      </p:sp>
      <p:sp>
        <p:nvSpPr>
          <p:cNvPr id="92" name="Rounded Rectangle 92"/>
          <p:cNvSpPr/>
          <p:nvPr/>
        </p:nvSpPr>
        <p:spPr>
          <a:xfrm>
            <a:off x="15728333"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3" name="Oval 93"/>
          <p:cNvSpPr/>
          <p:nvPr/>
        </p:nvSpPr>
        <p:spPr>
          <a:xfrm>
            <a:off x="17007840"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4" name="TextBox 94"/>
          <p:cNvSpPr txBox="1"/>
          <p:nvPr/>
        </p:nvSpPr>
        <p:spPr>
          <a:xfrm>
            <a:off x="17190259"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00</a:t>
            </a:r>
          </a:p>
        </p:txBody>
      </p:sp>
      <p:sp>
        <p:nvSpPr>
          <p:cNvPr id="95" name="TextBox 95"/>
          <p:cNvSpPr txBox="1"/>
          <p:nvPr/>
        </p:nvSpPr>
        <p:spPr>
          <a:xfrm>
            <a:off x="15930091"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96" name="TextBox 96"/>
          <p:cNvSpPr txBox="1"/>
          <p:nvPr/>
        </p:nvSpPr>
        <p:spPr>
          <a:xfrm>
            <a:off x="15838061"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فاتورة من SAP</a:t>
            </a:r>
          </a:p>
        </p:txBody>
      </p:sp>
      <p:sp>
        <p:nvSpPr>
          <p:cNvPr id="97" name="Isosceles Triangle 97"/>
          <p:cNvSpPr/>
          <p:nvPr/>
        </p:nvSpPr>
        <p:spPr>
          <a:xfrm rot="16200000">
            <a:off x="15378575"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8" name="Rounded Rectangle 98"/>
          <p:cNvSpPr/>
          <p:nvPr/>
        </p:nvSpPr>
        <p:spPr>
          <a:xfrm>
            <a:off x="13186954"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9" name="Oval 99"/>
          <p:cNvSpPr/>
          <p:nvPr/>
        </p:nvSpPr>
        <p:spPr>
          <a:xfrm>
            <a:off x="14466461"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0" name="TextBox 100"/>
          <p:cNvSpPr txBox="1"/>
          <p:nvPr/>
        </p:nvSpPr>
        <p:spPr>
          <a:xfrm>
            <a:off x="14648880"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01</a:t>
            </a:r>
          </a:p>
        </p:txBody>
      </p:sp>
      <p:sp>
        <p:nvSpPr>
          <p:cNvPr id="101" name="TextBox 101"/>
          <p:cNvSpPr txBox="1"/>
          <p:nvPr/>
        </p:nvSpPr>
        <p:spPr>
          <a:xfrm>
            <a:off x="13388712"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02" name="TextBox 102"/>
          <p:cNvSpPr txBox="1"/>
          <p:nvPr/>
        </p:nvSpPr>
        <p:spPr>
          <a:xfrm>
            <a:off x="13296682"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طلب توصيل</a:t>
            </a:r>
          </a:p>
        </p:txBody>
      </p:sp>
      <p:sp>
        <p:nvSpPr>
          <p:cNvPr id="103" name="Isosceles Triangle 103"/>
          <p:cNvSpPr/>
          <p:nvPr/>
        </p:nvSpPr>
        <p:spPr>
          <a:xfrm rot="16200000">
            <a:off x="12837196"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4" name="Rounded Rectangle 104"/>
          <p:cNvSpPr/>
          <p:nvPr/>
        </p:nvSpPr>
        <p:spPr>
          <a:xfrm>
            <a:off x="10645575"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5" name="Oval 105"/>
          <p:cNvSpPr/>
          <p:nvPr/>
        </p:nvSpPr>
        <p:spPr>
          <a:xfrm>
            <a:off x="11925082"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6" name="TextBox 106"/>
          <p:cNvSpPr txBox="1"/>
          <p:nvPr/>
        </p:nvSpPr>
        <p:spPr>
          <a:xfrm>
            <a:off x="12107501"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02</a:t>
            </a:r>
          </a:p>
        </p:txBody>
      </p:sp>
      <p:sp>
        <p:nvSpPr>
          <p:cNvPr id="107" name="TextBox 107"/>
          <p:cNvSpPr txBox="1"/>
          <p:nvPr/>
        </p:nvSpPr>
        <p:spPr>
          <a:xfrm>
            <a:off x="10847333"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08" name="TextBox 108"/>
          <p:cNvSpPr txBox="1"/>
          <p:nvPr/>
        </p:nvSpPr>
        <p:spPr>
          <a:xfrm>
            <a:off x="10755303"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جدولة التوصيل</a:t>
            </a:r>
          </a:p>
        </p:txBody>
      </p:sp>
      <p:sp>
        <p:nvSpPr>
          <p:cNvPr id="109" name="Isosceles Triangle 109"/>
          <p:cNvSpPr/>
          <p:nvPr/>
        </p:nvSpPr>
        <p:spPr>
          <a:xfrm rot="16200000">
            <a:off x="10295817"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0" name="Rounded Rectangle 110"/>
          <p:cNvSpPr/>
          <p:nvPr/>
        </p:nvSpPr>
        <p:spPr>
          <a:xfrm>
            <a:off x="8104196"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1" name="Oval 111"/>
          <p:cNvSpPr/>
          <p:nvPr/>
        </p:nvSpPr>
        <p:spPr>
          <a:xfrm>
            <a:off x="9383703"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2" name="TextBox 112"/>
          <p:cNvSpPr txBox="1"/>
          <p:nvPr/>
        </p:nvSpPr>
        <p:spPr>
          <a:xfrm>
            <a:off x="9566122"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03</a:t>
            </a:r>
          </a:p>
        </p:txBody>
      </p:sp>
      <p:sp>
        <p:nvSpPr>
          <p:cNvPr id="113" name="TextBox 113"/>
          <p:cNvSpPr txBox="1"/>
          <p:nvPr/>
        </p:nvSpPr>
        <p:spPr>
          <a:xfrm>
            <a:off x="8305954"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14" name="TextBox 114"/>
          <p:cNvSpPr txBox="1"/>
          <p:nvPr/>
        </p:nvSpPr>
        <p:spPr>
          <a:xfrm>
            <a:off x="8213924"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ربط الخدمة بالسائق</a:t>
            </a:r>
          </a:p>
        </p:txBody>
      </p:sp>
      <p:sp>
        <p:nvSpPr>
          <p:cNvPr id="115" name="Isosceles Triangle 115"/>
          <p:cNvSpPr/>
          <p:nvPr/>
        </p:nvSpPr>
        <p:spPr>
          <a:xfrm rot="16200000">
            <a:off x="7754438"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6" name="Rounded Rectangle 116"/>
          <p:cNvSpPr/>
          <p:nvPr/>
        </p:nvSpPr>
        <p:spPr>
          <a:xfrm>
            <a:off x="5562817"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7" name="Oval 117"/>
          <p:cNvSpPr/>
          <p:nvPr/>
        </p:nvSpPr>
        <p:spPr>
          <a:xfrm>
            <a:off x="6842324"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8" name="TextBox 118"/>
          <p:cNvSpPr txBox="1"/>
          <p:nvPr/>
        </p:nvSpPr>
        <p:spPr>
          <a:xfrm>
            <a:off x="7024743"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04</a:t>
            </a:r>
          </a:p>
        </p:txBody>
      </p:sp>
      <p:sp>
        <p:nvSpPr>
          <p:cNvPr id="119" name="TextBox 119"/>
          <p:cNvSpPr txBox="1"/>
          <p:nvPr/>
        </p:nvSpPr>
        <p:spPr>
          <a:xfrm>
            <a:off x="5764575"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20" name="TextBox 120"/>
          <p:cNvSpPr txBox="1"/>
          <p:nvPr/>
        </p:nvSpPr>
        <p:spPr>
          <a:xfrm>
            <a:off x="5672545"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ملء النموذج</a:t>
            </a:r>
          </a:p>
        </p:txBody>
      </p:sp>
      <p:sp>
        <p:nvSpPr>
          <p:cNvPr id="121" name="Isosceles Triangle 121"/>
          <p:cNvSpPr/>
          <p:nvPr/>
        </p:nvSpPr>
        <p:spPr>
          <a:xfrm rot="16200000">
            <a:off x="5213059"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2" name="Rounded Rectangle 122"/>
          <p:cNvSpPr/>
          <p:nvPr/>
        </p:nvSpPr>
        <p:spPr>
          <a:xfrm>
            <a:off x="3021438"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3" name="Oval 123"/>
          <p:cNvSpPr/>
          <p:nvPr/>
        </p:nvSpPr>
        <p:spPr>
          <a:xfrm>
            <a:off x="4300945"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4" name="TextBox 124"/>
          <p:cNvSpPr txBox="1"/>
          <p:nvPr/>
        </p:nvSpPr>
        <p:spPr>
          <a:xfrm>
            <a:off x="4483364"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05</a:t>
            </a:r>
          </a:p>
        </p:txBody>
      </p:sp>
      <p:sp>
        <p:nvSpPr>
          <p:cNvPr id="125" name="TextBox 125"/>
          <p:cNvSpPr txBox="1"/>
          <p:nvPr/>
        </p:nvSpPr>
        <p:spPr>
          <a:xfrm>
            <a:off x="3223196"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26" name="TextBox 126"/>
          <p:cNvSpPr txBox="1"/>
          <p:nvPr/>
        </p:nvSpPr>
        <p:spPr>
          <a:xfrm>
            <a:off x="3131166"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جاري التوصيل</a:t>
            </a:r>
          </a:p>
        </p:txBody>
      </p:sp>
      <p:sp>
        <p:nvSpPr>
          <p:cNvPr id="127" name="Isosceles Triangle 127"/>
          <p:cNvSpPr/>
          <p:nvPr/>
        </p:nvSpPr>
        <p:spPr>
          <a:xfrm rot="16200000">
            <a:off x="2671680"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8" name="Rounded Rectangle 128"/>
          <p:cNvSpPr/>
          <p:nvPr/>
        </p:nvSpPr>
        <p:spPr>
          <a:xfrm>
            <a:off x="480060"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9" name="Oval 129"/>
          <p:cNvSpPr/>
          <p:nvPr/>
        </p:nvSpPr>
        <p:spPr>
          <a:xfrm>
            <a:off x="1759566"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30" name="TextBox 130"/>
          <p:cNvSpPr txBox="1"/>
          <p:nvPr/>
        </p:nvSpPr>
        <p:spPr>
          <a:xfrm>
            <a:off x="1941985"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06</a:t>
            </a:r>
          </a:p>
        </p:txBody>
      </p:sp>
      <p:sp>
        <p:nvSpPr>
          <p:cNvPr id="131" name="TextBox 131"/>
          <p:cNvSpPr txBox="1"/>
          <p:nvPr/>
        </p:nvSpPr>
        <p:spPr>
          <a:xfrm>
            <a:off x="681818"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32" name="TextBox 132"/>
          <p:cNvSpPr txBox="1"/>
          <p:nvPr/>
        </p:nvSpPr>
        <p:spPr>
          <a:xfrm>
            <a:off x="589788"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استلام الخدمة</a:t>
            </a:r>
          </a:p>
        </p:txBody>
      </p:sp>
    </p:spTree>
    <p:extLst>
      <p:ext uri="{BB962C8B-B14F-4D97-AF65-F5344CB8AC3E}">
        <p14:creationId xmlns:p14="http://schemas.microsoft.com/office/powerpoint/2010/main" val="2737158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18287543"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 name="TextBox 2"/>
          <p:cNvSpPr txBox="1"/>
          <p:nvPr/>
        </p:nvSpPr>
        <p:spPr>
          <a:xfrm>
            <a:off x="6875068" y="380701"/>
            <a:ext cx="4533292" cy="692497"/>
          </a:xfrm>
          <a:prstGeom prst="rect">
            <a:avLst/>
          </a:prstGeom>
          <a:noFill/>
        </p:spPr>
        <p:txBody>
          <a:bodyPr wrap="none" lIns="0" tIns="0" rIns="0" bIns="0" anchor="ctr">
            <a:spAutoFit/>
          </a:bodyPr>
          <a:lstStyle/>
          <a:p>
            <a:pPr algn="ctr" rtl="1">
              <a:lnSpc>
                <a:spcPct val="100000"/>
              </a:lnSpc>
            </a:pPr>
            <a:r>
              <a:rPr sz="4500" b="1">
                <a:solidFill>
                  <a:srgbClr val="1960BD"/>
                </a:solidFill>
                <a:latin typeface="Arial" panose="020B0604020202020204" pitchFamily="34" charset="0"/>
              </a:rPr>
              <a:t>خدمة التحويلات الداخلية</a:t>
            </a:r>
          </a:p>
        </p:txBody>
      </p:sp>
      <p:sp>
        <p:nvSpPr>
          <p:cNvPr id="4" name="Rounded Rectangle 3"/>
          <p:cNvSpPr/>
          <p:nvPr/>
        </p:nvSpPr>
        <p:spPr>
          <a:xfrm>
            <a:off x="5438394" y="1261872"/>
            <a:ext cx="7406640" cy="603504"/>
          </a:xfrm>
          <a:prstGeom prst="roundRect">
            <a:avLst>
              <a:gd name="adj" fmla="val 50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 name="TextBox 4"/>
          <p:cNvSpPr txBox="1"/>
          <p:nvPr/>
        </p:nvSpPr>
        <p:spPr>
          <a:xfrm>
            <a:off x="7751911" y="1419353"/>
            <a:ext cx="2779607" cy="288541"/>
          </a:xfrm>
          <a:prstGeom prst="rect">
            <a:avLst/>
          </a:prstGeom>
          <a:noFill/>
        </p:spPr>
        <p:txBody>
          <a:bodyPr wrap="none" lIns="0" tIns="0" rIns="0" bIns="0" anchor="ctr">
            <a:spAutoFit/>
          </a:bodyPr>
          <a:lstStyle/>
          <a:p>
            <a:pPr algn="ctr" rtl="1">
              <a:lnSpc>
                <a:spcPct val="100000"/>
              </a:lnSpc>
            </a:pPr>
            <a:r>
              <a:rPr sz="1875" b="1">
                <a:solidFill>
                  <a:srgbClr val="000000"/>
                </a:solidFill>
                <a:latin typeface="Arial" panose="020B0604020202020204" pitchFamily="34" charset="0"/>
              </a:rPr>
              <a:t>الجهة المسؤولة: إدارة المستودعات</a:t>
            </a:r>
          </a:p>
        </p:txBody>
      </p:sp>
      <p:sp>
        <p:nvSpPr>
          <p:cNvPr id="41" name="TextBox 40"/>
          <p:cNvSpPr txBox="1"/>
          <p:nvPr/>
        </p:nvSpPr>
        <p:spPr>
          <a:xfrm>
            <a:off x="480060" y="4775507"/>
            <a:ext cx="17323308" cy="461665"/>
          </a:xfrm>
          <a:prstGeom prst="rect">
            <a:avLst/>
          </a:prstGeom>
          <a:noFill/>
        </p:spPr>
        <p:txBody>
          <a:bodyPr wrap="square" lIns="0" tIns="0" rIns="0" bIns="0" anchor="ctr">
            <a:spAutoFit/>
          </a:bodyPr>
          <a:lstStyle/>
          <a:p>
            <a:pPr algn="ctr" rtl="1">
              <a:lnSpc>
                <a:spcPct val="100000"/>
              </a:lnSpc>
            </a:pPr>
            <a:r>
              <a:rPr sz="3000" b="1">
                <a:solidFill>
                  <a:srgbClr val="1960BD"/>
                </a:solidFill>
                <a:latin typeface="Arial" panose="020B0604020202020204" pitchFamily="34" charset="0"/>
              </a:rPr>
              <a:t>ملخص الدورة</a:t>
            </a:r>
          </a:p>
        </p:txBody>
      </p:sp>
      <p:sp>
        <p:nvSpPr>
          <p:cNvPr id="42" name="Rounded Rectangle 41"/>
          <p:cNvSpPr/>
          <p:nvPr/>
        </p:nvSpPr>
        <p:spPr>
          <a:xfrm>
            <a:off x="12193524" y="5541264"/>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3" name="Oval 42"/>
          <p:cNvSpPr/>
          <p:nvPr/>
        </p:nvSpPr>
        <p:spPr>
          <a:xfrm>
            <a:off x="17035272"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4" name="TextBox 43"/>
          <p:cNvSpPr txBox="1"/>
          <p:nvPr/>
        </p:nvSpPr>
        <p:spPr>
          <a:xfrm>
            <a:off x="17181352"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00</a:t>
            </a:r>
          </a:p>
        </p:txBody>
      </p:sp>
      <p:sp>
        <p:nvSpPr>
          <p:cNvPr id="45" name="TextBox 44"/>
          <p:cNvSpPr txBox="1"/>
          <p:nvPr/>
        </p:nvSpPr>
        <p:spPr>
          <a:xfrm>
            <a:off x="12412980" y="6419088"/>
            <a:ext cx="5170932" cy="267189"/>
          </a:xfrm>
          <a:prstGeom prst="rect">
            <a:avLst/>
          </a:prstGeom>
          <a:noFill/>
        </p:spPr>
        <p:txBody>
          <a:bodyPr wrap="square" lIns="0" tIns="0" rIns="0" bIns="0" anchor="t">
            <a:spAutoFit/>
          </a:bodyPr>
          <a:lstStyle/>
          <a:p>
            <a:pPr algn="r" rtl="1">
              <a:lnSpc>
                <a:spcPct val="115000"/>
              </a:lnSpc>
            </a:pPr>
            <a:r>
              <a:rPr lang="ar-SA" sz="1650" b="1" dirty="0">
                <a:solidFill>
                  <a:srgbClr val="FF0000"/>
                </a:solidFill>
                <a:latin typeface="Arial" panose="020B0604020202020204" pitchFamily="34" charset="0"/>
              </a:rPr>
              <a:t>بضاعة العميل أو جزء منها غير موجود في مستودع التجميع</a:t>
            </a:r>
            <a:r>
              <a:rPr sz="1650" b="1" dirty="0">
                <a:solidFill>
                  <a:srgbClr val="FF0000"/>
                </a:solidFill>
                <a:latin typeface="Arial" panose="020B0604020202020204" pitchFamily="34" charset="0"/>
              </a:rPr>
              <a:t>.</a:t>
            </a:r>
          </a:p>
        </p:txBody>
      </p:sp>
      <p:sp>
        <p:nvSpPr>
          <p:cNvPr id="46" name="Rounded Rectangle 45"/>
          <p:cNvSpPr/>
          <p:nvPr/>
        </p:nvSpPr>
        <p:spPr>
          <a:xfrm>
            <a:off x="12330684" y="6967728"/>
            <a:ext cx="5335524"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7" name="TextBox 46"/>
          <p:cNvSpPr txBox="1"/>
          <p:nvPr/>
        </p:nvSpPr>
        <p:spPr>
          <a:xfrm>
            <a:off x="12412980" y="7115090"/>
            <a:ext cx="5170932"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المستودعات</a:t>
            </a:r>
          </a:p>
        </p:txBody>
      </p:sp>
      <p:sp>
        <p:nvSpPr>
          <p:cNvPr id="48" name="Rounded Rectangle 47"/>
          <p:cNvSpPr/>
          <p:nvPr/>
        </p:nvSpPr>
        <p:spPr>
          <a:xfrm>
            <a:off x="6336792" y="5541264"/>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9" name="Oval 48"/>
          <p:cNvSpPr/>
          <p:nvPr/>
        </p:nvSpPr>
        <p:spPr>
          <a:xfrm>
            <a:off x="11178540"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0" name="TextBox 49"/>
          <p:cNvSpPr txBox="1"/>
          <p:nvPr/>
        </p:nvSpPr>
        <p:spPr>
          <a:xfrm>
            <a:off x="11324620"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01</a:t>
            </a:r>
          </a:p>
        </p:txBody>
      </p:sp>
      <p:sp>
        <p:nvSpPr>
          <p:cNvPr id="51" name="TextBox 50"/>
          <p:cNvSpPr txBox="1"/>
          <p:nvPr/>
        </p:nvSpPr>
        <p:spPr>
          <a:xfrm>
            <a:off x="6556248" y="6419088"/>
            <a:ext cx="5170932" cy="267189"/>
          </a:xfrm>
          <a:prstGeom prst="rect">
            <a:avLst/>
          </a:prstGeom>
          <a:noFill/>
        </p:spPr>
        <p:txBody>
          <a:bodyPr wrap="square" lIns="0" tIns="0" rIns="0" bIns="0" anchor="t">
            <a:spAutoFit/>
          </a:bodyPr>
          <a:lstStyle/>
          <a:p>
            <a:pPr algn="r" rtl="1">
              <a:lnSpc>
                <a:spcPct val="115000"/>
              </a:lnSpc>
            </a:pPr>
            <a:r>
              <a:rPr lang="ar-SA" sz="1650" b="1" dirty="0">
                <a:solidFill>
                  <a:srgbClr val="FF0000"/>
                </a:solidFill>
                <a:latin typeface="Arial" panose="020B0604020202020204" pitchFamily="34" charset="0"/>
              </a:rPr>
              <a:t>تسجيل الكميات المرسلة من قبل أمين مستودع المصدر.</a:t>
            </a:r>
            <a:endParaRPr sz="1650" b="1" dirty="0">
              <a:solidFill>
                <a:srgbClr val="FF0000"/>
              </a:solidFill>
              <a:latin typeface="Arial" panose="020B0604020202020204" pitchFamily="34" charset="0"/>
            </a:endParaRPr>
          </a:p>
        </p:txBody>
      </p:sp>
      <p:sp>
        <p:nvSpPr>
          <p:cNvPr id="52" name="Rounded Rectangle 51"/>
          <p:cNvSpPr/>
          <p:nvPr/>
        </p:nvSpPr>
        <p:spPr>
          <a:xfrm>
            <a:off x="6473952" y="6967728"/>
            <a:ext cx="5335524"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3" name="TextBox 52"/>
          <p:cNvSpPr txBox="1"/>
          <p:nvPr/>
        </p:nvSpPr>
        <p:spPr>
          <a:xfrm>
            <a:off x="6556248" y="7115090"/>
            <a:ext cx="5170932"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المستودعات</a:t>
            </a:r>
          </a:p>
        </p:txBody>
      </p:sp>
      <p:sp>
        <p:nvSpPr>
          <p:cNvPr id="54" name="Rounded Rectangle 53"/>
          <p:cNvSpPr/>
          <p:nvPr/>
        </p:nvSpPr>
        <p:spPr>
          <a:xfrm>
            <a:off x="480060" y="5541264"/>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5" name="Oval 54"/>
          <p:cNvSpPr/>
          <p:nvPr/>
        </p:nvSpPr>
        <p:spPr>
          <a:xfrm>
            <a:off x="5321808"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6" name="TextBox 55"/>
          <p:cNvSpPr txBox="1"/>
          <p:nvPr/>
        </p:nvSpPr>
        <p:spPr>
          <a:xfrm>
            <a:off x="5467887"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02</a:t>
            </a:r>
          </a:p>
        </p:txBody>
      </p:sp>
      <p:sp>
        <p:nvSpPr>
          <p:cNvPr id="57" name="TextBox 56"/>
          <p:cNvSpPr txBox="1"/>
          <p:nvPr/>
        </p:nvSpPr>
        <p:spPr>
          <a:xfrm>
            <a:off x="699516" y="6419088"/>
            <a:ext cx="5170932" cy="559192"/>
          </a:xfrm>
          <a:prstGeom prst="rect">
            <a:avLst/>
          </a:prstGeom>
          <a:noFill/>
        </p:spPr>
        <p:txBody>
          <a:bodyPr wrap="square" lIns="0" tIns="0" rIns="0" bIns="0" anchor="t">
            <a:spAutoFit/>
          </a:bodyPr>
          <a:lstStyle/>
          <a:p>
            <a:pPr algn="r" rtl="1">
              <a:lnSpc>
                <a:spcPct val="115000"/>
              </a:lnSpc>
            </a:pPr>
            <a:r>
              <a:rPr sz="1650" dirty="0" err="1">
                <a:solidFill>
                  <a:srgbClr val="1E1E1E"/>
                </a:solidFill>
                <a:latin typeface="Arial" panose="020B0604020202020204" pitchFamily="34" charset="0"/>
              </a:rPr>
              <a:t>انتقال</a:t>
            </a:r>
            <a:r>
              <a:rPr sz="1650" dirty="0">
                <a:solidFill>
                  <a:srgbClr val="1E1E1E"/>
                </a:solidFill>
                <a:latin typeface="Arial" panose="020B0604020202020204" pitchFamily="34" charset="0"/>
              </a:rPr>
              <a:t> </a:t>
            </a:r>
            <a:r>
              <a:rPr sz="1650" dirty="0" err="1">
                <a:solidFill>
                  <a:srgbClr val="1E1E1E"/>
                </a:solidFill>
                <a:latin typeface="Arial" panose="020B0604020202020204" pitchFamily="34" charset="0"/>
              </a:rPr>
              <a:t>الطلب</a:t>
            </a:r>
            <a:r>
              <a:rPr sz="1650" dirty="0">
                <a:solidFill>
                  <a:srgbClr val="1E1E1E"/>
                </a:solidFill>
                <a:latin typeface="Arial" panose="020B0604020202020204" pitchFamily="34" charset="0"/>
              </a:rPr>
              <a:t> </a:t>
            </a:r>
            <a:r>
              <a:rPr sz="1650" dirty="0" err="1">
                <a:solidFill>
                  <a:srgbClr val="1E1E1E"/>
                </a:solidFill>
                <a:latin typeface="Arial" panose="020B0604020202020204" pitchFamily="34" charset="0"/>
              </a:rPr>
              <a:t>إلى</a:t>
            </a:r>
            <a:r>
              <a:rPr sz="1650" dirty="0">
                <a:solidFill>
                  <a:srgbClr val="1E1E1E"/>
                </a:solidFill>
                <a:latin typeface="Arial" panose="020B0604020202020204" pitchFamily="34" charset="0"/>
              </a:rPr>
              <a:t> </a:t>
            </a:r>
            <a:r>
              <a:rPr sz="1650" dirty="0" err="1">
                <a:solidFill>
                  <a:srgbClr val="1E1E1E"/>
                </a:solidFill>
                <a:latin typeface="Arial" panose="020B0604020202020204" pitchFamily="34" charset="0"/>
              </a:rPr>
              <a:t>مرحلة</a:t>
            </a:r>
            <a:r>
              <a:rPr sz="1650" dirty="0">
                <a:solidFill>
                  <a:srgbClr val="1E1E1E"/>
                </a:solidFill>
                <a:latin typeface="Arial" panose="020B0604020202020204" pitchFamily="34" charset="0"/>
              </a:rPr>
              <a:t> «</a:t>
            </a:r>
            <a:r>
              <a:rPr sz="1650" dirty="0" err="1">
                <a:solidFill>
                  <a:srgbClr val="1E1E1E"/>
                </a:solidFill>
                <a:latin typeface="Arial" panose="020B0604020202020204" pitchFamily="34" charset="0"/>
              </a:rPr>
              <a:t>جاري</a:t>
            </a:r>
            <a:r>
              <a:rPr sz="1650" dirty="0">
                <a:solidFill>
                  <a:srgbClr val="1E1E1E"/>
                </a:solidFill>
                <a:latin typeface="Arial" panose="020B0604020202020204" pitchFamily="34" charset="0"/>
              </a:rPr>
              <a:t> </a:t>
            </a:r>
            <a:r>
              <a:rPr sz="1650" dirty="0" err="1">
                <a:solidFill>
                  <a:srgbClr val="1E1E1E"/>
                </a:solidFill>
                <a:latin typeface="Arial" panose="020B0604020202020204" pitchFamily="34" charset="0"/>
              </a:rPr>
              <a:t>النقل</a:t>
            </a:r>
            <a:r>
              <a:rPr sz="1650" dirty="0">
                <a:solidFill>
                  <a:srgbClr val="1E1E1E"/>
                </a:solidFill>
                <a:latin typeface="Arial" panose="020B0604020202020204" pitchFamily="34" charset="0"/>
              </a:rPr>
              <a:t>»، </a:t>
            </a:r>
            <a:r>
              <a:rPr sz="1650" dirty="0" err="1">
                <a:solidFill>
                  <a:srgbClr val="1E1E1E"/>
                </a:solidFill>
                <a:latin typeface="Arial" panose="020B0604020202020204" pitchFamily="34" charset="0"/>
              </a:rPr>
              <a:t>ونقل</a:t>
            </a:r>
            <a:r>
              <a:rPr sz="1650" dirty="0">
                <a:solidFill>
                  <a:srgbClr val="1E1E1E"/>
                </a:solidFill>
                <a:latin typeface="Arial" panose="020B0604020202020204" pitchFamily="34" charset="0"/>
              </a:rPr>
              <a:t> </a:t>
            </a:r>
            <a:r>
              <a:rPr sz="1650" dirty="0" err="1">
                <a:solidFill>
                  <a:srgbClr val="1E1E1E"/>
                </a:solidFill>
                <a:latin typeface="Arial" panose="020B0604020202020204" pitchFamily="34" charset="0"/>
              </a:rPr>
              <a:t>البضاعة</a:t>
            </a:r>
            <a:r>
              <a:rPr sz="1650" dirty="0">
                <a:solidFill>
                  <a:srgbClr val="1E1E1E"/>
                </a:solidFill>
                <a:latin typeface="Arial" panose="020B0604020202020204" pitchFamily="34" charset="0"/>
              </a:rPr>
              <a:t> </a:t>
            </a:r>
            <a:r>
              <a:rPr sz="1650" dirty="0" err="1">
                <a:solidFill>
                  <a:srgbClr val="1E1E1E"/>
                </a:solidFill>
                <a:latin typeface="Arial" panose="020B0604020202020204" pitchFamily="34" charset="0"/>
              </a:rPr>
              <a:t>إلى</a:t>
            </a:r>
            <a:r>
              <a:rPr sz="1650" dirty="0">
                <a:solidFill>
                  <a:srgbClr val="1E1E1E"/>
                </a:solidFill>
                <a:latin typeface="Arial" panose="020B0604020202020204" pitchFamily="34" charset="0"/>
              </a:rPr>
              <a:t> </a:t>
            </a:r>
            <a:r>
              <a:rPr sz="1650" dirty="0" err="1">
                <a:solidFill>
                  <a:srgbClr val="1E1E1E"/>
                </a:solidFill>
                <a:latin typeface="Arial" panose="020B0604020202020204" pitchFamily="34" charset="0"/>
              </a:rPr>
              <a:t>مستودع</a:t>
            </a:r>
            <a:r>
              <a:rPr sz="1650" dirty="0">
                <a:solidFill>
                  <a:srgbClr val="1E1E1E"/>
                </a:solidFill>
                <a:latin typeface="Arial" panose="020B0604020202020204" pitchFamily="34" charset="0"/>
              </a:rPr>
              <a:t> </a:t>
            </a:r>
            <a:r>
              <a:rPr sz="1650" dirty="0" err="1">
                <a:solidFill>
                  <a:srgbClr val="1E1E1E"/>
                </a:solidFill>
                <a:latin typeface="Arial" panose="020B0604020202020204" pitchFamily="34" charset="0"/>
              </a:rPr>
              <a:t>التجم</a:t>
            </a:r>
            <a:r>
              <a:rPr lang="ar-SA" sz="1650" dirty="0">
                <a:solidFill>
                  <a:srgbClr val="1E1E1E"/>
                </a:solidFill>
                <a:latin typeface="Arial" panose="020B0604020202020204" pitchFamily="34" charset="0"/>
              </a:rPr>
              <a:t>ي</a:t>
            </a:r>
            <a:r>
              <a:rPr sz="1650" dirty="0">
                <a:solidFill>
                  <a:srgbClr val="1E1E1E"/>
                </a:solidFill>
                <a:latin typeface="Arial" panose="020B0604020202020204" pitchFamily="34" charset="0"/>
              </a:rPr>
              <a:t>ع </a:t>
            </a:r>
            <a:r>
              <a:rPr sz="1650" dirty="0" err="1">
                <a:solidFill>
                  <a:srgbClr val="1E1E1E"/>
                </a:solidFill>
                <a:latin typeface="Arial" panose="020B0604020202020204" pitchFamily="34" charset="0"/>
              </a:rPr>
              <a:t>أثناء</a:t>
            </a:r>
            <a:r>
              <a:rPr sz="1650" dirty="0">
                <a:solidFill>
                  <a:srgbClr val="1E1E1E"/>
                </a:solidFill>
                <a:latin typeface="Arial" panose="020B0604020202020204" pitchFamily="34" charset="0"/>
              </a:rPr>
              <a:t> </a:t>
            </a:r>
            <a:r>
              <a:rPr sz="1650" dirty="0" err="1">
                <a:solidFill>
                  <a:srgbClr val="1E1E1E"/>
                </a:solidFill>
                <a:latin typeface="Arial" panose="020B0604020202020204" pitchFamily="34" charset="0"/>
              </a:rPr>
              <a:t>تحركها</a:t>
            </a:r>
            <a:r>
              <a:rPr sz="1650" dirty="0">
                <a:solidFill>
                  <a:srgbClr val="1E1E1E"/>
                </a:solidFill>
                <a:latin typeface="Arial" panose="020B0604020202020204" pitchFamily="34" charset="0"/>
              </a:rPr>
              <a:t>.</a:t>
            </a:r>
          </a:p>
        </p:txBody>
      </p:sp>
      <p:sp>
        <p:nvSpPr>
          <p:cNvPr id="58" name="Rounded Rectangle 57"/>
          <p:cNvSpPr/>
          <p:nvPr/>
        </p:nvSpPr>
        <p:spPr>
          <a:xfrm>
            <a:off x="617220" y="6967728"/>
            <a:ext cx="5335524"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9" name="TextBox 58"/>
          <p:cNvSpPr txBox="1"/>
          <p:nvPr/>
        </p:nvSpPr>
        <p:spPr>
          <a:xfrm>
            <a:off x="699516" y="7115090"/>
            <a:ext cx="5170932"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المستودعات</a:t>
            </a:r>
          </a:p>
        </p:txBody>
      </p:sp>
      <p:sp>
        <p:nvSpPr>
          <p:cNvPr id="60" name="Rounded Rectangle 59"/>
          <p:cNvSpPr/>
          <p:nvPr/>
        </p:nvSpPr>
        <p:spPr>
          <a:xfrm>
            <a:off x="12193524" y="7955280"/>
            <a:ext cx="5609844" cy="2194560"/>
          </a:xfrm>
          <a:prstGeom prst="roundRect">
            <a:avLst>
              <a:gd name="adj" fmla="val 14000"/>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1" name="Oval 60"/>
          <p:cNvSpPr/>
          <p:nvPr/>
        </p:nvSpPr>
        <p:spPr>
          <a:xfrm>
            <a:off x="17035272"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2" name="TextBox 61"/>
          <p:cNvSpPr txBox="1"/>
          <p:nvPr/>
        </p:nvSpPr>
        <p:spPr>
          <a:xfrm>
            <a:off x="17181352"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03</a:t>
            </a:r>
          </a:p>
        </p:txBody>
      </p:sp>
      <p:sp>
        <p:nvSpPr>
          <p:cNvPr id="63" name="TextBox 62"/>
          <p:cNvSpPr txBox="1"/>
          <p:nvPr/>
        </p:nvSpPr>
        <p:spPr>
          <a:xfrm>
            <a:off x="12412980" y="8833105"/>
            <a:ext cx="5170932"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التحقق من جاهزية البضاعة وحجز الموعد المناسب.</a:t>
            </a:r>
          </a:p>
        </p:txBody>
      </p:sp>
      <p:sp>
        <p:nvSpPr>
          <p:cNvPr id="64" name="Rounded Rectangle 63"/>
          <p:cNvSpPr/>
          <p:nvPr/>
        </p:nvSpPr>
        <p:spPr>
          <a:xfrm>
            <a:off x="12330684" y="9381744"/>
            <a:ext cx="5335524"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5" name="TextBox 64"/>
          <p:cNvSpPr txBox="1"/>
          <p:nvPr/>
        </p:nvSpPr>
        <p:spPr>
          <a:xfrm>
            <a:off x="12412980" y="9529106"/>
            <a:ext cx="5170932"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المستودعات</a:t>
            </a:r>
          </a:p>
        </p:txBody>
      </p:sp>
      <p:sp>
        <p:nvSpPr>
          <p:cNvPr id="66" name="Rounded Rectangle 65"/>
          <p:cNvSpPr/>
          <p:nvPr/>
        </p:nvSpPr>
        <p:spPr>
          <a:xfrm>
            <a:off x="6336792" y="7955280"/>
            <a:ext cx="5609844" cy="2194560"/>
          </a:xfrm>
          <a:prstGeom prst="roundRect">
            <a:avLst>
              <a:gd name="adj" fmla="val 14000"/>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7" name="Oval 66"/>
          <p:cNvSpPr/>
          <p:nvPr/>
        </p:nvSpPr>
        <p:spPr>
          <a:xfrm>
            <a:off x="11178540"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8" name="TextBox 67"/>
          <p:cNvSpPr txBox="1"/>
          <p:nvPr/>
        </p:nvSpPr>
        <p:spPr>
          <a:xfrm>
            <a:off x="11324620"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04</a:t>
            </a:r>
          </a:p>
        </p:txBody>
      </p:sp>
      <p:sp>
        <p:nvSpPr>
          <p:cNvPr id="69" name="TextBox 68"/>
          <p:cNvSpPr txBox="1"/>
          <p:nvPr/>
        </p:nvSpPr>
        <p:spPr>
          <a:xfrm>
            <a:off x="6556248" y="8833104"/>
            <a:ext cx="5170932"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تسجيل عملية النقل عبر خطوة Record Transfer.</a:t>
            </a:r>
          </a:p>
        </p:txBody>
      </p:sp>
      <p:sp>
        <p:nvSpPr>
          <p:cNvPr id="70" name="Rounded Rectangle 69"/>
          <p:cNvSpPr/>
          <p:nvPr/>
        </p:nvSpPr>
        <p:spPr>
          <a:xfrm>
            <a:off x="6473952" y="9381744"/>
            <a:ext cx="5335524"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1" name="TextBox 70"/>
          <p:cNvSpPr txBox="1"/>
          <p:nvPr/>
        </p:nvSpPr>
        <p:spPr>
          <a:xfrm>
            <a:off x="6556248" y="9529106"/>
            <a:ext cx="5170932"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المستودعات</a:t>
            </a:r>
          </a:p>
        </p:txBody>
      </p:sp>
      <p:sp>
        <p:nvSpPr>
          <p:cNvPr id="72" name="Rounded Rectangle 71"/>
          <p:cNvSpPr/>
          <p:nvPr/>
        </p:nvSpPr>
        <p:spPr>
          <a:xfrm>
            <a:off x="480060" y="7955280"/>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3" name="Oval 72"/>
          <p:cNvSpPr/>
          <p:nvPr/>
        </p:nvSpPr>
        <p:spPr>
          <a:xfrm>
            <a:off x="5321808"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4" name="TextBox 73"/>
          <p:cNvSpPr txBox="1"/>
          <p:nvPr/>
        </p:nvSpPr>
        <p:spPr>
          <a:xfrm>
            <a:off x="5467888"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05</a:t>
            </a:r>
          </a:p>
        </p:txBody>
      </p:sp>
      <p:sp>
        <p:nvSpPr>
          <p:cNvPr id="75" name="TextBox 74"/>
          <p:cNvSpPr txBox="1"/>
          <p:nvPr/>
        </p:nvSpPr>
        <p:spPr>
          <a:xfrm>
            <a:off x="699516" y="8833104"/>
            <a:ext cx="5170932" cy="267189"/>
          </a:xfrm>
          <a:prstGeom prst="rect">
            <a:avLst/>
          </a:prstGeom>
          <a:noFill/>
        </p:spPr>
        <p:txBody>
          <a:bodyPr wrap="square" lIns="0" tIns="0" rIns="0" bIns="0" anchor="t">
            <a:spAutoFit/>
          </a:bodyPr>
          <a:lstStyle/>
          <a:p>
            <a:pPr algn="r" rtl="1">
              <a:lnSpc>
                <a:spcPct val="115000"/>
              </a:lnSpc>
            </a:pPr>
            <a:r>
              <a:rPr lang="ar-SA" sz="1650" b="1" dirty="0">
                <a:solidFill>
                  <a:srgbClr val="FF0000"/>
                </a:solidFill>
                <a:latin typeface="Arial" panose="020B0604020202020204" pitchFamily="34" charset="0"/>
              </a:rPr>
              <a:t>ادخال الكميات المستلمة من قبل أمين مستودع التجميع.</a:t>
            </a:r>
            <a:endParaRPr sz="1650" b="1" dirty="0">
              <a:solidFill>
                <a:srgbClr val="FF0000"/>
              </a:solidFill>
              <a:latin typeface="Arial" panose="020B0604020202020204" pitchFamily="34" charset="0"/>
            </a:endParaRPr>
          </a:p>
        </p:txBody>
      </p:sp>
      <p:sp>
        <p:nvSpPr>
          <p:cNvPr id="76" name="Rounded Rectangle 75"/>
          <p:cNvSpPr/>
          <p:nvPr/>
        </p:nvSpPr>
        <p:spPr>
          <a:xfrm>
            <a:off x="617220" y="9381744"/>
            <a:ext cx="5335524"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7" name="TextBox 76"/>
          <p:cNvSpPr txBox="1"/>
          <p:nvPr/>
        </p:nvSpPr>
        <p:spPr>
          <a:xfrm>
            <a:off x="699516" y="9529106"/>
            <a:ext cx="5170932" cy="253916"/>
          </a:xfrm>
          <a:prstGeom prst="rect">
            <a:avLst/>
          </a:prstGeom>
          <a:noFill/>
        </p:spPr>
        <p:txBody>
          <a:bodyPr wrap="square" lIns="0" tIns="0" rIns="0" bIns="0" anchor="ctr">
            <a:spAutoFit/>
          </a:bodyPr>
          <a:lstStyle/>
          <a:p>
            <a:pPr algn="ctr" rtl="1">
              <a:lnSpc>
                <a:spcPct val="100000"/>
              </a:lnSpc>
            </a:pPr>
            <a:r>
              <a:rPr sz="1650" b="1" dirty="0" err="1">
                <a:solidFill>
                  <a:srgbClr val="0B3658"/>
                </a:solidFill>
                <a:latin typeface="Arial" panose="020B0604020202020204" pitchFamily="34" charset="0"/>
              </a:rPr>
              <a:t>يدوي</a:t>
            </a:r>
            <a:r>
              <a:rPr sz="1650" b="1" dirty="0">
                <a:solidFill>
                  <a:srgbClr val="0B3658"/>
                </a:solidFill>
                <a:latin typeface="Arial" panose="020B0604020202020204" pitchFamily="34" charset="0"/>
              </a:rPr>
              <a:t> / </a:t>
            </a:r>
            <a:r>
              <a:rPr sz="1650" b="1" dirty="0" err="1">
                <a:solidFill>
                  <a:srgbClr val="0B3658"/>
                </a:solidFill>
                <a:latin typeface="Arial" panose="020B0604020202020204" pitchFamily="34" charset="0"/>
              </a:rPr>
              <a:t>إدارة</a:t>
            </a:r>
            <a:r>
              <a:rPr sz="1650" b="1" dirty="0">
                <a:solidFill>
                  <a:srgbClr val="0B3658"/>
                </a:solidFill>
                <a:latin typeface="Arial" panose="020B0604020202020204" pitchFamily="34" charset="0"/>
              </a:rPr>
              <a:t> المستودعات</a:t>
            </a:r>
          </a:p>
        </p:txBody>
      </p:sp>
      <p:sp>
        <p:nvSpPr>
          <p:cNvPr id="78" name="Rounded Rectangle 78"/>
          <p:cNvSpPr/>
          <p:nvPr/>
        </p:nvSpPr>
        <p:spPr>
          <a:xfrm>
            <a:off x="15304770"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9" name="Oval 79"/>
          <p:cNvSpPr/>
          <p:nvPr/>
        </p:nvSpPr>
        <p:spPr>
          <a:xfrm>
            <a:off x="17007840"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0" name="TextBox 80"/>
          <p:cNvSpPr txBox="1"/>
          <p:nvPr/>
        </p:nvSpPr>
        <p:spPr>
          <a:xfrm>
            <a:off x="17190259"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00</a:t>
            </a:r>
          </a:p>
        </p:txBody>
      </p:sp>
      <p:sp>
        <p:nvSpPr>
          <p:cNvPr id="81" name="TextBox 81"/>
          <p:cNvSpPr txBox="1"/>
          <p:nvPr/>
        </p:nvSpPr>
        <p:spPr>
          <a:xfrm>
            <a:off x="15506528"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82" name="TextBox 82"/>
          <p:cNvSpPr txBox="1"/>
          <p:nvPr/>
        </p:nvSpPr>
        <p:spPr>
          <a:xfrm>
            <a:off x="15383446" y="3774756"/>
            <a:ext cx="2279142" cy="270715"/>
          </a:xfrm>
          <a:prstGeom prst="rect">
            <a:avLst/>
          </a:prstGeom>
          <a:noFill/>
        </p:spPr>
        <p:txBody>
          <a:bodyPr wrap="square" lIns="0" tIns="0" rIns="0" bIns="0" anchor="ctr">
            <a:spAutoFit/>
          </a:bodyPr>
          <a:lstStyle/>
          <a:p>
            <a:pPr algn="ctr" rtl="1">
              <a:lnSpc>
                <a:spcPct val="105000"/>
              </a:lnSpc>
            </a:pPr>
            <a:r>
              <a:rPr lang="ar-SA" b="1" dirty="0">
                <a:solidFill>
                  <a:srgbClr val="FF0000"/>
                </a:solidFill>
                <a:latin typeface="Arial" panose="020B0604020202020204" pitchFamily="34" charset="0"/>
              </a:rPr>
              <a:t>فاتورة من ساب</a:t>
            </a:r>
            <a:endParaRPr b="1" dirty="0">
              <a:solidFill>
                <a:srgbClr val="FF0000"/>
              </a:solidFill>
              <a:latin typeface="Arial" panose="020B0604020202020204" pitchFamily="34" charset="0"/>
            </a:endParaRPr>
          </a:p>
        </p:txBody>
      </p:sp>
      <p:sp>
        <p:nvSpPr>
          <p:cNvPr id="83" name="Isosceles Triangle 83"/>
          <p:cNvSpPr/>
          <p:nvPr/>
        </p:nvSpPr>
        <p:spPr>
          <a:xfrm rot="16200000">
            <a:off x="14955012"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4" name="Rounded Rectangle 84"/>
          <p:cNvSpPr/>
          <p:nvPr/>
        </p:nvSpPr>
        <p:spPr>
          <a:xfrm>
            <a:off x="12339828"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5" name="Oval 85"/>
          <p:cNvSpPr/>
          <p:nvPr/>
        </p:nvSpPr>
        <p:spPr>
          <a:xfrm>
            <a:off x="14042898"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6" name="TextBox 86"/>
          <p:cNvSpPr txBox="1"/>
          <p:nvPr/>
        </p:nvSpPr>
        <p:spPr>
          <a:xfrm>
            <a:off x="14225317"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01</a:t>
            </a:r>
          </a:p>
        </p:txBody>
      </p:sp>
      <p:sp>
        <p:nvSpPr>
          <p:cNvPr id="87" name="TextBox 87"/>
          <p:cNvSpPr txBox="1"/>
          <p:nvPr/>
        </p:nvSpPr>
        <p:spPr>
          <a:xfrm>
            <a:off x="12541586"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88" name="TextBox 88"/>
          <p:cNvSpPr txBox="1"/>
          <p:nvPr/>
        </p:nvSpPr>
        <p:spPr>
          <a:xfrm>
            <a:off x="12449556" y="3763635"/>
            <a:ext cx="227914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طلب تحويل داخلي</a:t>
            </a:r>
          </a:p>
        </p:txBody>
      </p:sp>
      <p:sp>
        <p:nvSpPr>
          <p:cNvPr id="89" name="Isosceles Triangle 89"/>
          <p:cNvSpPr/>
          <p:nvPr/>
        </p:nvSpPr>
        <p:spPr>
          <a:xfrm rot="16200000">
            <a:off x="11990070"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0" name="Rounded Rectangle 90"/>
          <p:cNvSpPr/>
          <p:nvPr/>
        </p:nvSpPr>
        <p:spPr>
          <a:xfrm>
            <a:off x="9374886"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1" name="Oval 91"/>
          <p:cNvSpPr/>
          <p:nvPr/>
        </p:nvSpPr>
        <p:spPr>
          <a:xfrm>
            <a:off x="11077956"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2" name="TextBox 92"/>
          <p:cNvSpPr txBox="1"/>
          <p:nvPr/>
        </p:nvSpPr>
        <p:spPr>
          <a:xfrm>
            <a:off x="11260375"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02</a:t>
            </a:r>
          </a:p>
        </p:txBody>
      </p:sp>
      <p:sp>
        <p:nvSpPr>
          <p:cNvPr id="93" name="TextBox 93"/>
          <p:cNvSpPr txBox="1"/>
          <p:nvPr/>
        </p:nvSpPr>
        <p:spPr>
          <a:xfrm>
            <a:off x="9576644"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94" name="TextBox 94"/>
          <p:cNvSpPr txBox="1"/>
          <p:nvPr/>
        </p:nvSpPr>
        <p:spPr>
          <a:xfrm>
            <a:off x="9484614" y="3763635"/>
            <a:ext cx="227914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جاري النقل</a:t>
            </a:r>
          </a:p>
        </p:txBody>
      </p:sp>
      <p:sp>
        <p:nvSpPr>
          <p:cNvPr id="95" name="Isosceles Triangle 95"/>
          <p:cNvSpPr/>
          <p:nvPr/>
        </p:nvSpPr>
        <p:spPr>
          <a:xfrm rot="16200000">
            <a:off x="9025128"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6" name="Rounded Rectangle 96"/>
          <p:cNvSpPr/>
          <p:nvPr/>
        </p:nvSpPr>
        <p:spPr>
          <a:xfrm>
            <a:off x="6409944" y="2400300"/>
            <a:ext cx="2498598" cy="2125980"/>
          </a:xfrm>
          <a:prstGeom prst="roundRect">
            <a:avLst>
              <a:gd name="adj" fmla="val 16000"/>
            </a:avLst>
          </a:prstGeom>
          <a:solidFill>
            <a:srgbClr val="FF0000"/>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7" name="Oval 97"/>
          <p:cNvSpPr/>
          <p:nvPr/>
        </p:nvSpPr>
        <p:spPr>
          <a:xfrm>
            <a:off x="8113014"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8" name="TextBox 98"/>
          <p:cNvSpPr txBox="1"/>
          <p:nvPr/>
        </p:nvSpPr>
        <p:spPr>
          <a:xfrm>
            <a:off x="8295433"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03</a:t>
            </a:r>
          </a:p>
        </p:txBody>
      </p:sp>
      <p:sp>
        <p:nvSpPr>
          <p:cNvPr id="99" name="TextBox 99"/>
          <p:cNvSpPr txBox="1"/>
          <p:nvPr/>
        </p:nvSpPr>
        <p:spPr>
          <a:xfrm>
            <a:off x="6611702"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00" name="TextBox 100"/>
          <p:cNvSpPr txBox="1"/>
          <p:nvPr/>
        </p:nvSpPr>
        <p:spPr>
          <a:xfrm>
            <a:off x="6519672" y="3763635"/>
            <a:ext cx="227914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التحقق من الجاهزية وحجز الموعد</a:t>
            </a:r>
          </a:p>
        </p:txBody>
      </p:sp>
      <p:sp>
        <p:nvSpPr>
          <p:cNvPr id="101" name="Isosceles Triangle 101"/>
          <p:cNvSpPr/>
          <p:nvPr/>
        </p:nvSpPr>
        <p:spPr>
          <a:xfrm rot="16200000">
            <a:off x="6060186"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2" name="Rounded Rectangle 102"/>
          <p:cNvSpPr/>
          <p:nvPr/>
        </p:nvSpPr>
        <p:spPr>
          <a:xfrm>
            <a:off x="3445002" y="2400300"/>
            <a:ext cx="2498598" cy="2125980"/>
          </a:xfrm>
          <a:prstGeom prst="roundRect">
            <a:avLst>
              <a:gd name="adj" fmla="val 16000"/>
            </a:avLst>
          </a:prstGeom>
          <a:solidFill>
            <a:srgbClr val="FF0000"/>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3" name="Oval 103"/>
          <p:cNvSpPr/>
          <p:nvPr/>
        </p:nvSpPr>
        <p:spPr>
          <a:xfrm>
            <a:off x="5148072"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4" name="TextBox 104"/>
          <p:cNvSpPr txBox="1"/>
          <p:nvPr/>
        </p:nvSpPr>
        <p:spPr>
          <a:xfrm>
            <a:off x="5330491"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04</a:t>
            </a:r>
          </a:p>
        </p:txBody>
      </p:sp>
      <p:sp>
        <p:nvSpPr>
          <p:cNvPr id="105" name="TextBox 105"/>
          <p:cNvSpPr txBox="1"/>
          <p:nvPr/>
        </p:nvSpPr>
        <p:spPr>
          <a:xfrm>
            <a:off x="3646760"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06" name="TextBox 106"/>
          <p:cNvSpPr txBox="1"/>
          <p:nvPr/>
        </p:nvSpPr>
        <p:spPr>
          <a:xfrm>
            <a:off x="3554730" y="3763635"/>
            <a:ext cx="227914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تسجيل النقل</a:t>
            </a:r>
          </a:p>
        </p:txBody>
      </p:sp>
      <p:sp>
        <p:nvSpPr>
          <p:cNvPr id="107" name="Isosceles Triangle 107"/>
          <p:cNvSpPr/>
          <p:nvPr/>
        </p:nvSpPr>
        <p:spPr>
          <a:xfrm rot="16200000">
            <a:off x="3095244"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8" name="Rounded Rectangle 108"/>
          <p:cNvSpPr/>
          <p:nvPr/>
        </p:nvSpPr>
        <p:spPr>
          <a:xfrm>
            <a:off x="480060"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9" name="Oval 109"/>
          <p:cNvSpPr/>
          <p:nvPr/>
        </p:nvSpPr>
        <p:spPr>
          <a:xfrm>
            <a:off x="2183130"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0" name="TextBox 110"/>
          <p:cNvSpPr txBox="1"/>
          <p:nvPr/>
        </p:nvSpPr>
        <p:spPr>
          <a:xfrm>
            <a:off x="2365549"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05</a:t>
            </a:r>
          </a:p>
        </p:txBody>
      </p:sp>
      <p:sp>
        <p:nvSpPr>
          <p:cNvPr id="111" name="TextBox 111"/>
          <p:cNvSpPr txBox="1"/>
          <p:nvPr/>
        </p:nvSpPr>
        <p:spPr>
          <a:xfrm>
            <a:off x="681818"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12" name="TextBox 112"/>
          <p:cNvSpPr txBox="1"/>
          <p:nvPr/>
        </p:nvSpPr>
        <p:spPr>
          <a:xfrm>
            <a:off x="589788" y="3773702"/>
            <a:ext cx="2279142" cy="270715"/>
          </a:xfrm>
          <a:prstGeom prst="rect">
            <a:avLst/>
          </a:prstGeom>
          <a:noFill/>
        </p:spPr>
        <p:txBody>
          <a:bodyPr wrap="square" lIns="0" tIns="0" rIns="0" bIns="0" anchor="ctr">
            <a:spAutoFit/>
          </a:bodyPr>
          <a:lstStyle/>
          <a:p>
            <a:pPr algn="ctr" rtl="1">
              <a:lnSpc>
                <a:spcPct val="105000"/>
              </a:lnSpc>
            </a:pPr>
            <a:r>
              <a:rPr b="1" dirty="0" err="1">
                <a:solidFill>
                  <a:srgbClr val="FF0000"/>
                </a:solidFill>
                <a:latin typeface="Arial" panose="020B0604020202020204" pitchFamily="34" charset="0"/>
              </a:rPr>
              <a:t>الاستلام</a:t>
            </a:r>
            <a:r>
              <a:rPr lang="ar-SA" b="1" dirty="0">
                <a:solidFill>
                  <a:srgbClr val="FF0000"/>
                </a:solidFill>
                <a:latin typeface="Arial" panose="020B0604020202020204" pitchFamily="34" charset="0"/>
              </a:rPr>
              <a:t> في مستودع التجميع</a:t>
            </a:r>
            <a:endParaRPr b="1" dirty="0">
              <a:solidFill>
                <a:srgbClr val="FF0000"/>
              </a:solidFill>
              <a:latin typeface="Arial" panose="020B0604020202020204" pitchFamily="34" charset="0"/>
            </a:endParaRPr>
          </a:p>
        </p:txBody>
      </p:sp>
    </p:spTree>
    <p:extLst>
      <p:ext uri="{BB962C8B-B14F-4D97-AF65-F5344CB8AC3E}">
        <p14:creationId xmlns:p14="http://schemas.microsoft.com/office/powerpoint/2010/main" val="3140845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18287543"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 name="TextBox 2"/>
          <p:cNvSpPr txBox="1"/>
          <p:nvPr/>
        </p:nvSpPr>
        <p:spPr>
          <a:xfrm>
            <a:off x="5175892" y="380701"/>
            <a:ext cx="7931660" cy="692497"/>
          </a:xfrm>
          <a:prstGeom prst="rect">
            <a:avLst/>
          </a:prstGeom>
          <a:noFill/>
        </p:spPr>
        <p:txBody>
          <a:bodyPr wrap="none" lIns="0" tIns="0" rIns="0" bIns="0" anchor="ctr">
            <a:spAutoFit/>
          </a:bodyPr>
          <a:lstStyle/>
          <a:p>
            <a:pPr algn="ctr" rtl="1">
              <a:lnSpc>
                <a:spcPct val="100000"/>
              </a:lnSpc>
            </a:pPr>
            <a:r>
              <a:rPr sz="4500" b="1" dirty="0" err="1">
                <a:solidFill>
                  <a:srgbClr val="FF0000"/>
                </a:solidFill>
                <a:latin typeface="Arial" panose="020B0604020202020204" pitchFamily="34" charset="0"/>
              </a:rPr>
              <a:t>خدمة</a:t>
            </a:r>
            <a:r>
              <a:rPr sz="4500" b="1" dirty="0">
                <a:solidFill>
                  <a:srgbClr val="FF0000"/>
                </a:solidFill>
                <a:latin typeface="Arial" panose="020B0604020202020204" pitchFamily="34" charset="0"/>
              </a:rPr>
              <a:t> </a:t>
            </a:r>
            <a:r>
              <a:rPr lang="ar-SA" sz="4500" b="1" dirty="0">
                <a:solidFill>
                  <a:srgbClr val="FF0000"/>
                </a:solidFill>
                <a:latin typeface="Arial" panose="020B0604020202020204" pitchFamily="34" charset="0"/>
              </a:rPr>
              <a:t>استلام العميل البضاعة من المستودع</a:t>
            </a:r>
            <a:endParaRPr sz="4500" b="1" dirty="0">
              <a:solidFill>
                <a:srgbClr val="FF0000"/>
              </a:solidFill>
              <a:latin typeface="Arial" panose="020B0604020202020204" pitchFamily="34" charset="0"/>
            </a:endParaRPr>
          </a:p>
        </p:txBody>
      </p:sp>
      <p:sp>
        <p:nvSpPr>
          <p:cNvPr id="4" name="Rounded Rectangle 3"/>
          <p:cNvSpPr/>
          <p:nvPr/>
        </p:nvSpPr>
        <p:spPr>
          <a:xfrm>
            <a:off x="5438394" y="1261872"/>
            <a:ext cx="7406640" cy="603504"/>
          </a:xfrm>
          <a:prstGeom prst="roundRect">
            <a:avLst>
              <a:gd name="adj" fmla="val 50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 name="TextBox 4"/>
          <p:cNvSpPr txBox="1"/>
          <p:nvPr/>
        </p:nvSpPr>
        <p:spPr>
          <a:xfrm>
            <a:off x="7751911" y="1419353"/>
            <a:ext cx="2779607" cy="288541"/>
          </a:xfrm>
          <a:prstGeom prst="rect">
            <a:avLst/>
          </a:prstGeom>
          <a:noFill/>
        </p:spPr>
        <p:txBody>
          <a:bodyPr wrap="none" lIns="0" tIns="0" rIns="0" bIns="0" anchor="ctr">
            <a:spAutoFit/>
          </a:bodyPr>
          <a:lstStyle/>
          <a:p>
            <a:pPr algn="ctr" rtl="1">
              <a:lnSpc>
                <a:spcPct val="100000"/>
              </a:lnSpc>
            </a:pPr>
            <a:r>
              <a:rPr sz="1875" b="1">
                <a:solidFill>
                  <a:srgbClr val="000000"/>
                </a:solidFill>
                <a:latin typeface="Arial" panose="020B0604020202020204" pitchFamily="34" charset="0"/>
              </a:rPr>
              <a:t>الجهة المسؤولة: إدارة المستودعات</a:t>
            </a:r>
          </a:p>
        </p:txBody>
      </p:sp>
      <p:sp>
        <p:nvSpPr>
          <p:cNvPr id="41" name="TextBox 40"/>
          <p:cNvSpPr txBox="1"/>
          <p:nvPr/>
        </p:nvSpPr>
        <p:spPr>
          <a:xfrm>
            <a:off x="480060" y="4775507"/>
            <a:ext cx="17323308" cy="461665"/>
          </a:xfrm>
          <a:prstGeom prst="rect">
            <a:avLst/>
          </a:prstGeom>
          <a:noFill/>
        </p:spPr>
        <p:txBody>
          <a:bodyPr wrap="square" lIns="0" tIns="0" rIns="0" bIns="0" anchor="ctr">
            <a:spAutoFit/>
          </a:bodyPr>
          <a:lstStyle/>
          <a:p>
            <a:pPr algn="ctr" rtl="1">
              <a:lnSpc>
                <a:spcPct val="100000"/>
              </a:lnSpc>
            </a:pPr>
            <a:r>
              <a:rPr sz="3000" b="1">
                <a:solidFill>
                  <a:srgbClr val="1960BD"/>
                </a:solidFill>
                <a:latin typeface="Arial" panose="020B0604020202020204" pitchFamily="34" charset="0"/>
              </a:rPr>
              <a:t>ملخص الدورة</a:t>
            </a:r>
          </a:p>
        </p:txBody>
      </p:sp>
      <p:sp>
        <p:nvSpPr>
          <p:cNvPr id="42" name="Rounded Rectangle 41"/>
          <p:cNvSpPr/>
          <p:nvPr/>
        </p:nvSpPr>
        <p:spPr>
          <a:xfrm>
            <a:off x="12193524" y="5541264"/>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3" name="Oval 42"/>
          <p:cNvSpPr/>
          <p:nvPr/>
        </p:nvSpPr>
        <p:spPr>
          <a:xfrm>
            <a:off x="17035272"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4" name="TextBox 43"/>
          <p:cNvSpPr txBox="1"/>
          <p:nvPr/>
        </p:nvSpPr>
        <p:spPr>
          <a:xfrm>
            <a:off x="17181352"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00</a:t>
            </a:r>
          </a:p>
        </p:txBody>
      </p:sp>
      <p:sp>
        <p:nvSpPr>
          <p:cNvPr id="45" name="TextBox 44"/>
          <p:cNvSpPr txBox="1"/>
          <p:nvPr/>
        </p:nvSpPr>
        <p:spPr>
          <a:xfrm>
            <a:off x="12412980" y="6419088"/>
            <a:ext cx="5170932" cy="267189"/>
          </a:xfrm>
          <a:prstGeom prst="rect">
            <a:avLst/>
          </a:prstGeom>
          <a:noFill/>
        </p:spPr>
        <p:txBody>
          <a:bodyPr wrap="square" lIns="0" tIns="0" rIns="0" bIns="0" anchor="t">
            <a:spAutoFit/>
          </a:bodyPr>
          <a:lstStyle/>
          <a:p>
            <a:pPr algn="r" rtl="1">
              <a:lnSpc>
                <a:spcPct val="115000"/>
              </a:lnSpc>
            </a:pPr>
            <a:r>
              <a:rPr lang="ar-SA" sz="1650" b="1" dirty="0">
                <a:solidFill>
                  <a:srgbClr val="FF0000"/>
                </a:solidFill>
                <a:latin typeface="Arial" panose="020B0604020202020204" pitchFamily="34" charset="0"/>
              </a:rPr>
              <a:t>بضاعة العميل أو جزء منها غير موجود في مستودع التجميع</a:t>
            </a:r>
            <a:r>
              <a:rPr sz="1650" b="1" dirty="0">
                <a:solidFill>
                  <a:srgbClr val="FF0000"/>
                </a:solidFill>
                <a:latin typeface="Arial" panose="020B0604020202020204" pitchFamily="34" charset="0"/>
              </a:rPr>
              <a:t>.</a:t>
            </a:r>
          </a:p>
        </p:txBody>
      </p:sp>
      <p:sp>
        <p:nvSpPr>
          <p:cNvPr id="46" name="Rounded Rectangle 45"/>
          <p:cNvSpPr/>
          <p:nvPr/>
        </p:nvSpPr>
        <p:spPr>
          <a:xfrm>
            <a:off x="12330684" y="6967728"/>
            <a:ext cx="5335524"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7" name="TextBox 46"/>
          <p:cNvSpPr txBox="1"/>
          <p:nvPr/>
        </p:nvSpPr>
        <p:spPr>
          <a:xfrm>
            <a:off x="12412980" y="7115090"/>
            <a:ext cx="5170932"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المستودعات</a:t>
            </a:r>
          </a:p>
        </p:txBody>
      </p:sp>
      <p:sp>
        <p:nvSpPr>
          <p:cNvPr id="48" name="Rounded Rectangle 47"/>
          <p:cNvSpPr/>
          <p:nvPr/>
        </p:nvSpPr>
        <p:spPr>
          <a:xfrm>
            <a:off x="6336792" y="5541264"/>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9" name="Oval 48"/>
          <p:cNvSpPr/>
          <p:nvPr/>
        </p:nvSpPr>
        <p:spPr>
          <a:xfrm>
            <a:off x="11178540"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0" name="TextBox 49"/>
          <p:cNvSpPr txBox="1"/>
          <p:nvPr/>
        </p:nvSpPr>
        <p:spPr>
          <a:xfrm>
            <a:off x="11324620"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01</a:t>
            </a:r>
          </a:p>
        </p:txBody>
      </p:sp>
      <p:sp>
        <p:nvSpPr>
          <p:cNvPr id="51" name="TextBox 50"/>
          <p:cNvSpPr txBox="1"/>
          <p:nvPr/>
        </p:nvSpPr>
        <p:spPr>
          <a:xfrm>
            <a:off x="6556248" y="6419088"/>
            <a:ext cx="5170932" cy="267189"/>
          </a:xfrm>
          <a:prstGeom prst="rect">
            <a:avLst/>
          </a:prstGeom>
          <a:noFill/>
        </p:spPr>
        <p:txBody>
          <a:bodyPr wrap="square" lIns="0" tIns="0" rIns="0" bIns="0" anchor="t">
            <a:spAutoFit/>
          </a:bodyPr>
          <a:lstStyle/>
          <a:p>
            <a:pPr algn="r" rtl="1">
              <a:lnSpc>
                <a:spcPct val="115000"/>
              </a:lnSpc>
            </a:pPr>
            <a:r>
              <a:rPr lang="ar-SA" sz="1650" b="1" dirty="0">
                <a:solidFill>
                  <a:srgbClr val="FF0000"/>
                </a:solidFill>
                <a:latin typeface="Arial" panose="020B0604020202020204" pitchFamily="34" charset="0"/>
              </a:rPr>
              <a:t>تسجيل الكميات المرسلة من قبل أمين مستودع المصدر.</a:t>
            </a:r>
            <a:endParaRPr sz="1650" b="1" dirty="0">
              <a:solidFill>
                <a:srgbClr val="FF0000"/>
              </a:solidFill>
              <a:latin typeface="Arial" panose="020B0604020202020204" pitchFamily="34" charset="0"/>
            </a:endParaRPr>
          </a:p>
        </p:txBody>
      </p:sp>
      <p:sp>
        <p:nvSpPr>
          <p:cNvPr id="52" name="Rounded Rectangle 51"/>
          <p:cNvSpPr/>
          <p:nvPr/>
        </p:nvSpPr>
        <p:spPr>
          <a:xfrm>
            <a:off x="6473952" y="6967728"/>
            <a:ext cx="5335524"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3" name="TextBox 52"/>
          <p:cNvSpPr txBox="1"/>
          <p:nvPr/>
        </p:nvSpPr>
        <p:spPr>
          <a:xfrm>
            <a:off x="6556248" y="7115090"/>
            <a:ext cx="5170932"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المستودعات</a:t>
            </a:r>
          </a:p>
        </p:txBody>
      </p:sp>
      <p:sp>
        <p:nvSpPr>
          <p:cNvPr id="54" name="Rounded Rectangle 53"/>
          <p:cNvSpPr/>
          <p:nvPr/>
        </p:nvSpPr>
        <p:spPr>
          <a:xfrm>
            <a:off x="480060" y="5541264"/>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5" name="Oval 54"/>
          <p:cNvSpPr/>
          <p:nvPr/>
        </p:nvSpPr>
        <p:spPr>
          <a:xfrm>
            <a:off x="5321808"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6" name="TextBox 55"/>
          <p:cNvSpPr txBox="1"/>
          <p:nvPr/>
        </p:nvSpPr>
        <p:spPr>
          <a:xfrm>
            <a:off x="5467887"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02</a:t>
            </a:r>
          </a:p>
        </p:txBody>
      </p:sp>
      <p:sp>
        <p:nvSpPr>
          <p:cNvPr id="57" name="TextBox 56"/>
          <p:cNvSpPr txBox="1"/>
          <p:nvPr/>
        </p:nvSpPr>
        <p:spPr>
          <a:xfrm>
            <a:off x="699516" y="6419088"/>
            <a:ext cx="5170932" cy="559192"/>
          </a:xfrm>
          <a:prstGeom prst="rect">
            <a:avLst/>
          </a:prstGeom>
          <a:noFill/>
        </p:spPr>
        <p:txBody>
          <a:bodyPr wrap="square" lIns="0" tIns="0" rIns="0" bIns="0" anchor="t">
            <a:spAutoFit/>
          </a:bodyPr>
          <a:lstStyle/>
          <a:p>
            <a:pPr algn="r" rtl="1">
              <a:lnSpc>
                <a:spcPct val="115000"/>
              </a:lnSpc>
            </a:pPr>
            <a:r>
              <a:rPr sz="1650" dirty="0" err="1">
                <a:solidFill>
                  <a:srgbClr val="1E1E1E"/>
                </a:solidFill>
                <a:latin typeface="Arial" panose="020B0604020202020204" pitchFamily="34" charset="0"/>
              </a:rPr>
              <a:t>انتقال</a:t>
            </a:r>
            <a:r>
              <a:rPr sz="1650" dirty="0">
                <a:solidFill>
                  <a:srgbClr val="1E1E1E"/>
                </a:solidFill>
                <a:latin typeface="Arial" panose="020B0604020202020204" pitchFamily="34" charset="0"/>
              </a:rPr>
              <a:t> </a:t>
            </a:r>
            <a:r>
              <a:rPr sz="1650" dirty="0" err="1">
                <a:solidFill>
                  <a:srgbClr val="1E1E1E"/>
                </a:solidFill>
                <a:latin typeface="Arial" panose="020B0604020202020204" pitchFamily="34" charset="0"/>
              </a:rPr>
              <a:t>الطلب</a:t>
            </a:r>
            <a:r>
              <a:rPr sz="1650" dirty="0">
                <a:solidFill>
                  <a:srgbClr val="1E1E1E"/>
                </a:solidFill>
                <a:latin typeface="Arial" panose="020B0604020202020204" pitchFamily="34" charset="0"/>
              </a:rPr>
              <a:t> </a:t>
            </a:r>
            <a:r>
              <a:rPr sz="1650" dirty="0" err="1">
                <a:solidFill>
                  <a:srgbClr val="1E1E1E"/>
                </a:solidFill>
                <a:latin typeface="Arial" panose="020B0604020202020204" pitchFamily="34" charset="0"/>
              </a:rPr>
              <a:t>إلى</a:t>
            </a:r>
            <a:r>
              <a:rPr sz="1650" dirty="0">
                <a:solidFill>
                  <a:srgbClr val="1E1E1E"/>
                </a:solidFill>
                <a:latin typeface="Arial" panose="020B0604020202020204" pitchFamily="34" charset="0"/>
              </a:rPr>
              <a:t> </a:t>
            </a:r>
            <a:r>
              <a:rPr sz="1650" dirty="0" err="1">
                <a:solidFill>
                  <a:srgbClr val="1E1E1E"/>
                </a:solidFill>
                <a:latin typeface="Arial" panose="020B0604020202020204" pitchFamily="34" charset="0"/>
              </a:rPr>
              <a:t>مرحلة</a:t>
            </a:r>
            <a:r>
              <a:rPr sz="1650" dirty="0">
                <a:solidFill>
                  <a:srgbClr val="1E1E1E"/>
                </a:solidFill>
                <a:latin typeface="Arial" panose="020B0604020202020204" pitchFamily="34" charset="0"/>
              </a:rPr>
              <a:t> «</a:t>
            </a:r>
            <a:r>
              <a:rPr sz="1650" dirty="0" err="1">
                <a:solidFill>
                  <a:srgbClr val="1E1E1E"/>
                </a:solidFill>
                <a:latin typeface="Arial" panose="020B0604020202020204" pitchFamily="34" charset="0"/>
              </a:rPr>
              <a:t>جاري</a:t>
            </a:r>
            <a:r>
              <a:rPr sz="1650" dirty="0">
                <a:solidFill>
                  <a:srgbClr val="1E1E1E"/>
                </a:solidFill>
                <a:latin typeface="Arial" panose="020B0604020202020204" pitchFamily="34" charset="0"/>
              </a:rPr>
              <a:t> </a:t>
            </a:r>
            <a:r>
              <a:rPr sz="1650" dirty="0" err="1">
                <a:solidFill>
                  <a:srgbClr val="1E1E1E"/>
                </a:solidFill>
                <a:latin typeface="Arial" panose="020B0604020202020204" pitchFamily="34" charset="0"/>
              </a:rPr>
              <a:t>النقل</a:t>
            </a:r>
            <a:r>
              <a:rPr sz="1650" dirty="0">
                <a:solidFill>
                  <a:srgbClr val="1E1E1E"/>
                </a:solidFill>
                <a:latin typeface="Arial" panose="020B0604020202020204" pitchFamily="34" charset="0"/>
              </a:rPr>
              <a:t>»، </a:t>
            </a:r>
            <a:r>
              <a:rPr sz="1650" dirty="0" err="1">
                <a:solidFill>
                  <a:srgbClr val="1E1E1E"/>
                </a:solidFill>
                <a:latin typeface="Arial" panose="020B0604020202020204" pitchFamily="34" charset="0"/>
              </a:rPr>
              <a:t>ونقل</a:t>
            </a:r>
            <a:r>
              <a:rPr sz="1650" dirty="0">
                <a:solidFill>
                  <a:srgbClr val="1E1E1E"/>
                </a:solidFill>
                <a:latin typeface="Arial" panose="020B0604020202020204" pitchFamily="34" charset="0"/>
              </a:rPr>
              <a:t> </a:t>
            </a:r>
            <a:r>
              <a:rPr sz="1650" dirty="0" err="1">
                <a:solidFill>
                  <a:srgbClr val="1E1E1E"/>
                </a:solidFill>
                <a:latin typeface="Arial" panose="020B0604020202020204" pitchFamily="34" charset="0"/>
              </a:rPr>
              <a:t>البضاعة</a:t>
            </a:r>
            <a:r>
              <a:rPr sz="1650" dirty="0">
                <a:solidFill>
                  <a:srgbClr val="1E1E1E"/>
                </a:solidFill>
                <a:latin typeface="Arial" panose="020B0604020202020204" pitchFamily="34" charset="0"/>
              </a:rPr>
              <a:t> </a:t>
            </a:r>
            <a:r>
              <a:rPr sz="1650" dirty="0" err="1">
                <a:solidFill>
                  <a:srgbClr val="1E1E1E"/>
                </a:solidFill>
                <a:latin typeface="Arial" panose="020B0604020202020204" pitchFamily="34" charset="0"/>
              </a:rPr>
              <a:t>إلى</a:t>
            </a:r>
            <a:r>
              <a:rPr sz="1650" dirty="0">
                <a:solidFill>
                  <a:srgbClr val="1E1E1E"/>
                </a:solidFill>
                <a:latin typeface="Arial" panose="020B0604020202020204" pitchFamily="34" charset="0"/>
              </a:rPr>
              <a:t> </a:t>
            </a:r>
            <a:r>
              <a:rPr sz="1650" dirty="0" err="1">
                <a:solidFill>
                  <a:srgbClr val="1E1E1E"/>
                </a:solidFill>
                <a:latin typeface="Arial" panose="020B0604020202020204" pitchFamily="34" charset="0"/>
              </a:rPr>
              <a:t>مستودع</a:t>
            </a:r>
            <a:r>
              <a:rPr sz="1650" dirty="0">
                <a:solidFill>
                  <a:srgbClr val="1E1E1E"/>
                </a:solidFill>
                <a:latin typeface="Arial" panose="020B0604020202020204" pitchFamily="34" charset="0"/>
              </a:rPr>
              <a:t> </a:t>
            </a:r>
            <a:r>
              <a:rPr sz="1650" dirty="0" err="1">
                <a:solidFill>
                  <a:srgbClr val="1E1E1E"/>
                </a:solidFill>
                <a:latin typeface="Arial" panose="020B0604020202020204" pitchFamily="34" charset="0"/>
              </a:rPr>
              <a:t>التجم</a:t>
            </a:r>
            <a:r>
              <a:rPr lang="ar-SA" sz="1650" dirty="0">
                <a:solidFill>
                  <a:srgbClr val="1E1E1E"/>
                </a:solidFill>
                <a:latin typeface="Arial" panose="020B0604020202020204" pitchFamily="34" charset="0"/>
              </a:rPr>
              <a:t>ي</a:t>
            </a:r>
            <a:r>
              <a:rPr sz="1650" dirty="0">
                <a:solidFill>
                  <a:srgbClr val="1E1E1E"/>
                </a:solidFill>
                <a:latin typeface="Arial" panose="020B0604020202020204" pitchFamily="34" charset="0"/>
              </a:rPr>
              <a:t>ع </a:t>
            </a:r>
            <a:r>
              <a:rPr sz="1650" dirty="0" err="1">
                <a:solidFill>
                  <a:srgbClr val="1E1E1E"/>
                </a:solidFill>
                <a:latin typeface="Arial" panose="020B0604020202020204" pitchFamily="34" charset="0"/>
              </a:rPr>
              <a:t>أثناء</a:t>
            </a:r>
            <a:r>
              <a:rPr sz="1650" dirty="0">
                <a:solidFill>
                  <a:srgbClr val="1E1E1E"/>
                </a:solidFill>
                <a:latin typeface="Arial" panose="020B0604020202020204" pitchFamily="34" charset="0"/>
              </a:rPr>
              <a:t> </a:t>
            </a:r>
            <a:r>
              <a:rPr sz="1650" dirty="0" err="1">
                <a:solidFill>
                  <a:srgbClr val="1E1E1E"/>
                </a:solidFill>
                <a:latin typeface="Arial" panose="020B0604020202020204" pitchFamily="34" charset="0"/>
              </a:rPr>
              <a:t>تحركها</a:t>
            </a:r>
            <a:r>
              <a:rPr sz="1650" dirty="0">
                <a:solidFill>
                  <a:srgbClr val="1E1E1E"/>
                </a:solidFill>
                <a:latin typeface="Arial" panose="020B0604020202020204" pitchFamily="34" charset="0"/>
              </a:rPr>
              <a:t>.</a:t>
            </a:r>
          </a:p>
        </p:txBody>
      </p:sp>
      <p:sp>
        <p:nvSpPr>
          <p:cNvPr id="58" name="Rounded Rectangle 57"/>
          <p:cNvSpPr/>
          <p:nvPr/>
        </p:nvSpPr>
        <p:spPr>
          <a:xfrm>
            <a:off x="617220" y="6967728"/>
            <a:ext cx="5335524"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9" name="TextBox 58"/>
          <p:cNvSpPr txBox="1"/>
          <p:nvPr/>
        </p:nvSpPr>
        <p:spPr>
          <a:xfrm>
            <a:off x="699516" y="7115090"/>
            <a:ext cx="5170932"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المستودعات</a:t>
            </a:r>
          </a:p>
        </p:txBody>
      </p:sp>
      <p:sp>
        <p:nvSpPr>
          <p:cNvPr id="60" name="Rounded Rectangle 59"/>
          <p:cNvSpPr/>
          <p:nvPr/>
        </p:nvSpPr>
        <p:spPr>
          <a:xfrm>
            <a:off x="12193524" y="7955280"/>
            <a:ext cx="5609844" cy="2194560"/>
          </a:xfrm>
          <a:prstGeom prst="roundRect">
            <a:avLst>
              <a:gd name="adj" fmla="val 14000"/>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1" name="Oval 60"/>
          <p:cNvSpPr/>
          <p:nvPr/>
        </p:nvSpPr>
        <p:spPr>
          <a:xfrm>
            <a:off x="17035272"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2" name="TextBox 61"/>
          <p:cNvSpPr txBox="1"/>
          <p:nvPr/>
        </p:nvSpPr>
        <p:spPr>
          <a:xfrm>
            <a:off x="17181352"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03</a:t>
            </a:r>
          </a:p>
        </p:txBody>
      </p:sp>
      <p:sp>
        <p:nvSpPr>
          <p:cNvPr id="63" name="TextBox 62"/>
          <p:cNvSpPr txBox="1"/>
          <p:nvPr/>
        </p:nvSpPr>
        <p:spPr>
          <a:xfrm>
            <a:off x="12412980" y="8833105"/>
            <a:ext cx="5170932"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التحقق من جاهزية البضاعة وحجز الموعد المناسب.</a:t>
            </a:r>
          </a:p>
        </p:txBody>
      </p:sp>
      <p:sp>
        <p:nvSpPr>
          <p:cNvPr id="64" name="Rounded Rectangle 63"/>
          <p:cNvSpPr/>
          <p:nvPr/>
        </p:nvSpPr>
        <p:spPr>
          <a:xfrm>
            <a:off x="12330684" y="9381744"/>
            <a:ext cx="5335524"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5" name="TextBox 64"/>
          <p:cNvSpPr txBox="1"/>
          <p:nvPr/>
        </p:nvSpPr>
        <p:spPr>
          <a:xfrm>
            <a:off x="12412980" y="9529106"/>
            <a:ext cx="5170932"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المستودعات</a:t>
            </a:r>
          </a:p>
        </p:txBody>
      </p:sp>
      <p:sp>
        <p:nvSpPr>
          <p:cNvPr id="66" name="Rounded Rectangle 65"/>
          <p:cNvSpPr/>
          <p:nvPr/>
        </p:nvSpPr>
        <p:spPr>
          <a:xfrm>
            <a:off x="6336792" y="7955280"/>
            <a:ext cx="5609844" cy="2194560"/>
          </a:xfrm>
          <a:prstGeom prst="roundRect">
            <a:avLst>
              <a:gd name="adj" fmla="val 14000"/>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7" name="Oval 66"/>
          <p:cNvSpPr/>
          <p:nvPr/>
        </p:nvSpPr>
        <p:spPr>
          <a:xfrm>
            <a:off x="11178540"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8" name="TextBox 67"/>
          <p:cNvSpPr txBox="1"/>
          <p:nvPr/>
        </p:nvSpPr>
        <p:spPr>
          <a:xfrm>
            <a:off x="11324620"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04</a:t>
            </a:r>
          </a:p>
        </p:txBody>
      </p:sp>
      <p:sp>
        <p:nvSpPr>
          <p:cNvPr id="69" name="TextBox 68"/>
          <p:cNvSpPr txBox="1"/>
          <p:nvPr/>
        </p:nvSpPr>
        <p:spPr>
          <a:xfrm>
            <a:off x="6556248" y="8833104"/>
            <a:ext cx="5170932"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تسجيل عملية النقل عبر خطوة Record Transfer.</a:t>
            </a:r>
          </a:p>
        </p:txBody>
      </p:sp>
      <p:sp>
        <p:nvSpPr>
          <p:cNvPr id="70" name="Rounded Rectangle 69"/>
          <p:cNvSpPr/>
          <p:nvPr/>
        </p:nvSpPr>
        <p:spPr>
          <a:xfrm>
            <a:off x="6473952" y="9381744"/>
            <a:ext cx="5335524"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1" name="TextBox 70"/>
          <p:cNvSpPr txBox="1"/>
          <p:nvPr/>
        </p:nvSpPr>
        <p:spPr>
          <a:xfrm>
            <a:off x="6556248" y="9529106"/>
            <a:ext cx="5170932"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المستودعات</a:t>
            </a:r>
          </a:p>
        </p:txBody>
      </p:sp>
      <p:sp>
        <p:nvSpPr>
          <p:cNvPr id="72" name="Rounded Rectangle 71"/>
          <p:cNvSpPr/>
          <p:nvPr/>
        </p:nvSpPr>
        <p:spPr>
          <a:xfrm>
            <a:off x="480060" y="7955280"/>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3" name="Oval 72"/>
          <p:cNvSpPr/>
          <p:nvPr/>
        </p:nvSpPr>
        <p:spPr>
          <a:xfrm>
            <a:off x="5321808"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4" name="TextBox 73"/>
          <p:cNvSpPr txBox="1"/>
          <p:nvPr/>
        </p:nvSpPr>
        <p:spPr>
          <a:xfrm>
            <a:off x="5467888"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05</a:t>
            </a:r>
          </a:p>
        </p:txBody>
      </p:sp>
      <p:sp>
        <p:nvSpPr>
          <p:cNvPr id="75" name="TextBox 74"/>
          <p:cNvSpPr txBox="1"/>
          <p:nvPr/>
        </p:nvSpPr>
        <p:spPr>
          <a:xfrm>
            <a:off x="699516" y="8833104"/>
            <a:ext cx="5170932" cy="267189"/>
          </a:xfrm>
          <a:prstGeom prst="rect">
            <a:avLst/>
          </a:prstGeom>
          <a:noFill/>
        </p:spPr>
        <p:txBody>
          <a:bodyPr wrap="square" lIns="0" tIns="0" rIns="0" bIns="0" anchor="t">
            <a:spAutoFit/>
          </a:bodyPr>
          <a:lstStyle/>
          <a:p>
            <a:pPr algn="r" rtl="1">
              <a:lnSpc>
                <a:spcPct val="115000"/>
              </a:lnSpc>
            </a:pPr>
            <a:r>
              <a:rPr lang="ar-SA" sz="1650" b="1" dirty="0">
                <a:solidFill>
                  <a:srgbClr val="FF0000"/>
                </a:solidFill>
                <a:latin typeface="Arial" panose="020B0604020202020204" pitchFamily="34" charset="0"/>
              </a:rPr>
              <a:t>ادخال الكميات المستلمة من قبل أمين مستودع التجميع.</a:t>
            </a:r>
            <a:endParaRPr sz="1650" b="1" dirty="0">
              <a:solidFill>
                <a:srgbClr val="FF0000"/>
              </a:solidFill>
              <a:latin typeface="Arial" panose="020B0604020202020204" pitchFamily="34" charset="0"/>
            </a:endParaRPr>
          </a:p>
        </p:txBody>
      </p:sp>
      <p:sp>
        <p:nvSpPr>
          <p:cNvPr id="76" name="Rounded Rectangle 75"/>
          <p:cNvSpPr/>
          <p:nvPr/>
        </p:nvSpPr>
        <p:spPr>
          <a:xfrm>
            <a:off x="617220" y="9381744"/>
            <a:ext cx="5335524"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7" name="TextBox 76"/>
          <p:cNvSpPr txBox="1"/>
          <p:nvPr/>
        </p:nvSpPr>
        <p:spPr>
          <a:xfrm>
            <a:off x="699516" y="9529106"/>
            <a:ext cx="5170932" cy="253916"/>
          </a:xfrm>
          <a:prstGeom prst="rect">
            <a:avLst/>
          </a:prstGeom>
          <a:noFill/>
        </p:spPr>
        <p:txBody>
          <a:bodyPr wrap="square" lIns="0" tIns="0" rIns="0" bIns="0" anchor="ctr">
            <a:spAutoFit/>
          </a:bodyPr>
          <a:lstStyle/>
          <a:p>
            <a:pPr algn="ctr" rtl="1">
              <a:lnSpc>
                <a:spcPct val="100000"/>
              </a:lnSpc>
            </a:pPr>
            <a:r>
              <a:rPr sz="1650" b="1" dirty="0" err="1">
                <a:solidFill>
                  <a:srgbClr val="0B3658"/>
                </a:solidFill>
                <a:latin typeface="Arial" panose="020B0604020202020204" pitchFamily="34" charset="0"/>
              </a:rPr>
              <a:t>يدوي</a:t>
            </a:r>
            <a:r>
              <a:rPr sz="1650" b="1" dirty="0">
                <a:solidFill>
                  <a:srgbClr val="0B3658"/>
                </a:solidFill>
                <a:latin typeface="Arial" panose="020B0604020202020204" pitchFamily="34" charset="0"/>
              </a:rPr>
              <a:t> / </a:t>
            </a:r>
            <a:r>
              <a:rPr sz="1650" b="1" dirty="0" err="1">
                <a:solidFill>
                  <a:srgbClr val="0B3658"/>
                </a:solidFill>
                <a:latin typeface="Arial" panose="020B0604020202020204" pitchFamily="34" charset="0"/>
              </a:rPr>
              <a:t>إدارة</a:t>
            </a:r>
            <a:r>
              <a:rPr sz="1650" b="1" dirty="0">
                <a:solidFill>
                  <a:srgbClr val="0B3658"/>
                </a:solidFill>
                <a:latin typeface="Arial" panose="020B0604020202020204" pitchFamily="34" charset="0"/>
              </a:rPr>
              <a:t> المستودعات</a:t>
            </a:r>
          </a:p>
        </p:txBody>
      </p:sp>
      <p:sp>
        <p:nvSpPr>
          <p:cNvPr id="78" name="Rounded Rectangle 78"/>
          <p:cNvSpPr/>
          <p:nvPr/>
        </p:nvSpPr>
        <p:spPr>
          <a:xfrm>
            <a:off x="15304770"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9" name="Oval 79"/>
          <p:cNvSpPr/>
          <p:nvPr/>
        </p:nvSpPr>
        <p:spPr>
          <a:xfrm>
            <a:off x="17007840"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0" name="TextBox 80"/>
          <p:cNvSpPr txBox="1"/>
          <p:nvPr/>
        </p:nvSpPr>
        <p:spPr>
          <a:xfrm>
            <a:off x="17190259"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00</a:t>
            </a:r>
          </a:p>
        </p:txBody>
      </p:sp>
      <p:sp>
        <p:nvSpPr>
          <p:cNvPr id="81" name="TextBox 81"/>
          <p:cNvSpPr txBox="1"/>
          <p:nvPr/>
        </p:nvSpPr>
        <p:spPr>
          <a:xfrm>
            <a:off x="15506528"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82" name="TextBox 82"/>
          <p:cNvSpPr txBox="1"/>
          <p:nvPr/>
        </p:nvSpPr>
        <p:spPr>
          <a:xfrm>
            <a:off x="15383446" y="3774756"/>
            <a:ext cx="2279142" cy="270715"/>
          </a:xfrm>
          <a:prstGeom prst="rect">
            <a:avLst/>
          </a:prstGeom>
          <a:noFill/>
        </p:spPr>
        <p:txBody>
          <a:bodyPr wrap="square" lIns="0" tIns="0" rIns="0" bIns="0" anchor="ctr">
            <a:spAutoFit/>
          </a:bodyPr>
          <a:lstStyle/>
          <a:p>
            <a:pPr algn="ctr" rtl="1">
              <a:lnSpc>
                <a:spcPct val="105000"/>
              </a:lnSpc>
            </a:pPr>
            <a:r>
              <a:rPr lang="ar-SA" b="1" dirty="0">
                <a:solidFill>
                  <a:srgbClr val="FF0000"/>
                </a:solidFill>
                <a:latin typeface="Arial" panose="020B0604020202020204" pitchFamily="34" charset="0"/>
              </a:rPr>
              <a:t>فاتورة من ساب</a:t>
            </a:r>
            <a:endParaRPr b="1" dirty="0">
              <a:solidFill>
                <a:srgbClr val="FF0000"/>
              </a:solidFill>
              <a:latin typeface="Arial" panose="020B0604020202020204" pitchFamily="34" charset="0"/>
            </a:endParaRPr>
          </a:p>
        </p:txBody>
      </p:sp>
      <p:sp>
        <p:nvSpPr>
          <p:cNvPr id="83" name="Isosceles Triangle 83"/>
          <p:cNvSpPr/>
          <p:nvPr/>
        </p:nvSpPr>
        <p:spPr>
          <a:xfrm rot="16200000">
            <a:off x="14955012"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4" name="Rounded Rectangle 84"/>
          <p:cNvSpPr/>
          <p:nvPr/>
        </p:nvSpPr>
        <p:spPr>
          <a:xfrm>
            <a:off x="12339828"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5" name="Oval 85"/>
          <p:cNvSpPr/>
          <p:nvPr/>
        </p:nvSpPr>
        <p:spPr>
          <a:xfrm>
            <a:off x="14042898"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6" name="TextBox 86"/>
          <p:cNvSpPr txBox="1"/>
          <p:nvPr/>
        </p:nvSpPr>
        <p:spPr>
          <a:xfrm>
            <a:off x="14225317"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01</a:t>
            </a:r>
          </a:p>
        </p:txBody>
      </p:sp>
      <p:sp>
        <p:nvSpPr>
          <p:cNvPr id="87" name="TextBox 87"/>
          <p:cNvSpPr txBox="1"/>
          <p:nvPr/>
        </p:nvSpPr>
        <p:spPr>
          <a:xfrm>
            <a:off x="12541586"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88" name="TextBox 88"/>
          <p:cNvSpPr txBox="1"/>
          <p:nvPr/>
        </p:nvSpPr>
        <p:spPr>
          <a:xfrm>
            <a:off x="12449556" y="3773702"/>
            <a:ext cx="2279142" cy="270715"/>
          </a:xfrm>
          <a:prstGeom prst="rect">
            <a:avLst/>
          </a:prstGeom>
          <a:noFill/>
        </p:spPr>
        <p:txBody>
          <a:bodyPr wrap="square" lIns="0" tIns="0" rIns="0" bIns="0" anchor="ctr">
            <a:spAutoFit/>
          </a:bodyPr>
          <a:lstStyle/>
          <a:p>
            <a:pPr algn="ctr" rtl="1">
              <a:lnSpc>
                <a:spcPct val="105000"/>
              </a:lnSpc>
            </a:pPr>
            <a:r>
              <a:rPr lang="ar-SA" b="1" dirty="0">
                <a:solidFill>
                  <a:srgbClr val="000000"/>
                </a:solidFill>
                <a:latin typeface="Arial" panose="020B0604020202020204" pitchFamily="34" charset="0"/>
              </a:rPr>
              <a:t>اشعار العميل</a:t>
            </a:r>
            <a:endParaRPr b="1" dirty="0">
              <a:solidFill>
                <a:srgbClr val="000000"/>
              </a:solidFill>
              <a:latin typeface="Arial" panose="020B0604020202020204" pitchFamily="34" charset="0"/>
            </a:endParaRPr>
          </a:p>
        </p:txBody>
      </p:sp>
      <p:sp>
        <p:nvSpPr>
          <p:cNvPr id="89" name="Isosceles Triangle 89"/>
          <p:cNvSpPr/>
          <p:nvPr/>
        </p:nvSpPr>
        <p:spPr>
          <a:xfrm rot="16200000">
            <a:off x="11990070"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0" name="Rounded Rectangle 90"/>
          <p:cNvSpPr/>
          <p:nvPr/>
        </p:nvSpPr>
        <p:spPr>
          <a:xfrm>
            <a:off x="9374886"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1" name="Oval 91"/>
          <p:cNvSpPr/>
          <p:nvPr/>
        </p:nvSpPr>
        <p:spPr>
          <a:xfrm>
            <a:off x="11077956"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2" name="TextBox 92"/>
          <p:cNvSpPr txBox="1"/>
          <p:nvPr/>
        </p:nvSpPr>
        <p:spPr>
          <a:xfrm>
            <a:off x="11260375"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02</a:t>
            </a:r>
          </a:p>
        </p:txBody>
      </p:sp>
      <p:sp>
        <p:nvSpPr>
          <p:cNvPr id="93" name="TextBox 93"/>
          <p:cNvSpPr txBox="1"/>
          <p:nvPr/>
        </p:nvSpPr>
        <p:spPr>
          <a:xfrm>
            <a:off x="9576644"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94" name="TextBox 94"/>
          <p:cNvSpPr txBox="1"/>
          <p:nvPr/>
        </p:nvSpPr>
        <p:spPr>
          <a:xfrm>
            <a:off x="9484614" y="3773702"/>
            <a:ext cx="2279142" cy="270715"/>
          </a:xfrm>
          <a:prstGeom prst="rect">
            <a:avLst/>
          </a:prstGeom>
          <a:noFill/>
        </p:spPr>
        <p:txBody>
          <a:bodyPr wrap="square" lIns="0" tIns="0" rIns="0" bIns="0" anchor="ctr">
            <a:spAutoFit/>
          </a:bodyPr>
          <a:lstStyle/>
          <a:p>
            <a:pPr algn="ctr" rtl="1">
              <a:lnSpc>
                <a:spcPct val="105000"/>
              </a:lnSpc>
            </a:pPr>
            <a:r>
              <a:rPr lang="ar-SA" b="1" dirty="0">
                <a:solidFill>
                  <a:srgbClr val="000000"/>
                </a:solidFill>
                <a:latin typeface="Arial" panose="020B0604020202020204" pitchFamily="34" charset="0"/>
              </a:rPr>
              <a:t>تأكيد استلام العميل</a:t>
            </a:r>
            <a:endParaRPr b="1" dirty="0">
              <a:solidFill>
                <a:srgbClr val="000000"/>
              </a:solidFill>
              <a:latin typeface="Arial" panose="020B0604020202020204" pitchFamily="34" charset="0"/>
            </a:endParaRPr>
          </a:p>
        </p:txBody>
      </p:sp>
      <p:sp>
        <p:nvSpPr>
          <p:cNvPr id="98" name="TextBox 98"/>
          <p:cNvSpPr txBox="1"/>
          <p:nvPr/>
        </p:nvSpPr>
        <p:spPr>
          <a:xfrm>
            <a:off x="8295433"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03</a:t>
            </a:r>
          </a:p>
        </p:txBody>
      </p:sp>
      <p:sp>
        <p:nvSpPr>
          <p:cNvPr id="104" name="TextBox 104"/>
          <p:cNvSpPr txBox="1"/>
          <p:nvPr/>
        </p:nvSpPr>
        <p:spPr>
          <a:xfrm>
            <a:off x="5330491"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04</a:t>
            </a:r>
          </a:p>
        </p:txBody>
      </p:sp>
      <p:sp>
        <p:nvSpPr>
          <p:cNvPr id="105" name="TextBox 105"/>
          <p:cNvSpPr txBox="1"/>
          <p:nvPr/>
        </p:nvSpPr>
        <p:spPr>
          <a:xfrm>
            <a:off x="3646760"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06" name="TextBox 106"/>
          <p:cNvSpPr txBox="1"/>
          <p:nvPr/>
        </p:nvSpPr>
        <p:spPr>
          <a:xfrm>
            <a:off x="3554730" y="3763635"/>
            <a:ext cx="227914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تسجيل النقل</a:t>
            </a:r>
          </a:p>
        </p:txBody>
      </p:sp>
      <p:sp>
        <p:nvSpPr>
          <p:cNvPr id="107" name="Isosceles Triangle 107"/>
          <p:cNvSpPr/>
          <p:nvPr/>
        </p:nvSpPr>
        <p:spPr>
          <a:xfrm rot="16200000">
            <a:off x="3095244"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9" name="Oval 109"/>
          <p:cNvSpPr/>
          <p:nvPr/>
        </p:nvSpPr>
        <p:spPr>
          <a:xfrm>
            <a:off x="2183130"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0" name="TextBox 110"/>
          <p:cNvSpPr txBox="1"/>
          <p:nvPr/>
        </p:nvSpPr>
        <p:spPr>
          <a:xfrm>
            <a:off x="2365549"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05</a:t>
            </a:r>
          </a:p>
        </p:txBody>
      </p:sp>
      <p:sp>
        <p:nvSpPr>
          <p:cNvPr id="111" name="TextBox 111"/>
          <p:cNvSpPr txBox="1"/>
          <p:nvPr/>
        </p:nvSpPr>
        <p:spPr>
          <a:xfrm>
            <a:off x="681818"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12" name="TextBox 112"/>
          <p:cNvSpPr txBox="1"/>
          <p:nvPr/>
        </p:nvSpPr>
        <p:spPr>
          <a:xfrm>
            <a:off x="589788" y="3773702"/>
            <a:ext cx="2279142" cy="270715"/>
          </a:xfrm>
          <a:prstGeom prst="rect">
            <a:avLst/>
          </a:prstGeom>
          <a:noFill/>
        </p:spPr>
        <p:txBody>
          <a:bodyPr wrap="square" lIns="0" tIns="0" rIns="0" bIns="0" anchor="ctr">
            <a:spAutoFit/>
          </a:bodyPr>
          <a:lstStyle/>
          <a:p>
            <a:pPr algn="ctr" rtl="1">
              <a:lnSpc>
                <a:spcPct val="105000"/>
              </a:lnSpc>
            </a:pPr>
            <a:r>
              <a:rPr b="1" dirty="0" err="1">
                <a:solidFill>
                  <a:srgbClr val="000000"/>
                </a:solidFill>
                <a:latin typeface="Arial" panose="020B0604020202020204" pitchFamily="34" charset="0"/>
              </a:rPr>
              <a:t>الاستلام</a:t>
            </a:r>
            <a:r>
              <a:rPr lang="ar-SA" b="1" dirty="0">
                <a:solidFill>
                  <a:srgbClr val="000000"/>
                </a:solidFill>
                <a:latin typeface="Arial" panose="020B0604020202020204" pitchFamily="34" charset="0"/>
              </a:rPr>
              <a:t> في مستودع التجميع</a:t>
            </a:r>
            <a:endParaRPr b="1" dirty="0">
              <a:solidFill>
                <a:srgbClr val="000000"/>
              </a:solidFill>
              <a:latin typeface="Arial" panose="020B0604020202020204" pitchFamily="34" charset="0"/>
            </a:endParaRPr>
          </a:p>
        </p:txBody>
      </p:sp>
    </p:spTree>
    <p:extLst>
      <p:ext uri="{BB962C8B-B14F-4D97-AF65-F5344CB8AC3E}">
        <p14:creationId xmlns:p14="http://schemas.microsoft.com/office/powerpoint/2010/main" val="1805369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18287543"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 name="TextBox 2"/>
          <p:cNvSpPr txBox="1"/>
          <p:nvPr/>
        </p:nvSpPr>
        <p:spPr>
          <a:xfrm>
            <a:off x="5225897" y="380701"/>
            <a:ext cx="3675686" cy="692497"/>
          </a:xfrm>
          <a:prstGeom prst="rect">
            <a:avLst/>
          </a:prstGeom>
          <a:noFill/>
        </p:spPr>
        <p:txBody>
          <a:bodyPr wrap="none" lIns="0" tIns="0" rIns="0" bIns="0" anchor="ctr">
            <a:spAutoFit/>
          </a:bodyPr>
          <a:lstStyle/>
          <a:p>
            <a:pPr algn="ctr" rtl="1">
              <a:lnSpc>
                <a:spcPct val="100000"/>
              </a:lnSpc>
            </a:pPr>
            <a:r>
              <a:rPr sz="4500" b="1">
                <a:solidFill>
                  <a:srgbClr val="1960BD"/>
                </a:solidFill>
                <a:latin typeface="Arial" panose="020B0604020202020204" pitchFamily="34" charset="0"/>
              </a:rPr>
              <a:t>خدمة رفع المقاسات</a:t>
            </a:r>
          </a:p>
        </p:txBody>
      </p:sp>
      <p:sp>
        <p:nvSpPr>
          <p:cNvPr id="4" name="Rounded Rectangle 3"/>
          <p:cNvSpPr/>
          <p:nvPr/>
        </p:nvSpPr>
        <p:spPr>
          <a:xfrm>
            <a:off x="3360420" y="1261872"/>
            <a:ext cx="7406640" cy="603504"/>
          </a:xfrm>
          <a:prstGeom prst="roundRect">
            <a:avLst>
              <a:gd name="adj" fmla="val 50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 name="TextBox 4"/>
          <p:cNvSpPr txBox="1"/>
          <p:nvPr/>
        </p:nvSpPr>
        <p:spPr>
          <a:xfrm>
            <a:off x="5244331" y="1419353"/>
            <a:ext cx="3638817" cy="288541"/>
          </a:xfrm>
          <a:prstGeom prst="rect">
            <a:avLst/>
          </a:prstGeom>
          <a:noFill/>
        </p:spPr>
        <p:txBody>
          <a:bodyPr wrap="none" lIns="0" tIns="0" rIns="0" bIns="0" anchor="ctr">
            <a:spAutoFit/>
          </a:bodyPr>
          <a:lstStyle/>
          <a:p>
            <a:pPr algn="ctr" rtl="1">
              <a:lnSpc>
                <a:spcPct val="100000"/>
              </a:lnSpc>
            </a:pPr>
            <a:r>
              <a:rPr sz="1875" b="1">
                <a:solidFill>
                  <a:srgbClr val="000000"/>
                </a:solidFill>
                <a:latin typeface="Arial" panose="020B0604020202020204" pitchFamily="34" charset="0"/>
              </a:rPr>
              <a:t>الجهة المسؤولة: فريق رفع المقاسات / الفنيون</a:t>
            </a:r>
          </a:p>
        </p:txBody>
      </p:sp>
      <p:pic>
        <p:nvPicPr>
          <p:cNvPr id="6" name="Picture 5" descr="2.jpg"/>
          <p:cNvPicPr>
            <a:picLocks noChangeAspect="1"/>
          </p:cNvPicPr>
          <p:nvPr/>
        </p:nvPicPr>
        <p:blipFill>
          <a:blip r:embed="rId2"/>
          <a:srcRect/>
          <a:stretch>
            <a:fillRect/>
          </a:stretch>
        </p:blipFill>
        <p:spPr>
          <a:xfrm>
            <a:off x="15670530" y="171450"/>
            <a:ext cx="1988820" cy="1988820"/>
          </a:xfrm>
          <a:prstGeom prst="ellipse">
            <a:avLst/>
          </a:prstGeom>
        </p:spPr>
      </p:pic>
      <p:sp>
        <p:nvSpPr>
          <p:cNvPr id="7" name="Oval 6"/>
          <p:cNvSpPr/>
          <p:nvPr/>
        </p:nvSpPr>
        <p:spPr>
          <a:xfrm>
            <a:off x="15670530" y="171450"/>
            <a:ext cx="1988820" cy="1988820"/>
          </a:xfrm>
          <a:prstGeom prst="ellipse">
            <a:avLst/>
          </a:prstGeom>
          <a:noFill/>
          <a:ln w="381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9" name="TextBox 48"/>
          <p:cNvSpPr txBox="1"/>
          <p:nvPr/>
        </p:nvSpPr>
        <p:spPr>
          <a:xfrm>
            <a:off x="480060" y="4775507"/>
            <a:ext cx="17323308" cy="461665"/>
          </a:xfrm>
          <a:prstGeom prst="rect">
            <a:avLst/>
          </a:prstGeom>
          <a:noFill/>
        </p:spPr>
        <p:txBody>
          <a:bodyPr wrap="square" lIns="0" tIns="0" rIns="0" bIns="0" anchor="ctr">
            <a:spAutoFit/>
          </a:bodyPr>
          <a:lstStyle/>
          <a:p>
            <a:pPr algn="ctr" rtl="1">
              <a:lnSpc>
                <a:spcPct val="100000"/>
              </a:lnSpc>
            </a:pPr>
            <a:r>
              <a:rPr sz="3000" b="1">
                <a:solidFill>
                  <a:srgbClr val="1960BD"/>
                </a:solidFill>
                <a:latin typeface="Arial" panose="020B0604020202020204" pitchFamily="34" charset="0"/>
              </a:rPr>
              <a:t>ملخص الدورة</a:t>
            </a:r>
          </a:p>
        </p:txBody>
      </p:sp>
      <p:sp>
        <p:nvSpPr>
          <p:cNvPr id="50" name="Rounded Rectangle 49"/>
          <p:cNvSpPr/>
          <p:nvPr/>
        </p:nvSpPr>
        <p:spPr>
          <a:xfrm>
            <a:off x="13657707"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1" name="Oval 50"/>
          <p:cNvSpPr/>
          <p:nvPr/>
        </p:nvSpPr>
        <p:spPr>
          <a:xfrm>
            <a:off x="17035272"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2" name="TextBox 51"/>
          <p:cNvSpPr txBox="1"/>
          <p:nvPr/>
        </p:nvSpPr>
        <p:spPr>
          <a:xfrm>
            <a:off x="17181352"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00</a:t>
            </a:r>
          </a:p>
        </p:txBody>
      </p:sp>
      <p:sp>
        <p:nvSpPr>
          <p:cNvPr id="53" name="TextBox 52"/>
          <p:cNvSpPr txBox="1"/>
          <p:nvPr/>
        </p:nvSpPr>
        <p:spPr>
          <a:xfrm>
            <a:off x="13877163" y="6419088"/>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وصول فاتورة من SAP تحتوي على خدمة رفع المقاسات.</a:t>
            </a:r>
          </a:p>
        </p:txBody>
      </p:sp>
      <p:sp>
        <p:nvSpPr>
          <p:cNvPr id="54" name="Rounded Rectangle 53"/>
          <p:cNvSpPr/>
          <p:nvPr/>
        </p:nvSpPr>
        <p:spPr>
          <a:xfrm>
            <a:off x="13794867" y="6967728"/>
            <a:ext cx="3871341"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5" name="TextBox 54"/>
          <p:cNvSpPr txBox="1"/>
          <p:nvPr/>
        </p:nvSpPr>
        <p:spPr>
          <a:xfrm>
            <a:off x="13877163" y="7115090"/>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آلي من خلال النظام</a:t>
            </a:r>
          </a:p>
        </p:txBody>
      </p:sp>
      <p:sp>
        <p:nvSpPr>
          <p:cNvPr id="56" name="Rounded Rectangle 55"/>
          <p:cNvSpPr/>
          <p:nvPr/>
        </p:nvSpPr>
        <p:spPr>
          <a:xfrm>
            <a:off x="9265158"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7" name="Oval 56"/>
          <p:cNvSpPr/>
          <p:nvPr/>
        </p:nvSpPr>
        <p:spPr>
          <a:xfrm>
            <a:off x="12642723"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8" name="TextBox 57"/>
          <p:cNvSpPr txBox="1"/>
          <p:nvPr/>
        </p:nvSpPr>
        <p:spPr>
          <a:xfrm>
            <a:off x="12788803"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01</a:t>
            </a:r>
          </a:p>
        </p:txBody>
      </p:sp>
      <p:sp>
        <p:nvSpPr>
          <p:cNvPr id="59" name="TextBox 58"/>
          <p:cNvSpPr txBox="1"/>
          <p:nvPr/>
        </p:nvSpPr>
        <p:spPr>
          <a:xfrm>
            <a:off x="9484614" y="6419088"/>
            <a:ext cx="3706749"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إنشاء طلب رفع مقاسات داخل نظام خدمات ما بعد البيع.</a:t>
            </a:r>
          </a:p>
        </p:txBody>
      </p:sp>
      <p:sp>
        <p:nvSpPr>
          <p:cNvPr id="60" name="Rounded Rectangle 59"/>
          <p:cNvSpPr/>
          <p:nvPr/>
        </p:nvSpPr>
        <p:spPr>
          <a:xfrm>
            <a:off x="9402318" y="6967728"/>
            <a:ext cx="3871341" cy="548640"/>
          </a:xfrm>
          <a:prstGeom prst="roundRect">
            <a:avLst>
              <a:gd name="adj" fmla="val 50000"/>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1" name="TextBox 60"/>
          <p:cNvSpPr txBox="1"/>
          <p:nvPr/>
        </p:nvSpPr>
        <p:spPr>
          <a:xfrm>
            <a:off x="9484614" y="7115090"/>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خدمة العملاء</a:t>
            </a:r>
          </a:p>
        </p:txBody>
      </p:sp>
      <p:sp>
        <p:nvSpPr>
          <p:cNvPr id="62" name="Rounded Rectangle 61"/>
          <p:cNvSpPr/>
          <p:nvPr/>
        </p:nvSpPr>
        <p:spPr>
          <a:xfrm>
            <a:off x="4872609"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3" name="Oval 62"/>
          <p:cNvSpPr/>
          <p:nvPr/>
        </p:nvSpPr>
        <p:spPr>
          <a:xfrm>
            <a:off x="8250174"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4" name="TextBox 63"/>
          <p:cNvSpPr txBox="1"/>
          <p:nvPr/>
        </p:nvSpPr>
        <p:spPr>
          <a:xfrm>
            <a:off x="8396253"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02</a:t>
            </a:r>
          </a:p>
        </p:txBody>
      </p:sp>
      <p:sp>
        <p:nvSpPr>
          <p:cNvPr id="65" name="TextBox 64"/>
          <p:cNvSpPr txBox="1"/>
          <p:nvPr/>
        </p:nvSpPr>
        <p:spPr>
          <a:xfrm>
            <a:off x="5092065" y="6419089"/>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انتقال الطلب إلى مرحلة التحقق من الجاهزية وحجز الموعد وإرسال رابط الحجز للعميل.</a:t>
            </a:r>
          </a:p>
        </p:txBody>
      </p:sp>
      <p:sp>
        <p:nvSpPr>
          <p:cNvPr id="66" name="Rounded Rectangle 65"/>
          <p:cNvSpPr/>
          <p:nvPr/>
        </p:nvSpPr>
        <p:spPr>
          <a:xfrm>
            <a:off x="5009769" y="6967728"/>
            <a:ext cx="3871341"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7" name="TextBox 66"/>
          <p:cNvSpPr txBox="1"/>
          <p:nvPr/>
        </p:nvSpPr>
        <p:spPr>
          <a:xfrm>
            <a:off x="5092065" y="7115090"/>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آلي من خلال النظام</a:t>
            </a:r>
          </a:p>
        </p:txBody>
      </p:sp>
      <p:sp>
        <p:nvSpPr>
          <p:cNvPr id="68" name="Rounded Rectangle 67"/>
          <p:cNvSpPr/>
          <p:nvPr/>
        </p:nvSpPr>
        <p:spPr>
          <a:xfrm>
            <a:off x="480060"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9" name="Oval 68"/>
          <p:cNvSpPr/>
          <p:nvPr/>
        </p:nvSpPr>
        <p:spPr>
          <a:xfrm>
            <a:off x="3857625"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0" name="TextBox 69"/>
          <p:cNvSpPr txBox="1"/>
          <p:nvPr/>
        </p:nvSpPr>
        <p:spPr>
          <a:xfrm>
            <a:off x="4003705"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03</a:t>
            </a:r>
          </a:p>
        </p:txBody>
      </p:sp>
      <p:sp>
        <p:nvSpPr>
          <p:cNvPr id="71" name="TextBox 70"/>
          <p:cNvSpPr txBox="1"/>
          <p:nvPr/>
        </p:nvSpPr>
        <p:spPr>
          <a:xfrm>
            <a:off x="699516" y="6419088"/>
            <a:ext cx="3706749"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يتم تعيين الفني المسؤول عن تنفيذ الزيارة.</a:t>
            </a:r>
          </a:p>
        </p:txBody>
      </p:sp>
      <p:sp>
        <p:nvSpPr>
          <p:cNvPr id="72" name="Rounded Rectangle 71"/>
          <p:cNvSpPr/>
          <p:nvPr/>
        </p:nvSpPr>
        <p:spPr>
          <a:xfrm>
            <a:off x="617220" y="6967728"/>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3" name="TextBox 72"/>
          <p:cNvSpPr txBox="1"/>
          <p:nvPr/>
        </p:nvSpPr>
        <p:spPr>
          <a:xfrm>
            <a:off x="699516" y="7115090"/>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a:t>
            </a:r>
            <a:r>
              <a:rPr lang="en-US" sz="1650" b="1">
                <a:solidFill>
                  <a:srgbClr val="0B3658"/>
                </a:solidFill>
                <a:latin typeface="Arial" panose="020B0604020202020204" pitchFamily="34" charset="0"/>
              </a:rPr>
              <a:t>/ </a:t>
            </a:r>
            <a:r>
              <a:rPr sz="1650" b="1">
                <a:solidFill>
                  <a:srgbClr val="0B3658"/>
                </a:solidFill>
                <a:latin typeface="Arial" panose="020B0604020202020204" pitchFamily="34" charset="0"/>
              </a:rPr>
              <a:t>إدارة التركيبات</a:t>
            </a:r>
          </a:p>
        </p:txBody>
      </p:sp>
      <p:sp>
        <p:nvSpPr>
          <p:cNvPr id="74" name="Rounded Rectangle 73"/>
          <p:cNvSpPr/>
          <p:nvPr/>
        </p:nvSpPr>
        <p:spPr>
          <a:xfrm>
            <a:off x="13657707"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5" name="Oval 74"/>
          <p:cNvSpPr/>
          <p:nvPr/>
        </p:nvSpPr>
        <p:spPr>
          <a:xfrm>
            <a:off x="17035272"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6" name="TextBox 75"/>
          <p:cNvSpPr txBox="1"/>
          <p:nvPr/>
        </p:nvSpPr>
        <p:spPr>
          <a:xfrm>
            <a:off x="17181352"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04</a:t>
            </a:r>
          </a:p>
        </p:txBody>
      </p:sp>
      <p:sp>
        <p:nvSpPr>
          <p:cNvPr id="77" name="TextBox 76"/>
          <p:cNvSpPr txBox="1"/>
          <p:nvPr/>
        </p:nvSpPr>
        <p:spPr>
          <a:xfrm>
            <a:off x="13877163" y="8833104"/>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فتح نموذج رفع المقاسات وبدء تنفيذ الخدمة في موقع العميل.</a:t>
            </a:r>
          </a:p>
        </p:txBody>
      </p:sp>
      <p:sp>
        <p:nvSpPr>
          <p:cNvPr id="78" name="Rounded Rectangle 77"/>
          <p:cNvSpPr/>
          <p:nvPr/>
        </p:nvSpPr>
        <p:spPr>
          <a:xfrm>
            <a:off x="13794867" y="9381744"/>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9" name="TextBox 78"/>
          <p:cNvSpPr txBox="1"/>
          <p:nvPr/>
        </p:nvSpPr>
        <p:spPr>
          <a:xfrm>
            <a:off x="13877163" y="9529106"/>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الفني / إدارة التركيبات</a:t>
            </a:r>
          </a:p>
        </p:txBody>
      </p:sp>
      <p:sp>
        <p:nvSpPr>
          <p:cNvPr id="80" name="Rounded Rectangle 79"/>
          <p:cNvSpPr/>
          <p:nvPr/>
        </p:nvSpPr>
        <p:spPr>
          <a:xfrm>
            <a:off x="9265158"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1" name="Oval 80"/>
          <p:cNvSpPr/>
          <p:nvPr/>
        </p:nvSpPr>
        <p:spPr>
          <a:xfrm>
            <a:off x="12642723"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2" name="TextBox 81"/>
          <p:cNvSpPr txBox="1"/>
          <p:nvPr/>
        </p:nvSpPr>
        <p:spPr>
          <a:xfrm>
            <a:off x="12788803"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05</a:t>
            </a:r>
          </a:p>
        </p:txBody>
      </p:sp>
      <p:sp>
        <p:nvSpPr>
          <p:cNvPr id="83" name="TextBox 82"/>
          <p:cNvSpPr txBox="1"/>
          <p:nvPr/>
        </p:nvSpPr>
        <p:spPr>
          <a:xfrm>
            <a:off x="9484614" y="8833104"/>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تسجيل الغرف والمقاسات ورفع الصور والملاحظات المطلوبة.</a:t>
            </a:r>
          </a:p>
        </p:txBody>
      </p:sp>
      <p:sp>
        <p:nvSpPr>
          <p:cNvPr id="84" name="Rounded Rectangle 83"/>
          <p:cNvSpPr/>
          <p:nvPr/>
        </p:nvSpPr>
        <p:spPr>
          <a:xfrm>
            <a:off x="9402318" y="9381744"/>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5" name="TextBox 84"/>
          <p:cNvSpPr txBox="1"/>
          <p:nvPr/>
        </p:nvSpPr>
        <p:spPr>
          <a:xfrm>
            <a:off x="9484614" y="9529106"/>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الفني / إدارة التركيبات</a:t>
            </a:r>
          </a:p>
        </p:txBody>
      </p:sp>
      <p:sp>
        <p:nvSpPr>
          <p:cNvPr id="86" name="Rounded Rectangle 85"/>
          <p:cNvSpPr/>
          <p:nvPr/>
        </p:nvSpPr>
        <p:spPr>
          <a:xfrm>
            <a:off x="4872609"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7" name="Oval 86"/>
          <p:cNvSpPr/>
          <p:nvPr/>
        </p:nvSpPr>
        <p:spPr>
          <a:xfrm>
            <a:off x="8250174"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8" name="TextBox 87"/>
          <p:cNvSpPr txBox="1"/>
          <p:nvPr/>
        </p:nvSpPr>
        <p:spPr>
          <a:xfrm>
            <a:off x="8396253"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06</a:t>
            </a:r>
          </a:p>
        </p:txBody>
      </p:sp>
      <p:sp>
        <p:nvSpPr>
          <p:cNvPr id="89" name="TextBox 88"/>
          <p:cNvSpPr txBox="1"/>
          <p:nvPr/>
        </p:nvSpPr>
        <p:spPr>
          <a:xfrm>
            <a:off x="5092065" y="8833105"/>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توثيق استلام العميل للخدمة واعتماد التنفيذ، وانتقال المهمة إلى مرحلة تمت الخدمة.</a:t>
            </a:r>
          </a:p>
        </p:txBody>
      </p:sp>
      <p:sp>
        <p:nvSpPr>
          <p:cNvPr id="90" name="Rounded Rectangle 89"/>
          <p:cNvSpPr/>
          <p:nvPr/>
        </p:nvSpPr>
        <p:spPr>
          <a:xfrm>
            <a:off x="5009769" y="9381744"/>
            <a:ext cx="3871341"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1" name="TextBox 90"/>
          <p:cNvSpPr txBox="1"/>
          <p:nvPr/>
        </p:nvSpPr>
        <p:spPr>
          <a:xfrm>
            <a:off x="5092065" y="9529106"/>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آلي من خلال النظام</a:t>
            </a:r>
          </a:p>
        </p:txBody>
      </p:sp>
      <p:sp>
        <p:nvSpPr>
          <p:cNvPr id="92" name="Rounded Rectangle 92"/>
          <p:cNvSpPr/>
          <p:nvPr/>
        </p:nvSpPr>
        <p:spPr>
          <a:xfrm>
            <a:off x="15728333"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3" name="Oval 93"/>
          <p:cNvSpPr/>
          <p:nvPr/>
        </p:nvSpPr>
        <p:spPr>
          <a:xfrm>
            <a:off x="17007840"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4" name="TextBox 94"/>
          <p:cNvSpPr txBox="1"/>
          <p:nvPr/>
        </p:nvSpPr>
        <p:spPr>
          <a:xfrm>
            <a:off x="17190259"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00</a:t>
            </a:r>
          </a:p>
        </p:txBody>
      </p:sp>
      <p:sp>
        <p:nvSpPr>
          <p:cNvPr id="95" name="TextBox 95"/>
          <p:cNvSpPr txBox="1"/>
          <p:nvPr/>
        </p:nvSpPr>
        <p:spPr>
          <a:xfrm>
            <a:off x="15930091"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96" name="TextBox 96"/>
          <p:cNvSpPr txBox="1"/>
          <p:nvPr/>
        </p:nvSpPr>
        <p:spPr>
          <a:xfrm>
            <a:off x="15838061"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فاتورة من SAP</a:t>
            </a:r>
          </a:p>
        </p:txBody>
      </p:sp>
      <p:sp>
        <p:nvSpPr>
          <p:cNvPr id="97" name="Isosceles Triangle 97"/>
          <p:cNvSpPr/>
          <p:nvPr/>
        </p:nvSpPr>
        <p:spPr>
          <a:xfrm rot="16200000">
            <a:off x="15378575"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8" name="Rounded Rectangle 98"/>
          <p:cNvSpPr/>
          <p:nvPr/>
        </p:nvSpPr>
        <p:spPr>
          <a:xfrm>
            <a:off x="13186954"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9" name="Oval 99"/>
          <p:cNvSpPr/>
          <p:nvPr/>
        </p:nvSpPr>
        <p:spPr>
          <a:xfrm>
            <a:off x="14466461"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0" name="TextBox 100"/>
          <p:cNvSpPr txBox="1"/>
          <p:nvPr/>
        </p:nvSpPr>
        <p:spPr>
          <a:xfrm>
            <a:off x="14648880"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01</a:t>
            </a:r>
          </a:p>
        </p:txBody>
      </p:sp>
      <p:sp>
        <p:nvSpPr>
          <p:cNvPr id="101" name="TextBox 101"/>
          <p:cNvSpPr txBox="1"/>
          <p:nvPr/>
        </p:nvSpPr>
        <p:spPr>
          <a:xfrm>
            <a:off x="13388712"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02" name="TextBox 102"/>
          <p:cNvSpPr txBox="1"/>
          <p:nvPr/>
        </p:nvSpPr>
        <p:spPr>
          <a:xfrm>
            <a:off x="13296682"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طلب رفع مقاسات</a:t>
            </a:r>
          </a:p>
        </p:txBody>
      </p:sp>
      <p:sp>
        <p:nvSpPr>
          <p:cNvPr id="103" name="Isosceles Triangle 103"/>
          <p:cNvSpPr/>
          <p:nvPr/>
        </p:nvSpPr>
        <p:spPr>
          <a:xfrm rot="16200000">
            <a:off x="12837196"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4" name="Rounded Rectangle 104"/>
          <p:cNvSpPr/>
          <p:nvPr/>
        </p:nvSpPr>
        <p:spPr>
          <a:xfrm>
            <a:off x="10645575"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5" name="Oval 105"/>
          <p:cNvSpPr/>
          <p:nvPr/>
        </p:nvSpPr>
        <p:spPr>
          <a:xfrm>
            <a:off x="11925082"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6" name="TextBox 106"/>
          <p:cNvSpPr txBox="1"/>
          <p:nvPr/>
        </p:nvSpPr>
        <p:spPr>
          <a:xfrm>
            <a:off x="12107501"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02</a:t>
            </a:r>
          </a:p>
        </p:txBody>
      </p:sp>
      <p:sp>
        <p:nvSpPr>
          <p:cNvPr id="107" name="TextBox 107"/>
          <p:cNvSpPr txBox="1"/>
          <p:nvPr/>
        </p:nvSpPr>
        <p:spPr>
          <a:xfrm>
            <a:off x="10847333"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08" name="TextBox 108"/>
          <p:cNvSpPr txBox="1"/>
          <p:nvPr/>
        </p:nvSpPr>
        <p:spPr>
          <a:xfrm>
            <a:off x="10755303"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التحقق من الجاهزية وحجز الموعد</a:t>
            </a:r>
          </a:p>
        </p:txBody>
      </p:sp>
      <p:sp>
        <p:nvSpPr>
          <p:cNvPr id="109" name="Isosceles Triangle 109"/>
          <p:cNvSpPr/>
          <p:nvPr/>
        </p:nvSpPr>
        <p:spPr>
          <a:xfrm rot="16200000">
            <a:off x="10295817"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0" name="Rounded Rectangle 110"/>
          <p:cNvSpPr/>
          <p:nvPr/>
        </p:nvSpPr>
        <p:spPr>
          <a:xfrm>
            <a:off x="8104196"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1" name="Oval 111"/>
          <p:cNvSpPr/>
          <p:nvPr/>
        </p:nvSpPr>
        <p:spPr>
          <a:xfrm>
            <a:off x="9383703"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2" name="TextBox 112"/>
          <p:cNvSpPr txBox="1"/>
          <p:nvPr/>
        </p:nvSpPr>
        <p:spPr>
          <a:xfrm>
            <a:off x="9566122"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03</a:t>
            </a:r>
          </a:p>
        </p:txBody>
      </p:sp>
      <p:sp>
        <p:nvSpPr>
          <p:cNvPr id="113" name="TextBox 113"/>
          <p:cNvSpPr txBox="1"/>
          <p:nvPr/>
        </p:nvSpPr>
        <p:spPr>
          <a:xfrm>
            <a:off x="8305954"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14" name="TextBox 114"/>
          <p:cNvSpPr txBox="1"/>
          <p:nvPr/>
        </p:nvSpPr>
        <p:spPr>
          <a:xfrm>
            <a:off x="8213924"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تم تعيين الفني</a:t>
            </a:r>
          </a:p>
        </p:txBody>
      </p:sp>
      <p:sp>
        <p:nvSpPr>
          <p:cNvPr id="115" name="Isosceles Triangle 115"/>
          <p:cNvSpPr/>
          <p:nvPr/>
        </p:nvSpPr>
        <p:spPr>
          <a:xfrm rot="16200000">
            <a:off x="7754438"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6" name="Rounded Rectangle 116"/>
          <p:cNvSpPr/>
          <p:nvPr/>
        </p:nvSpPr>
        <p:spPr>
          <a:xfrm>
            <a:off x="5562817"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7" name="Oval 117"/>
          <p:cNvSpPr/>
          <p:nvPr/>
        </p:nvSpPr>
        <p:spPr>
          <a:xfrm>
            <a:off x="6842324"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8" name="TextBox 118"/>
          <p:cNvSpPr txBox="1"/>
          <p:nvPr/>
        </p:nvSpPr>
        <p:spPr>
          <a:xfrm>
            <a:off x="7024743"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04</a:t>
            </a:r>
          </a:p>
        </p:txBody>
      </p:sp>
      <p:sp>
        <p:nvSpPr>
          <p:cNvPr id="119" name="TextBox 119"/>
          <p:cNvSpPr txBox="1"/>
          <p:nvPr/>
        </p:nvSpPr>
        <p:spPr>
          <a:xfrm>
            <a:off x="5764575"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20" name="TextBox 120"/>
          <p:cNvSpPr txBox="1"/>
          <p:nvPr/>
        </p:nvSpPr>
        <p:spPr>
          <a:xfrm>
            <a:off x="5672545"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ملئ النموذج</a:t>
            </a:r>
          </a:p>
        </p:txBody>
      </p:sp>
      <p:sp>
        <p:nvSpPr>
          <p:cNvPr id="121" name="Isosceles Triangle 121"/>
          <p:cNvSpPr/>
          <p:nvPr/>
        </p:nvSpPr>
        <p:spPr>
          <a:xfrm rot="16200000">
            <a:off x="5213059"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2" name="Rounded Rectangle 122"/>
          <p:cNvSpPr/>
          <p:nvPr/>
        </p:nvSpPr>
        <p:spPr>
          <a:xfrm>
            <a:off x="3021438"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3" name="Oval 123"/>
          <p:cNvSpPr/>
          <p:nvPr/>
        </p:nvSpPr>
        <p:spPr>
          <a:xfrm>
            <a:off x="4300945"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4" name="TextBox 124"/>
          <p:cNvSpPr txBox="1"/>
          <p:nvPr/>
        </p:nvSpPr>
        <p:spPr>
          <a:xfrm>
            <a:off x="4483364"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05</a:t>
            </a:r>
          </a:p>
        </p:txBody>
      </p:sp>
      <p:sp>
        <p:nvSpPr>
          <p:cNvPr id="125" name="TextBox 125"/>
          <p:cNvSpPr txBox="1"/>
          <p:nvPr/>
        </p:nvSpPr>
        <p:spPr>
          <a:xfrm>
            <a:off x="3223196"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26" name="TextBox 126"/>
          <p:cNvSpPr txBox="1"/>
          <p:nvPr/>
        </p:nvSpPr>
        <p:spPr>
          <a:xfrm>
            <a:off x="3131166"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رفع القياسات</a:t>
            </a:r>
          </a:p>
        </p:txBody>
      </p:sp>
      <p:sp>
        <p:nvSpPr>
          <p:cNvPr id="127" name="Isosceles Triangle 127"/>
          <p:cNvSpPr/>
          <p:nvPr/>
        </p:nvSpPr>
        <p:spPr>
          <a:xfrm rot="16200000">
            <a:off x="2671680"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8" name="Rounded Rectangle 128"/>
          <p:cNvSpPr/>
          <p:nvPr/>
        </p:nvSpPr>
        <p:spPr>
          <a:xfrm>
            <a:off x="480060"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9" name="Oval 129"/>
          <p:cNvSpPr/>
          <p:nvPr/>
        </p:nvSpPr>
        <p:spPr>
          <a:xfrm>
            <a:off x="1759566"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30" name="TextBox 130"/>
          <p:cNvSpPr txBox="1"/>
          <p:nvPr/>
        </p:nvSpPr>
        <p:spPr>
          <a:xfrm>
            <a:off x="1941985"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06</a:t>
            </a:r>
          </a:p>
        </p:txBody>
      </p:sp>
      <p:sp>
        <p:nvSpPr>
          <p:cNvPr id="131" name="TextBox 131"/>
          <p:cNvSpPr txBox="1"/>
          <p:nvPr/>
        </p:nvSpPr>
        <p:spPr>
          <a:xfrm>
            <a:off x="681818"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32" name="TextBox 132"/>
          <p:cNvSpPr txBox="1"/>
          <p:nvPr/>
        </p:nvSpPr>
        <p:spPr>
          <a:xfrm>
            <a:off x="589788" y="3773701"/>
            <a:ext cx="1855578" cy="270715"/>
          </a:xfrm>
          <a:prstGeom prst="rect">
            <a:avLst/>
          </a:prstGeom>
          <a:noFill/>
        </p:spPr>
        <p:txBody>
          <a:bodyPr wrap="square" lIns="0" tIns="0" rIns="0" bIns="0" anchor="ctr">
            <a:spAutoFit/>
          </a:bodyPr>
          <a:lstStyle/>
          <a:p>
            <a:pPr algn="ctr" rtl="1">
              <a:lnSpc>
                <a:spcPct val="105000"/>
              </a:lnSpc>
            </a:pPr>
            <a:r>
              <a:rPr lang="ar-SA" b="1" dirty="0">
                <a:solidFill>
                  <a:srgbClr val="FF0000"/>
                </a:solidFill>
                <a:latin typeface="Arial" panose="020B0604020202020204" pitchFamily="34" charset="0"/>
              </a:rPr>
              <a:t>استلام</a:t>
            </a:r>
            <a:r>
              <a:rPr b="1" dirty="0">
                <a:solidFill>
                  <a:srgbClr val="FF0000"/>
                </a:solidFill>
                <a:latin typeface="Arial" panose="020B0604020202020204" pitchFamily="34" charset="0"/>
              </a:rPr>
              <a:t> </a:t>
            </a:r>
            <a:r>
              <a:rPr b="1" dirty="0" err="1">
                <a:solidFill>
                  <a:srgbClr val="FF0000"/>
                </a:solidFill>
                <a:latin typeface="Arial" panose="020B0604020202020204" pitchFamily="34" charset="0"/>
              </a:rPr>
              <a:t>الخدمة</a:t>
            </a:r>
            <a:endParaRPr b="1" dirty="0">
              <a:solidFill>
                <a:srgbClr val="FF0000"/>
              </a:solidFill>
              <a:latin typeface="Arial" panose="020B0604020202020204" pitchFamily="34" charset="0"/>
            </a:endParaRPr>
          </a:p>
        </p:txBody>
      </p:sp>
    </p:spTree>
    <p:extLst>
      <p:ext uri="{BB962C8B-B14F-4D97-AF65-F5344CB8AC3E}">
        <p14:creationId xmlns:p14="http://schemas.microsoft.com/office/powerpoint/2010/main" val="4032160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18287543"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 name="TextBox 2"/>
          <p:cNvSpPr txBox="1"/>
          <p:nvPr/>
        </p:nvSpPr>
        <p:spPr>
          <a:xfrm>
            <a:off x="5791757" y="380701"/>
            <a:ext cx="2543966" cy="692497"/>
          </a:xfrm>
          <a:prstGeom prst="rect">
            <a:avLst/>
          </a:prstGeom>
          <a:noFill/>
        </p:spPr>
        <p:txBody>
          <a:bodyPr wrap="none" lIns="0" tIns="0" rIns="0" bIns="0" anchor="ctr">
            <a:spAutoFit/>
          </a:bodyPr>
          <a:lstStyle/>
          <a:p>
            <a:pPr algn="ctr" rtl="1">
              <a:lnSpc>
                <a:spcPct val="100000"/>
              </a:lnSpc>
            </a:pPr>
            <a:r>
              <a:rPr sz="4500" b="1">
                <a:solidFill>
                  <a:srgbClr val="1960BD"/>
                </a:solidFill>
                <a:latin typeface="Arial" panose="020B0604020202020204" pitchFamily="34" charset="0"/>
              </a:rPr>
              <a:t>خدمة التركيب</a:t>
            </a:r>
          </a:p>
        </p:txBody>
      </p:sp>
      <p:sp>
        <p:nvSpPr>
          <p:cNvPr id="4" name="Rounded Rectangle 3"/>
          <p:cNvSpPr/>
          <p:nvPr/>
        </p:nvSpPr>
        <p:spPr>
          <a:xfrm>
            <a:off x="3360420" y="1261872"/>
            <a:ext cx="7406640" cy="603504"/>
          </a:xfrm>
          <a:prstGeom prst="roundRect">
            <a:avLst>
              <a:gd name="adj" fmla="val 50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 name="TextBox 4"/>
          <p:cNvSpPr txBox="1"/>
          <p:nvPr/>
        </p:nvSpPr>
        <p:spPr>
          <a:xfrm>
            <a:off x="5427876" y="1419353"/>
            <a:ext cx="3271728" cy="288541"/>
          </a:xfrm>
          <a:prstGeom prst="rect">
            <a:avLst/>
          </a:prstGeom>
          <a:noFill/>
        </p:spPr>
        <p:txBody>
          <a:bodyPr wrap="none" lIns="0" tIns="0" rIns="0" bIns="0" anchor="ctr">
            <a:spAutoFit/>
          </a:bodyPr>
          <a:lstStyle/>
          <a:p>
            <a:pPr algn="ctr" rtl="1">
              <a:lnSpc>
                <a:spcPct val="100000"/>
              </a:lnSpc>
            </a:pPr>
            <a:r>
              <a:rPr sz="1875" b="1">
                <a:solidFill>
                  <a:srgbClr val="000000"/>
                </a:solidFill>
                <a:latin typeface="Arial" panose="020B0604020202020204" pitchFamily="34" charset="0"/>
              </a:rPr>
              <a:t>الجهة المسؤولة: إدارة التركيبات / الفنيون</a:t>
            </a:r>
          </a:p>
        </p:txBody>
      </p:sp>
      <p:pic>
        <p:nvPicPr>
          <p:cNvPr id="6" name="Picture 5" descr="4.png"/>
          <p:cNvPicPr>
            <a:picLocks noChangeAspect="1"/>
          </p:cNvPicPr>
          <p:nvPr/>
        </p:nvPicPr>
        <p:blipFill>
          <a:blip r:embed="rId2"/>
          <a:srcRect/>
          <a:stretch>
            <a:fillRect/>
          </a:stretch>
        </p:blipFill>
        <p:spPr>
          <a:xfrm>
            <a:off x="15670530" y="171450"/>
            <a:ext cx="1988820" cy="1988820"/>
          </a:xfrm>
          <a:prstGeom prst="ellipse">
            <a:avLst/>
          </a:prstGeom>
        </p:spPr>
      </p:pic>
      <p:sp>
        <p:nvSpPr>
          <p:cNvPr id="7" name="Oval 6"/>
          <p:cNvSpPr/>
          <p:nvPr/>
        </p:nvSpPr>
        <p:spPr>
          <a:xfrm>
            <a:off x="15670530" y="171450"/>
            <a:ext cx="1988820" cy="1988820"/>
          </a:xfrm>
          <a:prstGeom prst="ellipse">
            <a:avLst/>
          </a:prstGeom>
          <a:noFill/>
          <a:ln w="381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9" name="TextBox 48"/>
          <p:cNvSpPr txBox="1"/>
          <p:nvPr/>
        </p:nvSpPr>
        <p:spPr>
          <a:xfrm>
            <a:off x="480060" y="4775507"/>
            <a:ext cx="17323308" cy="461665"/>
          </a:xfrm>
          <a:prstGeom prst="rect">
            <a:avLst/>
          </a:prstGeom>
          <a:noFill/>
        </p:spPr>
        <p:txBody>
          <a:bodyPr wrap="square" lIns="0" tIns="0" rIns="0" bIns="0" anchor="ctr">
            <a:spAutoFit/>
          </a:bodyPr>
          <a:lstStyle/>
          <a:p>
            <a:pPr algn="ctr" rtl="1">
              <a:lnSpc>
                <a:spcPct val="100000"/>
              </a:lnSpc>
            </a:pPr>
            <a:r>
              <a:rPr sz="3000" b="1">
                <a:solidFill>
                  <a:srgbClr val="1960BD"/>
                </a:solidFill>
                <a:latin typeface="Arial" panose="020B0604020202020204" pitchFamily="34" charset="0"/>
              </a:rPr>
              <a:t>ملخص الدورة</a:t>
            </a:r>
          </a:p>
        </p:txBody>
      </p:sp>
      <p:sp>
        <p:nvSpPr>
          <p:cNvPr id="50" name="Rounded Rectangle 49"/>
          <p:cNvSpPr/>
          <p:nvPr/>
        </p:nvSpPr>
        <p:spPr>
          <a:xfrm>
            <a:off x="13657707"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1" name="Oval 50"/>
          <p:cNvSpPr/>
          <p:nvPr/>
        </p:nvSpPr>
        <p:spPr>
          <a:xfrm>
            <a:off x="17035272"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2" name="TextBox 51"/>
          <p:cNvSpPr txBox="1"/>
          <p:nvPr/>
        </p:nvSpPr>
        <p:spPr>
          <a:xfrm>
            <a:off x="17181352"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00</a:t>
            </a:r>
          </a:p>
        </p:txBody>
      </p:sp>
      <p:sp>
        <p:nvSpPr>
          <p:cNvPr id="53" name="TextBox 52"/>
          <p:cNvSpPr txBox="1"/>
          <p:nvPr/>
        </p:nvSpPr>
        <p:spPr>
          <a:xfrm>
            <a:off x="13877163" y="6419088"/>
            <a:ext cx="3706749"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وصول فاتورة من SAP تحتوي على خدمة التركيب.</a:t>
            </a:r>
          </a:p>
        </p:txBody>
      </p:sp>
      <p:sp>
        <p:nvSpPr>
          <p:cNvPr id="54" name="Rounded Rectangle 53"/>
          <p:cNvSpPr/>
          <p:nvPr/>
        </p:nvSpPr>
        <p:spPr>
          <a:xfrm>
            <a:off x="13794867" y="6967728"/>
            <a:ext cx="3871341"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5" name="TextBox 54"/>
          <p:cNvSpPr txBox="1"/>
          <p:nvPr/>
        </p:nvSpPr>
        <p:spPr>
          <a:xfrm>
            <a:off x="13877163" y="7115090"/>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آلي من خلال النظام</a:t>
            </a:r>
          </a:p>
        </p:txBody>
      </p:sp>
      <p:sp>
        <p:nvSpPr>
          <p:cNvPr id="56" name="Rounded Rectangle 55"/>
          <p:cNvSpPr/>
          <p:nvPr/>
        </p:nvSpPr>
        <p:spPr>
          <a:xfrm>
            <a:off x="9265158"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7" name="Oval 56"/>
          <p:cNvSpPr/>
          <p:nvPr/>
        </p:nvSpPr>
        <p:spPr>
          <a:xfrm>
            <a:off x="12642723"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8" name="TextBox 57"/>
          <p:cNvSpPr txBox="1"/>
          <p:nvPr/>
        </p:nvSpPr>
        <p:spPr>
          <a:xfrm>
            <a:off x="12788803"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01</a:t>
            </a:r>
          </a:p>
        </p:txBody>
      </p:sp>
      <p:sp>
        <p:nvSpPr>
          <p:cNvPr id="59" name="TextBox 58"/>
          <p:cNvSpPr txBox="1"/>
          <p:nvPr/>
        </p:nvSpPr>
        <p:spPr>
          <a:xfrm>
            <a:off x="9484614" y="6419088"/>
            <a:ext cx="3706749"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إنشاء طلب تركيب داخل نظام خدمات مابعد البيع.</a:t>
            </a:r>
          </a:p>
        </p:txBody>
      </p:sp>
      <p:sp>
        <p:nvSpPr>
          <p:cNvPr id="60" name="Rounded Rectangle 59"/>
          <p:cNvSpPr/>
          <p:nvPr/>
        </p:nvSpPr>
        <p:spPr>
          <a:xfrm>
            <a:off x="9402318" y="6967728"/>
            <a:ext cx="3871341"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1" name="TextBox 60"/>
          <p:cNvSpPr txBox="1"/>
          <p:nvPr/>
        </p:nvSpPr>
        <p:spPr>
          <a:xfrm>
            <a:off x="9484614" y="7115090"/>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آلي من خلال النظام</a:t>
            </a:r>
          </a:p>
        </p:txBody>
      </p:sp>
      <p:sp>
        <p:nvSpPr>
          <p:cNvPr id="62" name="Rounded Rectangle 61"/>
          <p:cNvSpPr/>
          <p:nvPr/>
        </p:nvSpPr>
        <p:spPr>
          <a:xfrm>
            <a:off x="4872609"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3" name="Oval 62"/>
          <p:cNvSpPr/>
          <p:nvPr/>
        </p:nvSpPr>
        <p:spPr>
          <a:xfrm>
            <a:off x="8250174"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4" name="TextBox 63"/>
          <p:cNvSpPr txBox="1"/>
          <p:nvPr/>
        </p:nvSpPr>
        <p:spPr>
          <a:xfrm>
            <a:off x="8396253"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02</a:t>
            </a:r>
          </a:p>
        </p:txBody>
      </p:sp>
      <p:sp>
        <p:nvSpPr>
          <p:cNvPr id="65" name="TextBox 64"/>
          <p:cNvSpPr txBox="1"/>
          <p:nvPr/>
        </p:nvSpPr>
        <p:spPr>
          <a:xfrm>
            <a:off x="5092065" y="6419089"/>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انتقال طلب التركيب إلى مرحلة جدولة خدمة التركيب، وإرسال رابط الحجز وتأكيد الموعد مع العميل.</a:t>
            </a:r>
          </a:p>
        </p:txBody>
      </p:sp>
      <p:sp>
        <p:nvSpPr>
          <p:cNvPr id="66" name="Rounded Rectangle 65"/>
          <p:cNvSpPr/>
          <p:nvPr/>
        </p:nvSpPr>
        <p:spPr>
          <a:xfrm>
            <a:off x="5009769" y="6967728"/>
            <a:ext cx="3871341"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7" name="TextBox 66"/>
          <p:cNvSpPr txBox="1"/>
          <p:nvPr/>
        </p:nvSpPr>
        <p:spPr>
          <a:xfrm>
            <a:off x="5092065" y="7115090"/>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آلي من خلال النظام</a:t>
            </a:r>
          </a:p>
        </p:txBody>
      </p:sp>
      <p:sp>
        <p:nvSpPr>
          <p:cNvPr id="68" name="Rounded Rectangle 67"/>
          <p:cNvSpPr/>
          <p:nvPr/>
        </p:nvSpPr>
        <p:spPr>
          <a:xfrm>
            <a:off x="480060"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9" name="Oval 68"/>
          <p:cNvSpPr/>
          <p:nvPr/>
        </p:nvSpPr>
        <p:spPr>
          <a:xfrm>
            <a:off x="3857625"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0" name="TextBox 69"/>
          <p:cNvSpPr txBox="1"/>
          <p:nvPr/>
        </p:nvSpPr>
        <p:spPr>
          <a:xfrm>
            <a:off x="4003705"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03</a:t>
            </a:r>
          </a:p>
        </p:txBody>
      </p:sp>
      <p:sp>
        <p:nvSpPr>
          <p:cNvPr id="71" name="TextBox 70"/>
          <p:cNvSpPr txBox="1"/>
          <p:nvPr/>
        </p:nvSpPr>
        <p:spPr>
          <a:xfrm>
            <a:off x="699516" y="6419088"/>
            <a:ext cx="3706749" cy="267189"/>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يتم تعيين الفني المسؤول عن تنفيذ خدمة التركيب.</a:t>
            </a:r>
          </a:p>
        </p:txBody>
      </p:sp>
      <p:sp>
        <p:nvSpPr>
          <p:cNvPr id="72" name="Rounded Rectangle 71"/>
          <p:cNvSpPr/>
          <p:nvPr/>
        </p:nvSpPr>
        <p:spPr>
          <a:xfrm>
            <a:off x="617220" y="6967728"/>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3" name="TextBox 72"/>
          <p:cNvSpPr txBox="1"/>
          <p:nvPr/>
        </p:nvSpPr>
        <p:spPr>
          <a:xfrm>
            <a:off x="699516" y="7115090"/>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التركيبات</a:t>
            </a:r>
          </a:p>
        </p:txBody>
      </p:sp>
      <p:sp>
        <p:nvSpPr>
          <p:cNvPr id="74" name="Rounded Rectangle 73"/>
          <p:cNvSpPr/>
          <p:nvPr/>
        </p:nvSpPr>
        <p:spPr>
          <a:xfrm>
            <a:off x="13657707"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5" name="Oval 74"/>
          <p:cNvSpPr/>
          <p:nvPr/>
        </p:nvSpPr>
        <p:spPr>
          <a:xfrm>
            <a:off x="17035272"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6" name="TextBox 75"/>
          <p:cNvSpPr txBox="1"/>
          <p:nvPr/>
        </p:nvSpPr>
        <p:spPr>
          <a:xfrm>
            <a:off x="17181352"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04</a:t>
            </a:r>
          </a:p>
        </p:txBody>
      </p:sp>
      <p:sp>
        <p:nvSpPr>
          <p:cNvPr id="77" name="TextBox 76"/>
          <p:cNvSpPr txBox="1"/>
          <p:nvPr/>
        </p:nvSpPr>
        <p:spPr>
          <a:xfrm>
            <a:off x="13890878" y="8724283"/>
            <a:ext cx="3706749" cy="876009"/>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يتم تنفيذ خدمة التوصيل للعميل عند ارتباط خدمة التركيب بالتوصيل، لضمان وصول البضاعة قبل تنفيذ التركيب.</a:t>
            </a:r>
          </a:p>
        </p:txBody>
      </p:sp>
      <p:sp>
        <p:nvSpPr>
          <p:cNvPr id="80" name="Rounded Rectangle 79"/>
          <p:cNvSpPr/>
          <p:nvPr/>
        </p:nvSpPr>
        <p:spPr>
          <a:xfrm>
            <a:off x="9265158"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1" name="Oval 80"/>
          <p:cNvSpPr/>
          <p:nvPr/>
        </p:nvSpPr>
        <p:spPr>
          <a:xfrm>
            <a:off x="12642723"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2" name="TextBox 81"/>
          <p:cNvSpPr txBox="1"/>
          <p:nvPr/>
        </p:nvSpPr>
        <p:spPr>
          <a:xfrm>
            <a:off x="12788803"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05</a:t>
            </a:r>
          </a:p>
        </p:txBody>
      </p:sp>
      <p:sp>
        <p:nvSpPr>
          <p:cNvPr id="83" name="TextBox 82"/>
          <p:cNvSpPr txBox="1"/>
          <p:nvPr/>
        </p:nvSpPr>
        <p:spPr>
          <a:xfrm>
            <a:off x="9484614" y="8833105"/>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يقوم الفني في موقع العميل بفتح نموذج التركيب وتنفيذ الخدمة وتوثيق بياناته.</a:t>
            </a:r>
          </a:p>
        </p:txBody>
      </p:sp>
      <p:sp>
        <p:nvSpPr>
          <p:cNvPr id="84" name="Rounded Rectangle 83"/>
          <p:cNvSpPr/>
          <p:nvPr/>
        </p:nvSpPr>
        <p:spPr>
          <a:xfrm>
            <a:off x="9402318" y="9381744"/>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5" name="TextBox 84"/>
          <p:cNvSpPr txBox="1"/>
          <p:nvPr/>
        </p:nvSpPr>
        <p:spPr>
          <a:xfrm>
            <a:off x="9484614" y="9529106"/>
            <a:ext cx="3706749" cy="253916"/>
          </a:xfrm>
          <a:prstGeom prst="rect">
            <a:avLst/>
          </a:prstGeom>
          <a:noFill/>
        </p:spPr>
        <p:txBody>
          <a:bodyPr wrap="square" lIns="0" tIns="0" rIns="0" bIns="0" anchor="ctr">
            <a:spAutoFit/>
          </a:bodyPr>
          <a:lstStyle/>
          <a:p>
            <a:pPr algn="ctr" rtl="1">
              <a:lnSpc>
                <a:spcPct val="100000"/>
              </a:lnSpc>
            </a:pPr>
            <a:r>
              <a:rPr lang="ar-SA" sz="1650" b="1">
                <a:solidFill>
                  <a:srgbClr val="0B3658"/>
                </a:solidFill>
                <a:latin typeface="Arial" panose="020B0604020202020204" pitchFamily="34" charset="0"/>
              </a:rPr>
              <a:t>يدوي الفني / إدارة التركيبات</a:t>
            </a:r>
          </a:p>
        </p:txBody>
      </p:sp>
      <p:sp>
        <p:nvSpPr>
          <p:cNvPr id="86" name="Rounded Rectangle 85"/>
          <p:cNvSpPr/>
          <p:nvPr/>
        </p:nvSpPr>
        <p:spPr>
          <a:xfrm>
            <a:off x="4872609"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7" name="Oval 86"/>
          <p:cNvSpPr/>
          <p:nvPr/>
        </p:nvSpPr>
        <p:spPr>
          <a:xfrm>
            <a:off x="8250174"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8" name="TextBox 87"/>
          <p:cNvSpPr txBox="1"/>
          <p:nvPr/>
        </p:nvSpPr>
        <p:spPr>
          <a:xfrm>
            <a:off x="8396253"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06</a:t>
            </a:r>
          </a:p>
        </p:txBody>
      </p:sp>
      <p:sp>
        <p:nvSpPr>
          <p:cNvPr id="89" name="TextBox 88"/>
          <p:cNvSpPr txBox="1"/>
          <p:nvPr/>
        </p:nvSpPr>
        <p:spPr>
          <a:xfrm>
            <a:off x="5092065" y="8833105"/>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بعد إنهاء أعمال التركيب وتوثيق استلام العميل للخدمة، تنتقل المهمة إلى مرحلة تم التركيب.</a:t>
            </a:r>
          </a:p>
        </p:txBody>
      </p:sp>
      <p:sp>
        <p:nvSpPr>
          <p:cNvPr id="90" name="Rounded Rectangle 89"/>
          <p:cNvSpPr/>
          <p:nvPr/>
        </p:nvSpPr>
        <p:spPr>
          <a:xfrm>
            <a:off x="5009769" y="9381744"/>
            <a:ext cx="3871341" cy="548640"/>
          </a:xfrm>
          <a:prstGeom prst="roundRect">
            <a:avLst>
              <a:gd name="adj" fmla="val 50000"/>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1" name="TextBox 90"/>
          <p:cNvSpPr txBox="1"/>
          <p:nvPr/>
        </p:nvSpPr>
        <p:spPr>
          <a:xfrm>
            <a:off x="5092065" y="9529106"/>
            <a:ext cx="3706749" cy="253916"/>
          </a:xfrm>
          <a:prstGeom prst="rect">
            <a:avLst/>
          </a:prstGeom>
          <a:noFill/>
        </p:spPr>
        <p:txBody>
          <a:bodyPr wrap="square" lIns="0" tIns="0" rIns="0" bIns="0" anchor="ctr">
            <a:spAutoFit/>
          </a:bodyPr>
          <a:lstStyle/>
          <a:p>
            <a:pPr algn="ctr" rtl="1">
              <a:lnSpc>
                <a:spcPct val="100000"/>
              </a:lnSpc>
            </a:pPr>
            <a:r>
              <a:rPr sz="1650" b="1">
                <a:solidFill>
                  <a:srgbClr val="FFFFFF"/>
                </a:solidFill>
                <a:latin typeface="Arial" panose="020B0604020202020204" pitchFamily="34" charset="0"/>
              </a:rPr>
              <a:t>آلي من خلال النظام</a:t>
            </a:r>
          </a:p>
        </p:txBody>
      </p:sp>
      <p:sp>
        <p:nvSpPr>
          <p:cNvPr id="92" name="Rounded Rectangle 91"/>
          <p:cNvSpPr/>
          <p:nvPr/>
        </p:nvSpPr>
        <p:spPr>
          <a:xfrm>
            <a:off x="14157620" y="9590543"/>
            <a:ext cx="3257550" cy="458409"/>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3" name="Rectangle 92"/>
          <p:cNvSpPr/>
          <p:nvPr/>
        </p:nvSpPr>
        <p:spPr>
          <a:xfrm>
            <a:off x="15095482" y="9600292"/>
            <a:ext cx="1521571" cy="369332"/>
          </a:xfrm>
          <a:prstGeom prst="rect">
            <a:avLst/>
          </a:prstGeom>
        </p:spPr>
        <p:txBody>
          <a:bodyPr wrap="none">
            <a:spAutoFit/>
          </a:bodyPr>
          <a:lstStyle/>
          <a:p>
            <a:pPr algn="ctr" rtl="1">
              <a:lnSpc>
                <a:spcPct val="100000"/>
              </a:lnSpc>
            </a:pPr>
            <a:r>
              <a:rPr lang="ar-SY" b="1">
                <a:solidFill>
                  <a:srgbClr val="0B3658"/>
                </a:solidFill>
                <a:latin typeface="Arial" panose="020B0604020202020204" pitchFamily="34" charset="0"/>
              </a:rPr>
              <a:t>إدارة المستودعات</a:t>
            </a:r>
            <a:endParaRPr lang="ar-SA" b="1">
              <a:solidFill>
                <a:srgbClr val="0B3658"/>
              </a:solidFill>
              <a:latin typeface="Arial" panose="020B0604020202020204" pitchFamily="34" charset="0"/>
            </a:endParaRPr>
          </a:p>
        </p:txBody>
      </p:sp>
      <p:sp>
        <p:nvSpPr>
          <p:cNvPr id="94" name="Rounded Rectangle 94"/>
          <p:cNvSpPr/>
          <p:nvPr/>
        </p:nvSpPr>
        <p:spPr>
          <a:xfrm>
            <a:off x="15728333"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5" name="Oval 95"/>
          <p:cNvSpPr/>
          <p:nvPr/>
        </p:nvSpPr>
        <p:spPr>
          <a:xfrm>
            <a:off x="17007840"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6" name="TextBox 96"/>
          <p:cNvSpPr txBox="1"/>
          <p:nvPr/>
        </p:nvSpPr>
        <p:spPr>
          <a:xfrm>
            <a:off x="17190259"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00</a:t>
            </a:r>
          </a:p>
        </p:txBody>
      </p:sp>
      <p:sp>
        <p:nvSpPr>
          <p:cNvPr id="97" name="TextBox 97"/>
          <p:cNvSpPr txBox="1"/>
          <p:nvPr/>
        </p:nvSpPr>
        <p:spPr>
          <a:xfrm>
            <a:off x="15930091"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98" name="TextBox 98"/>
          <p:cNvSpPr txBox="1"/>
          <p:nvPr/>
        </p:nvSpPr>
        <p:spPr>
          <a:xfrm>
            <a:off x="15838061"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فاتورة من SAP</a:t>
            </a:r>
          </a:p>
        </p:txBody>
      </p:sp>
      <p:sp>
        <p:nvSpPr>
          <p:cNvPr id="99" name="Isosceles Triangle 99"/>
          <p:cNvSpPr/>
          <p:nvPr/>
        </p:nvSpPr>
        <p:spPr>
          <a:xfrm rot="16200000">
            <a:off x="15378575"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0" name="Rounded Rectangle 100"/>
          <p:cNvSpPr/>
          <p:nvPr/>
        </p:nvSpPr>
        <p:spPr>
          <a:xfrm>
            <a:off x="13186954"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1" name="Oval 101"/>
          <p:cNvSpPr/>
          <p:nvPr/>
        </p:nvSpPr>
        <p:spPr>
          <a:xfrm>
            <a:off x="14466461"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2" name="TextBox 102"/>
          <p:cNvSpPr txBox="1"/>
          <p:nvPr/>
        </p:nvSpPr>
        <p:spPr>
          <a:xfrm>
            <a:off x="14648880"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01</a:t>
            </a:r>
          </a:p>
        </p:txBody>
      </p:sp>
      <p:sp>
        <p:nvSpPr>
          <p:cNvPr id="103" name="TextBox 103"/>
          <p:cNvSpPr txBox="1"/>
          <p:nvPr/>
        </p:nvSpPr>
        <p:spPr>
          <a:xfrm>
            <a:off x="13388712"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04" name="TextBox 104"/>
          <p:cNvSpPr txBox="1"/>
          <p:nvPr/>
        </p:nvSpPr>
        <p:spPr>
          <a:xfrm>
            <a:off x="13296682"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طلب تركيب</a:t>
            </a:r>
          </a:p>
        </p:txBody>
      </p:sp>
      <p:sp>
        <p:nvSpPr>
          <p:cNvPr id="105" name="Isosceles Triangle 105"/>
          <p:cNvSpPr/>
          <p:nvPr/>
        </p:nvSpPr>
        <p:spPr>
          <a:xfrm rot="16200000">
            <a:off x="12837196"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6" name="Rounded Rectangle 106"/>
          <p:cNvSpPr/>
          <p:nvPr/>
        </p:nvSpPr>
        <p:spPr>
          <a:xfrm>
            <a:off x="10645575"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7" name="Oval 107"/>
          <p:cNvSpPr/>
          <p:nvPr/>
        </p:nvSpPr>
        <p:spPr>
          <a:xfrm>
            <a:off x="11925082"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8" name="TextBox 108"/>
          <p:cNvSpPr txBox="1"/>
          <p:nvPr/>
        </p:nvSpPr>
        <p:spPr>
          <a:xfrm>
            <a:off x="12107501"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02</a:t>
            </a:r>
          </a:p>
        </p:txBody>
      </p:sp>
      <p:sp>
        <p:nvSpPr>
          <p:cNvPr id="109" name="TextBox 109"/>
          <p:cNvSpPr txBox="1"/>
          <p:nvPr/>
        </p:nvSpPr>
        <p:spPr>
          <a:xfrm>
            <a:off x="10847333"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10" name="TextBox 110"/>
          <p:cNvSpPr txBox="1"/>
          <p:nvPr/>
        </p:nvSpPr>
        <p:spPr>
          <a:xfrm>
            <a:off x="10755303"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جدولة خدمة التركيب</a:t>
            </a:r>
          </a:p>
        </p:txBody>
      </p:sp>
      <p:sp>
        <p:nvSpPr>
          <p:cNvPr id="111" name="Isosceles Triangle 111"/>
          <p:cNvSpPr/>
          <p:nvPr/>
        </p:nvSpPr>
        <p:spPr>
          <a:xfrm rot="16200000">
            <a:off x="10295817"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2" name="Rounded Rectangle 112"/>
          <p:cNvSpPr/>
          <p:nvPr/>
        </p:nvSpPr>
        <p:spPr>
          <a:xfrm>
            <a:off x="8104196"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3" name="Oval 113"/>
          <p:cNvSpPr/>
          <p:nvPr/>
        </p:nvSpPr>
        <p:spPr>
          <a:xfrm>
            <a:off x="9383703"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4" name="TextBox 114"/>
          <p:cNvSpPr txBox="1"/>
          <p:nvPr/>
        </p:nvSpPr>
        <p:spPr>
          <a:xfrm>
            <a:off x="9566122"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03</a:t>
            </a:r>
          </a:p>
        </p:txBody>
      </p:sp>
      <p:sp>
        <p:nvSpPr>
          <p:cNvPr id="115" name="TextBox 115"/>
          <p:cNvSpPr txBox="1"/>
          <p:nvPr/>
        </p:nvSpPr>
        <p:spPr>
          <a:xfrm>
            <a:off x="8305954"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16" name="TextBox 116"/>
          <p:cNvSpPr txBox="1"/>
          <p:nvPr/>
        </p:nvSpPr>
        <p:spPr>
          <a:xfrm>
            <a:off x="8213924"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في انتظار تعيين الفني</a:t>
            </a:r>
          </a:p>
        </p:txBody>
      </p:sp>
      <p:sp>
        <p:nvSpPr>
          <p:cNvPr id="117" name="Isosceles Triangle 117"/>
          <p:cNvSpPr/>
          <p:nvPr/>
        </p:nvSpPr>
        <p:spPr>
          <a:xfrm rot="16200000">
            <a:off x="7754438"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8" name="Rounded Rectangle 118"/>
          <p:cNvSpPr/>
          <p:nvPr/>
        </p:nvSpPr>
        <p:spPr>
          <a:xfrm>
            <a:off x="5562817"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9" name="Oval 119"/>
          <p:cNvSpPr/>
          <p:nvPr/>
        </p:nvSpPr>
        <p:spPr>
          <a:xfrm>
            <a:off x="6842324"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0" name="TextBox 120"/>
          <p:cNvSpPr txBox="1"/>
          <p:nvPr/>
        </p:nvSpPr>
        <p:spPr>
          <a:xfrm>
            <a:off x="7024743"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04</a:t>
            </a:r>
          </a:p>
        </p:txBody>
      </p:sp>
      <p:sp>
        <p:nvSpPr>
          <p:cNvPr id="121" name="TextBox 121"/>
          <p:cNvSpPr txBox="1"/>
          <p:nvPr/>
        </p:nvSpPr>
        <p:spPr>
          <a:xfrm>
            <a:off x="5764575"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22" name="TextBox 122"/>
          <p:cNvSpPr txBox="1"/>
          <p:nvPr/>
        </p:nvSpPr>
        <p:spPr>
          <a:xfrm>
            <a:off x="5672545"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تنفيذ خدمة التوصيل للعميل</a:t>
            </a:r>
          </a:p>
        </p:txBody>
      </p:sp>
      <p:sp>
        <p:nvSpPr>
          <p:cNvPr id="123" name="Isosceles Triangle 123"/>
          <p:cNvSpPr/>
          <p:nvPr/>
        </p:nvSpPr>
        <p:spPr>
          <a:xfrm rot="16200000">
            <a:off x="5213059"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4" name="Rounded Rectangle 124"/>
          <p:cNvSpPr/>
          <p:nvPr/>
        </p:nvSpPr>
        <p:spPr>
          <a:xfrm>
            <a:off x="3021438" y="2400300"/>
            <a:ext cx="2075034" cy="2125980"/>
          </a:xfrm>
          <a:prstGeom prst="roundRect">
            <a:avLst>
              <a:gd name="adj" fmla="val 16000"/>
            </a:avLst>
          </a:prstGeom>
          <a:no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5" name="Oval 125"/>
          <p:cNvSpPr/>
          <p:nvPr/>
        </p:nvSpPr>
        <p:spPr>
          <a:xfrm>
            <a:off x="4300945"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6" name="TextBox 126"/>
          <p:cNvSpPr txBox="1"/>
          <p:nvPr/>
        </p:nvSpPr>
        <p:spPr>
          <a:xfrm>
            <a:off x="4483364"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05</a:t>
            </a:r>
          </a:p>
        </p:txBody>
      </p:sp>
      <p:sp>
        <p:nvSpPr>
          <p:cNvPr id="127" name="TextBox 127"/>
          <p:cNvSpPr txBox="1"/>
          <p:nvPr/>
        </p:nvSpPr>
        <p:spPr>
          <a:xfrm>
            <a:off x="3223196"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28" name="TextBox 128"/>
          <p:cNvSpPr txBox="1"/>
          <p:nvPr/>
        </p:nvSpPr>
        <p:spPr>
          <a:xfrm>
            <a:off x="3131166"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ملئ النموذج</a:t>
            </a:r>
          </a:p>
        </p:txBody>
      </p:sp>
      <p:sp>
        <p:nvSpPr>
          <p:cNvPr id="129" name="Isosceles Triangle 129"/>
          <p:cNvSpPr/>
          <p:nvPr/>
        </p:nvSpPr>
        <p:spPr>
          <a:xfrm rot="16200000">
            <a:off x="2671680"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30" name="Rounded Rectangle 130"/>
          <p:cNvSpPr/>
          <p:nvPr/>
        </p:nvSpPr>
        <p:spPr>
          <a:xfrm>
            <a:off x="480060"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31" name="Oval 131"/>
          <p:cNvSpPr/>
          <p:nvPr/>
        </p:nvSpPr>
        <p:spPr>
          <a:xfrm>
            <a:off x="1759566"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32" name="TextBox 132"/>
          <p:cNvSpPr txBox="1"/>
          <p:nvPr/>
        </p:nvSpPr>
        <p:spPr>
          <a:xfrm>
            <a:off x="1941985"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06</a:t>
            </a:r>
          </a:p>
        </p:txBody>
      </p:sp>
      <p:sp>
        <p:nvSpPr>
          <p:cNvPr id="133" name="TextBox 133"/>
          <p:cNvSpPr txBox="1"/>
          <p:nvPr/>
        </p:nvSpPr>
        <p:spPr>
          <a:xfrm>
            <a:off x="681818"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34" name="TextBox 134"/>
          <p:cNvSpPr txBox="1"/>
          <p:nvPr/>
        </p:nvSpPr>
        <p:spPr>
          <a:xfrm>
            <a:off x="589788" y="3773701"/>
            <a:ext cx="1855578" cy="270715"/>
          </a:xfrm>
          <a:prstGeom prst="rect">
            <a:avLst/>
          </a:prstGeom>
          <a:noFill/>
        </p:spPr>
        <p:txBody>
          <a:bodyPr wrap="square" lIns="0" tIns="0" rIns="0" bIns="0" anchor="ctr">
            <a:spAutoFit/>
          </a:bodyPr>
          <a:lstStyle/>
          <a:p>
            <a:pPr algn="ctr" rtl="1">
              <a:lnSpc>
                <a:spcPct val="105000"/>
              </a:lnSpc>
            </a:pPr>
            <a:r>
              <a:rPr lang="ar-SA" b="1" dirty="0">
                <a:solidFill>
                  <a:srgbClr val="FF0000"/>
                </a:solidFill>
                <a:latin typeface="Arial" panose="020B0604020202020204" pitchFamily="34" charset="0"/>
              </a:rPr>
              <a:t>استلام الخدمة</a:t>
            </a:r>
            <a:endParaRPr b="1" dirty="0">
              <a:solidFill>
                <a:srgbClr val="FF0000"/>
              </a:solidFill>
              <a:latin typeface="Arial" panose="020B0604020202020204" pitchFamily="34" charset="0"/>
            </a:endParaRPr>
          </a:p>
        </p:txBody>
      </p:sp>
    </p:spTree>
    <p:extLst>
      <p:ext uri="{BB962C8B-B14F-4D97-AF65-F5344CB8AC3E}">
        <p14:creationId xmlns:p14="http://schemas.microsoft.com/office/powerpoint/2010/main" val="1991186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18287543"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 name="TextBox 2"/>
          <p:cNvSpPr txBox="1"/>
          <p:nvPr/>
        </p:nvSpPr>
        <p:spPr>
          <a:xfrm>
            <a:off x="5762102" y="380701"/>
            <a:ext cx="2603277" cy="692497"/>
          </a:xfrm>
          <a:prstGeom prst="rect">
            <a:avLst/>
          </a:prstGeom>
          <a:noFill/>
        </p:spPr>
        <p:txBody>
          <a:bodyPr wrap="none" lIns="0" tIns="0" rIns="0" bIns="0" anchor="ctr">
            <a:spAutoFit/>
          </a:bodyPr>
          <a:lstStyle/>
          <a:p>
            <a:pPr algn="ctr" rtl="1">
              <a:lnSpc>
                <a:spcPct val="100000"/>
              </a:lnSpc>
            </a:pPr>
            <a:r>
              <a:rPr sz="4500" b="1">
                <a:solidFill>
                  <a:srgbClr val="1960BD"/>
                </a:solidFill>
                <a:latin typeface="Arial" panose="020B0604020202020204" pitchFamily="34" charset="0"/>
              </a:rPr>
              <a:t>خدمة التصميم</a:t>
            </a:r>
          </a:p>
        </p:txBody>
      </p:sp>
      <p:sp>
        <p:nvSpPr>
          <p:cNvPr id="4" name="Rounded Rectangle 3"/>
          <p:cNvSpPr/>
          <p:nvPr/>
        </p:nvSpPr>
        <p:spPr>
          <a:xfrm>
            <a:off x="3360420" y="1261872"/>
            <a:ext cx="7406640" cy="603504"/>
          </a:xfrm>
          <a:prstGeom prst="roundRect">
            <a:avLst>
              <a:gd name="adj" fmla="val 50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 name="TextBox 4"/>
          <p:cNvSpPr txBox="1"/>
          <p:nvPr/>
        </p:nvSpPr>
        <p:spPr>
          <a:xfrm>
            <a:off x="5843855" y="1419353"/>
            <a:ext cx="2439771" cy="288541"/>
          </a:xfrm>
          <a:prstGeom prst="rect">
            <a:avLst/>
          </a:prstGeom>
          <a:noFill/>
        </p:spPr>
        <p:txBody>
          <a:bodyPr wrap="none" lIns="0" tIns="0" rIns="0" bIns="0" anchor="ctr">
            <a:spAutoFit/>
          </a:bodyPr>
          <a:lstStyle/>
          <a:p>
            <a:pPr algn="ctr" rtl="1">
              <a:lnSpc>
                <a:spcPct val="100000"/>
              </a:lnSpc>
            </a:pPr>
            <a:r>
              <a:rPr sz="1875" b="1">
                <a:solidFill>
                  <a:srgbClr val="000000"/>
                </a:solidFill>
                <a:latin typeface="Arial" panose="020B0604020202020204" pitchFamily="34" charset="0"/>
              </a:rPr>
              <a:t>الجهة المسؤولة: إدارة التصميم</a:t>
            </a:r>
          </a:p>
        </p:txBody>
      </p:sp>
      <p:pic>
        <p:nvPicPr>
          <p:cNvPr id="6" name="Picture 5" descr="5.png"/>
          <p:cNvPicPr>
            <a:picLocks noChangeAspect="1"/>
          </p:cNvPicPr>
          <p:nvPr/>
        </p:nvPicPr>
        <p:blipFill>
          <a:blip r:embed="rId2"/>
          <a:srcRect/>
          <a:stretch>
            <a:fillRect/>
          </a:stretch>
        </p:blipFill>
        <p:spPr>
          <a:xfrm>
            <a:off x="15670530" y="171450"/>
            <a:ext cx="1988820" cy="1988820"/>
          </a:xfrm>
          <a:prstGeom prst="ellipse">
            <a:avLst/>
          </a:prstGeom>
        </p:spPr>
      </p:pic>
      <p:sp>
        <p:nvSpPr>
          <p:cNvPr id="7" name="Oval 6"/>
          <p:cNvSpPr/>
          <p:nvPr/>
        </p:nvSpPr>
        <p:spPr>
          <a:xfrm>
            <a:off x="15670530" y="171450"/>
            <a:ext cx="1988820" cy="1988820"/>
          </a:xfrm>
          <a:prstGeom prst="ellipse">
            <a:avLst/>
          </a:prstGeom>
          <a:noFill/>
          <a:ln w="381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9" name="TextBox 48"/>
          <p:cNvSpPr txBox="1"/>
          <p:nvPr/>
        </p:nvSpPr>
        <p:spPr>
          <a:xfrm>
            <a:off x="480060" y="4775507"/>
            <a:ext cx="17323308" cy="461665"/>
          </a:xfrm>
          <a:prstGeom prst="rect">
            <a:avLst/>
          </a:prstGeom>
          <a:noFill/>
        </p:spPr>
        <p:txBody>
          <a:bodyPr wrap="square" lIns="0" tIns="0" rIns="0" bIns="0" anchor="ctr">
            <a:spAutoFit/>
          </a:bodyPr>
          <a:lstStyle/>
          <a:p>
            <a:pPr algn="ctr" rtl="1">
              <a:lnSpc>
                <a:spcPct val="100000"/>
              </a:lnSpc>
            </a:pPr>
            <a:r>
              <a:rPr sz="3000" b="1">
                <a:solidFill>
                  <a:srgbClr val="1960BD"/>
                </a:solidFill>
                <a:latin typeface="Arial" panose="020B0604020202020204" pitchFamily="34" charset="0"/>
              </a:rPr>
              <a:t>ملخص الدورة</a:t>
            </a:r>
          </a:p>
        </p:txBody>
      </p:sp>
      <p:sp>
        <p:nvSpPr>
          <p:cNvPr id="50" name="Rounded Rectangle 49"/>
          <p:cNvSpPr/>
          <p:nvPr/>
        </p:nvSpPr>
        <p:spPr>
          <a:xfrm>
            <a:off x="13657707"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1" name="Oval 50"/>
          <p:cNvSpPr/>
          <p:nvPr/>
        </p:nvSpPr>
        <p:spPr>
          <a:xfrm>
            <a:off x="17035272"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2" name="TextBox 51"/>
          <p:cNvSpPr txBox="1"/>
          <p:nvPr/>
        </p:nvSpPr>
        <p:spPr>
          <a:xfrm>
            <a:off x="17181352"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00</a:t>
            </a:r>
          </a:p>
        </p:txBody>
      </p:sp>
      <p:sp>
        <p:nvSpPr>
          <p:cNvPr id="53" name="TextBox 52"/>
          <p:cNvSpPr txBox="1"/>
          <p:nvPr/>
        </p:nvSpPr>
        <p:spPr>
          <a:xfrm>
            <a:off x="13877163" y="6419088"/>
            <a:ext cx="3706749"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وصول فاتورة من SAP تحتوي على خدمة التصميم.</a:t>
            </a:r>
          </a:p>
        </p:txBody>
      </p:sp>
      <p:sp>
        <p:nvSpPr>
          <p:cNvPr id="54" name="Rounded Rectangle 53"/>
          <p:cNvSpPr/>
          <p:nvPr/>
        </p:nvSpPr>
        <p:spPr>
          <a:xfrm>
            <a:off x="13794867" y="6967728"/>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5" name="TextBox 54"/>
          <p:cNvSpPr txBox="1"/>
          <p:nvPr/>
        </p:nvSpPr>
        <p:spPr>
          <a:xfrm>
            <a:off x="13877163" y="7115090"/>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التصميم</a:t>
            </a:r>
          </a:p>
        </p:txBody>
      </p:sp>
      <p:sp>
        <p:nvSpPr>
          <p:cNvPr id="56" name="Rounded Rectangle 55"/>
          <p:cNvSpPr/>
          <p:nvPr/>
        </p:nvSpPr>
        <p:spPr>
          <a:xfrm>
            <a:off x="9265158"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7" name="Oval 56"/>
          <p:cNvSpPr/>
          <p:nvPr/>
        </p:nvSpPr>
        <p:spPr>
          <a:xfrm>
            <a:off x="12642723"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8" name="TextBox 57"/>
          <p:cNvSpPr txBox="1"/>
          <p:nvPr/>
        </p:nvSpPr>
        <p:spPr>
          <a:xfrm>
            <a:off x="12788803"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01</a:t>
            </a:r>
          </a:p>
        </p:txBody>
      </p:sp>
      <p:sp>
        <p:nvSpPr>
          <p:cNvPr id="59" name="TextBox 58"/>
          <p:cNvSpPr txBox="1"/>
          <p:nvPr/>
        </p:nvSpPr>
        <p:spPr>
          <a:xfrm>
            <a:off x="9484614" y="6419088"/>
            <a:ext cx="3706749"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إنشاء طلب تصميم وبدء دورة خدمة التصميم.</a:t>
            </a:r>
          </a:p>
        </p:txBody>
      </p:sp>
      <p:sp>
        <p:nvSpPr>
          <p:cNvPr id="60" name="Rounded Rectangle 59"/>
          <p:cNvSpPr/>
          <p:nvPr/>
        </p:nvSpPr>
        <p:spPr>
          <a:xfrm>
            <a:off x="9402318" y="6967728"/>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1" name="TextBox 60"/>
          <p:cNvSpPr txBox="1"/>
          <p:nvPr/>
        </p:nvSpPr>
        <p:spPr>
          <a:xfrm>
            <a:off x="9484614" y="7115090"/>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التصميم</a:t>
            </a:r>
          </a:p>
        </p:txBody>
      </p:sp>
      <p:sp>
        <p:nvSpPr>
          <p:cNvPr id="62" name="Rounded Rectangle 61"/>
          <p:cNvSpPr/>
          <p:nvPr/>
        </p:nvSpPr>
        <p:spPr>
          <a:xfrm>
            <a:off x="4872609"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3" name="Oval 62"/>
          <p:cNvSpPr/>
          <p:nvPr/>
        </p:nvSpPr>
        <p:spPr>
          <a:xfrm>
            <a:off x="8250174"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4" name="TextBox 63"/>
          <p:cNvSpPr txBox="1"/>
          <p:nvPr/>
        </p:nvSpPr>
        <p:spPr>
          <a:xfrm>
            <a:off x="8396253"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02</a:t>
            </a:r>
          </a:p>
        </p:txBody>
      </p:sp>
      <p:sp>
        <p:nvSpPr>
          <p:cNvPr id="65" name="TextBox 64"/>
          <p:cNvSpPr txBox="1"/>
          <p:nvPr/>
        </p:nvSpPr>
        <p:spPr>
          <a:xfrm>
            <a:off x="5092065" y="6419088"/>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إسناد طلب التصميم إلى المصمم المسؤول عن تنفيذ الخدمة.</a:t>
            </a:r>
          </a:p>
        </p:txBody>
      </p:sp>
      <p:sp>
        <p:nvSpPr>
          <p:cNvPr id="66" name="Rounded Rectangle 65"/>
          <p:cNvSpPr/>
          <p:nvPr/>
        </p:nvSpPr>
        <p:spPr>
          <a:xfrm>
            <a:off x="5009769" y="6967728"/>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7" name="TextBox 66"/>
          <p:cNvSpPr txBox="1"/>
          <p:nvPr/>
        </p:nvSpPr>
        <p:spPr>
          <a:xfrm>
            <a:off x="5092065" y="7115090"/>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التصميم</a:t>
            </a:r>
          </a:p>
        </p:txBody>
      </p:sp>
      <p:sp>
        <p:nvSpPr>
          <p:cNvPr id="68" name="Rounded Rectangle 67"/>
          <p:cNvSpPr/>
          <p:nvPr/>
        </p:nvSpPr>
        <p:spPr>
          <a:xfrm>
            <a:off x="480060"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9" name="Oval 68"/>
          <p:cNvSpPr/>
          <p:nvPr/>
        </p:nvSpPr>
        <p:spPr>
          <a:xfrm>
            <a:off x="3857625"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0" name="TextBox 69"/>
          <p:cNvSpPr txBox="1"/>
          <p:nvPr/>
        </p:nvSpPr>
        <p:spPr>
          <a:xfrm>
            <a:off x="4003705"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03</a:t>
            </a:r>
          </a:p>
        </p:txBody>
      </p:sp>
      <p:sp>
        <p:nvSpPr>
          <p:cNvPr id="71" name="TextBox 70"/>
          <p:cNvSpPr txBox="1"/>
          <p:nvPr/>
        </p:nvSpPr>
        <p:spPr>
          <a:xfrm>
            <a:off x="699516" y="6419089"/>
            <a:ext cx="3706749" cy="559192"/>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يبدأ المصمم العمل على التصميم وإعداد المقترح حسب متطلبات العميل.</a:t>
            </a:r>
          </a:p>
        </p:txBody>
      </p:sp>
      <p:sp>
        <p:nvSpPr>
          <p:cNvPr id="72" name="Rounded Rectangle 71"/>
          <p:cNvSpPr/>
          <p:nvPr/>
        </p:nvSpPr>
        <p:spPr>
          <a:xfrm>
            <a:off x="617220" y="6967728"/>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3" name="TextBox 72"/>
          <p:cNvSpPr txBox="1"/>
          <p:nvPr/>
        </p:nvSpPr>
        <p:spPr>
          <a:xfrm>
            <a:off x="699516" y="7115090"/>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التصميم</a:t>
            </a:r>
          </a:p>
        </p:txBody>
      </p:sp>
      <p:sp>
        <p:nvSpPr>
          <p:cNvPr id="74" name="Rounded Rectangle 73"/>
          <p:cNvSpPr/>
          <p:nvPr/>
        </p:nvSpPr>
        <p:spPr>
          <a:xfrm>
            <a:off x="13657707"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5" name="Oval 74"/>
          <p:cNvSpPr/>
          <p:nvPr/>
        </p:nvSpPr>
        <p:spPr>
          <a:xfrm>
            <a:off x="17035272"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6" name="TextBox 75"/>
          <p:cNvSpPr txBox="1"/>
          <p:nvPr/>
        </p:nvSpPr>
        <p:spPr>
          <a:xfrm>
            <a:off x="17181352"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04</a:t>
            </a:r>
          </a:p>
        </p:txBody>
      </p:sp>
      <p:sp>
        <p:nvSpPr>
          <p:cNvPr id="77" name="TextBox 76"/>
          <p:cNvSpPr txBox="1"/>
          <p:nvPr/>
        </p:nvSpPr>
        <p:spPr>
          <a:xfrm>
            <a:off x="13877163" y="8833104"/>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يتم استكمال المراجعات والموافقات الداخلية على التصميم.</a:t>
            </a:r>
          </a:p>
        </p:txBody>
      </p:sp>
      <p:sp>
        <p:nvSpPr>
          <p:cNvPr id="78" name="Rounded Rectangle 77"/>
          <p:cNvSpPr/>
          <p:nvPr/>
        </p:nvSpPr>
        <p:spPr>
          <a:xfrm>
            <a:off x="13794867" y="9381744"/>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9" name="TextBox 78"/>
          <p:cNvSpPr txBox="1"/>
          <p:nvPr/>
        </p:nvSpPr>
        <p:spPr>
          <a:xfrm>
            <a:off x="13877163" y="9529106"/>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التصميم</a:t>
            </a:r>
          </a:p>
        </p:txBody>
      </p:sp>
      <p:sp>
        <p:nvSpPr>
          <p:cNvPr id="80" name="Rounded Rectangle 79"/>
          <p:cNvSpPr/>
          <p:nvPr/>
        </p:nvSpPr>
        <p:spPr>
          <a:xfrm>
            <a:off x="9265158"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1" name="Oval 80"/>
          <p:cNvSpPr/>
          <p:nvPr/>
        </p:nvSpPr>
        <p:spPr>
          <a:xfrm>
            <a:off x="12642723"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2" name="TextBox 81"/>
          <p:cNvSpPr txBox="1"/>
          <p:nvPr/>
        </p:nvSpPr>
        <p:spPr>
          <a:xfrm>
            <a:off x="12788803"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05</a:t>
            </a:r>
          </a:p>
        </p:txBody>
      </p:sp>
      <p:sp>
        <p:nvSpPr>
          <p:cNvPr id="83" name="TextBox 82"/>
          <p:cNvSpPr txBox="1"/>
          <p:nvPr/>
        </p:nvSpPr>
        <p:spPr>
          <a:xfrm>
            <a:off x="9484614" y="8833104"/>
            <a:ext cx="3706749"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يتم إرسال أو عرض التصميم للعميل بانتظار اعتماده.</a:t>
            </a:r>
          </a:p>
        </p:txBody>
      </p:sp>
      <p:sp>
        <p:nvSpPr>
          <p:cNvPr id="84" name="Rounded Rectangle 83"/>
          <p:cNvSpPr/>
          <p:nvPr/>
        </p:nvSpPr>
        <p:spPr>
          <a:xfrm>
            <a:off x="9402318" y="9381744"/>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5" name="TextBox 84"/>
          <p:cNvSpPr txBox="1"/>
          <p:nvPr/>
        </p:nvSpPr>
        <p:spPr>
          <a:xfrm>
            <a:off x="9484614" y="9529106"/>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التصميم</a:t>
            </a:r>
          </a:p>
        </p:txBody>
      </p:sp>
      <p:sp>
        <p:nvSpPr>
          <p:cNvPr id="86" name="Rounded Rectangle 85"/>
          <p:cNvSpPr/>
          <p:nvPr/>
        </p:nvSpPr>
        <p:spPr>
          <a:xfrm>
            <a:off x="4872609"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7" name="Oval 86"/>
          <p:cNvSpPr/>
          <p:nvPr/>
        </p:nvSpPr>
        <p:spPr>
          <a:xfrm>
            <a:off x="8250174"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8" name="TextBox 87"/>
          <p:cNvSpPr txBox="1"/>
          <p:nvPr/>
        </p:nvSpPr>
        <p:spPr>
          <a:xfrm>
            <a:off x="8396253"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06</a:t>
            </a:r>
          </a:p>
        </p:txBody>
      </p:sp>
      <p:sp>
        <p:nvSpPr>
          <p:cNvPr id="89" name="TextBox 88"/>
          <p:cNvSpPr txBox="1"/>
          <p:nvPr/>
        </p:nvSpPr>
        <p:spPr>
          <a:xfrm>
            <a:off x="5092065" y="8833105"/>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بعد اعتماد التصميم، تنتقل المهمة إلى مرحلة مكتمل ومعتمد وتنتهي دورة التصميم.</a:t>
            </a:r>
          </a:p>
        </p:txBody>
      </p:sp>
      <p:sp>
        <p:nvSpPr>
          <p:cNvPr id="90" name="Rounded Rectangle 89"/>
          <p:cNvSpPr/>
          <p:nvPr/>
        </p:nvSpPr>
        <p:spPr>
          <a:xfrm>
            <a:off x="5009769" y="9381744"/>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1" name="TextBox 90"/>
          <p:cNvSpPr txBox="1"/>
          <p:nvPr/>
        </p:nvSpPr>
        <p:spPr>
          <a:xfrm>
            <a:off x="5092065" y="9529106"/>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التصميم</a:t>
            </a:r>
          </a:p>
        </p:txBody>
      </p:sp>
      <p:sp>
        <p:nvSpPr>
          <p:cNvPr id="92" name="Rounded Rectangle 92"/>
          <p:cNvSpPr/>
          <p:nvPr/>
        </p:nvSpPr>
        <p:spPr>
          <a:xfrm>
            <a:off x="15728333"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3" name="Oval 93"/>
          <p:cNvSpPr/>
          <p:nvPr/>
        </p:nvSpPr>
        <p:spPr>
          <a:xfrm>
            <a:off x="17007840"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4" name="TextBox 94"/>
          <p:cNvSpPr txBox="1"/>
          <p:nvPr/>
        </p:nvSpPr>
        <p:spPr>
          <a:xfrm>
            <a:off x="17190259"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00</a:t>
            </a:r>
          </a:p>
        </p:txBody>
      </p:sp>
      <p:sp>
        <p:nvSpPr>
          <p:cNvPr id="95" name="TextBox 95"/>
          <p:cNvSpPr txBox="1"/>
          <p:nvPr/>
        </p:nvSpPr>
        <p:spPr>
          <a:xfrm>
            <a:off x="15930091"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96" name="TextBox 96"/>
          <p:cNvSpPr txBox="1"/>
          <p:nvPr/>
        </p:nvSpPr>
        <p:spPr>
          <a:xfrm>
            <a:off x="15838061"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فاتورة من SAP</a:t>
            </a:r>
          </a:p>
        </p:txBody>
      </p:sp>
      <p:sp>
        <p:nvSpPr>
          <p:cNvPr id="97" name="Isosceles Triangle 97"/>
          <p:cNvSpPr/>
          <p:nvPr/>
        </p:nvSpPr>
        <p:spPr>
          <a:xfrm rot="16200000">
            <a:off x="15378575"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8" name="Rounded Rectangle 98"/>
          <p:cNvSpPr/>
          <p:nvPr/>
        </p:nvSpPr>
        <p:spPr>
          <a:xfrm>
            <a:off x="13186954"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9" name="Oval 99"/>
          <p:cNvSpPr/>
          <p:nvPr/>
        </p:nvSpPr>
        <p:spPr>
          <a:xfrm>
            <a:off x="14466461"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0" name="TextBox 100"/>
          <p:cNvSpPr txBox="1"/>
          <p:nvPr/>
        </p:nvSpPr>
        <p:spPr>
          <a:xfrm>
            <a:off x="14648880"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01</a:t>
            </a:r>
          </a:p>
        </p:txBody>
      </p:sp>
      <p:sp>
        <p:nvSpPr>
          <p:cNvPr id="101" name="TextBox 101"/>
          <p:cNvSpPr txBox="1"/>
          <p:nvPr/>
        </p:nvSpPr>
        <p:spPr>
          <a:xfrm>
            <a:off x="13388712"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02" name="TextBox 102"/>
          <p:cNvSpPr txBox="1"/>
          <p:nvPr/>
        </p:nvSpPr>
        <p:spPr>
          <a:xfrm>
            <a:off x="13296682"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طلب تصميم</a:t>
            </a:r>
          </a:p>
        </p:txBody>
      </p:sp>
      <p:sp>
        <p:nvSpPr>
          <p:cNvPr id="103" name="Isosceles Triangle 103"/>
          <p:cNvSpPr/>
          <p:nvPr/>
        </p:nvSpPr>
        <p:spPr>
          <a:xfrm rot="16200000">
            <a:off x="12837196"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4" name="Rounded Rectangle 104"/>
          <p:cNvSpPr/>
          <p:nvPr/>
        </p:nvSpPr>
        <p:spPr>
          <a:xfrm>
            <a:off x="10645575"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5" name="Oval 105"/>
          <p:cNvSpPr/>
          <p:nvPr/>
        </p:nvSpPr>
        <p:spPr>
          <a:xfrm>
            <a:off x="11925082"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6" name="TextBox 106"/>
          <p:cNvSpPr txBox="1"/>
          <p:nvPr/>
        </p:nvSpPr>
        <p:spPr>
          <a:xfrm>
            <a:off x="12107501"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02</a:t>
            </a:r>
          </a:p>
        </p:txBody>
      </p:sp>
      <p:sp>
        <p:nvSpPr>
          <p:cNvPr id="107" name="TextBox 107"/>
          <p:cNvSpPr txBox="1"/>
          <p:nvPr/>
        </p:nvSpPr>
        <p:spPr>
          <a:xfrm>
            <a:off x="10847333"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08" name="TextBox 108"/>
          <p:cNvSpPr txBox="1"/>
          <p:nvPr/>
        </p:nvSpPr>
        <p:spPr>
          <a:xfrm>
            <a:off x="10755303"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مُسندة لمصمم</a:t>
            </a:r>
          </a:p>
        </p:txBody>
      </p:sp>
      <p:sp>
        <p:nvSpPr>
          <p:cNvPr id="109" name="Isosceles Triangle 109"/>
          <p:cNvSpPr/>
          <p:nvPr/>
        </p:nvSpPr>
        <p:spPr>
          <a:xfrm rot="16200000">
            <a:off x="10295817"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0" name="Rounded Rectangle 110"/>
          <p:cNvSpPr/>
          <p:nvPr/>
        </p:nvSpPr>
        <p:spPr>
          <a:xfrm>
            <a:off x="8104196"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1" name="Oval 111"/>
          <p:cNvSpPr/>
          <p:nvPr/>
        </p:nvSpPr>
        <p:spPr>
          <a:xfrm>
            <a:off x="9383703"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2" name="TextBox 112"/>
          <p:cNvSpPr txBox="1"/>
          <p:nvPr/>
        </p:nvSpPr>
        <p:spPr>
          <a:xfrm>
            <a:off x="9566122"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03</a:t>
            </a:r>
          </a:p>
        </p:txBody>
      </p:sp>
      <p:sp>
        <p:nvSpPr>
          <p:cNvPr id="113" name="TextBox 113"/>
          <p:cNvSpPr txBox="1"/>
          <p:nvPr/>
        </p:nvSpPr>
        <p:spPr>
          <a:xfrm>
            <a:off x="8305954"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14" name="TextBox 114"/>
          <p:cNvSpPr txBox="1"/>
          <p:nvPr/>
        </p:nvSpPr>
        <p:spPr>
          <a:xfrm>
            <a:off x="8213924"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جاري العمل على التصميم</a:t>
            </a:r>
          </a:p>
        </p:txBody>
      </p:sp>
      <p:sp>
        <p:nvSpPr>
          <p:cNvPr id="115" name="Isosceles Triangle 115"/>
          <p:cNvSpPr/>
          <p:nvPr/>
        </p:nvSpPr>
        <p:spPr>
          <a:xfrm rot="16200000">
            <a:off x="7754438"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6" name="Rounded Rectangle 116"/>
          <p:cNvSpPr/>
          <p:nvPr/>
        </p:nvSpPr>
        <p:spPr>
          <a:xfrm>
            <a:off x="5562817"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7" name="Oval 117"/>
          <p:cNvSpPr/>
          <p:nvPr/>
        </p:nvSpPr>
        <p:spPr>
          <a:xfrm>
            <a:off x="6842324"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8" name="TextBox 118"/>
          <p:cNvSpPr txBox="1"/>
          <p:nvPr/>
        </p:nvSpPr>
        <p:spPr>
          <a:xfrm>
            <a:off x="7024743"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04</a:t>
            </a:r>
          </a:p>
        </p:txBody>
      </p:sp>
      <p:sp>
        <p:nvSpPr>
          <p:cNvPr id="119" name="TextBox 119"/>
          <p:cNvSpPr txBox="1"/>
          <p:nvPr/>
        </p:nvSpPr>
        <p:spPr>
          <a:xfrm>
            <a:off x="5764575"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20" name="TextBox 120"/>
          <p:cNvSpPr txBox="1"/>
          <p:nvPr/>
        </p:nvSpPr>
        <p:spPr>
          <a:xfrm>
            <a:off x="5672545"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موافقات داخلية</a:t>
            </a:r>
          </a:p>
        </p:txBody>
      </p:sp>
      <p:sp>
        <p:nvSpPr>
          <p:cNvPr id="121" name="Isosceles Triangle 121"/>
          <p:cNvSpPr/>
          <p:nvPr/>
        </p:nvSpPr>
        <p:spPr>
          <a:xfrm rot="16200000">
            <a:off x="5213059"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2" name="Rounded Rectangle 122"/>
          <p:cNvSpPr/>
          <p:nvPr/>
        </p:nvSpPr>
        <p:spPr>
          <a:xfrm>
            <a:off x="3021438"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3" name="Oval 123"/>
          <p:cNvSpPr/>
          <p:nvPr/>
        </p:nvSpPr>
        <p:spPr>
          <a:xfrm>
            <a:off x="4300945"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4" name="TextBox 124"/>
          <p:cNvSpPr txBox="1"/>
          <p:nvPr/>
        </p:nvSpPr>
        <p:spPr>
          <a:xfrm>
            <a:off x="4483364"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05</a:t>
            </a:r>
          </a:p>
        </p:txBody>
      </p:sp>
      <p:sp>
        <p:nvSpPr>
          <p:cNvPr id="125" name="TextBox 125"/>
          <p:cNvSpPr txBox="1"/>
          <p:nvPr/>
        </p:nvSpPr>
        <p:spPr>
          <a:xfrm>
            <a:off x="3223196"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26" name="TextBox 126"/>
          <p:cNvSpPr txBox="1"/>
          <p:nvPr/>
        </p:nvSpPr>
        <p:spPr>
          <a:xfrm>
            <a:off x="3131166"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بانتظار موافقة العميل</a:t>
            </a:r>
          </a:p>
        </p:txBody>
      </p:sp>
      <p:sp>
        <p:nvSpPr>
          <p:cNvPr id="127" name="Isosceles Triangle 127"/>
          <p:cNvSpPr/>
          <p:nvPr/>
        </p:nvSpPr>
        <p:spPr>
          <a:xfrm rot="16200000">
            <a:off x="2671680"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8" name="Rounded Rectangle 128"/>
          <p:cNvSpPr/>
          <p:nvPr/>
        </p:nvSpPr>
        <p:spPr>
          <a:xfrm>
            <a:off x="480060"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9" name="Oval 129"/>
          <p:cNvSpPr/>
          <p:nvPr/>
        </p:nvSpPr>
        <p:spPr>
          <a:xfrm>
            <a:off x="1759566"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30" name="TextBox 130"/>
          <p:cNvSpPr txBox="1"/>
          <p:nvPr/>
        </p:nvSpPr>
        <p:spPr>
          <a:xfrm>
            <a:off x="1941985"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06</a:t>
            </a:r>
          </a:p>
        </p:txBody>
      </p:sp>
      <p:sp>
        <p:nvSpPr>
          <p:cNvPr id="131" name="TextBox 131"/>
          <p:cNvSpPr txBox="1"/>
          <p:nvPr/>
        </p:nvSpPr>
        <p:spPr>
          <a:xfrm>
            <a:off x="681818"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32" name="TextBox 132"/>
          <p:cNvSpPr txBox="1"/>
          <p:nvPr/>
        </p:nvSpPr>
        <p:spPr>
          <a:xfrm>
            <a:off x="589788"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مكتمل ومعتمد</a:t>
            </a:r>
          </a:p>
        </p:txBody>
      </p:sp>
    </p:spTree>
    <p:extLst>
      <p:ext uri="{BB962C8B-B14F-4D97-AF65-F5344CB8AC3E}">
        <p14:creationId xmlns:p14="http://schemas.microsoft.com/office/powerpoint/2010/main" val="11489408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18287543"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 name="TextBox 2"/>
          <p:cNvSpPr txBox="1"/>
          <p:nvPr/>
        </p:nvSpPr>
        <p:spPr>
          <a:xfrm>
            <a:off x="5771719" y="380701"/>
            <a:ext cx="2584041" cy="692497"/>
          </a:xfrm>
          <a:prstGeom prst="rect">
            <a:avLst/>
          </a:prstGeom>
          <a:noFill/>
        </p:spPr>
        <p:txBody>
          <a:bodyPr wrap="none" lIns="0" tIns="0" rIns="0" bIns="0" anchor="ctr">
            <a:spAutoFit/>
          </a:bodyPr>
          <a:lstStyle/>
          <a:p>
            <a:pPr algn="ctr" rtl="1">
              <a:lnSpc>
                <a:spcPct val="100000"/>
              </a:lnSpc>
            </a:pPr>
            <a:r>
              <a:rPr sz="4500" b="1">
                <a:solidFill>
                  <a:srgbClr val="1960BD"/>
                </a:solidFill>
                <a:latin typeface="Arial" panose="020B0604020202020204" pitchFamily="34" charset="0"/>
              </a:rPr>
              <a:t>خدمة التصنيع</a:t>
            </a:r>
          </a:p>
        </p:txBody>
      </p:sp>
      <p:sp>
        <p:nvSpPr>
          <p:cNvPr id="4" name="Rounded Rectangle 3"/>
          <p:cNvSpPr/>
          <p:nvPr/>
        </p:nvSpPr>
        <p:spPr>
          <a:xfrm>
            <a:off x="3360420" y="1261872"/>
            <a:ext cx="7406640" cy="603504"/>
          </a:xfrm>
          <a:prstGeom prst="roundRect">
            <a:avLst>
              <a:gd name="adj" fmla="val 50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 name="TextBox 4"/>
          <p:cNvSpPr txBox="1"/>
          <p:nvPr/>
        </p:nvSpPr>
        <p:spPr>
          <a:xfrm>
            <a:off x="5489591" y="1419353"/>
            <a:ext cx="3148298" cy="288541"/>
          </a:xfrm>
          <a:prstGeom prst="rect">
            <a:avLst/>
          </a:prstGeom>
          <a:noFill/>
        </p:spPr>
        <p:txBody>
          <a:bodyPr wrap="none" lIns="0" tIns="0" rIns="0" bIns="0" anchor="ctr">
            <a:spAutoFit/>
          </a:bodyPr>
          <a:lstStyle/>
          <a:p>
            <a:pPr algn="ctr" rtl="1">
              <a:lnSpc>
                <a:spcPct val="100000"/>
              </a:lnSpc>
            </a:pPr>
            <a:r>
              <a:rPr sz="1875" b="1">
                <a:solidFill>
                  <a:srgbClr val="000000"/>
                </a:solidFill>
                <a:latin typeface="Arial" panose="020B0604020202020204" pitchFamily="34" charset="0"/>
              </a:rPr>
              <a:t>الجهة المسؤولة: إدارة التصنيع / الورش</a:t>
            </a:r>
          </a:p>
        </p:txBody>
      </p:sp>
      <p:pic>
        <p:nvPicPr>
          <p:cNvPr id="6" name="Picture 5" descr="6.png"/>
          <p:cNvPicPr>
            <a:picLocks noChangeAspect="1"/>
          </p:cNvPicPr>
          <p:nvPr/>
        </p:nvPicPr>
        <p:blipFill>
          <a:blip r:embed="rId2"/>
          <a:srcRect/>
          <a:stretch>
            <a:fillRect/>
          </a:stretch>
        </p:blipFill>
        <p:spPr>
          <a:xfrm>
            <a:off x="15670530" y="171450"/>
            <a:ext cx="1988820" cy="1988820"/>
          </a:xfrm>
          <a:prstGeom prst="ellipse">
            <a:avLst/>
          </a:prstGeom>
        </p:spPr>
      </p:pic>
      <p:sp>
        <p:nvSpPr>
          <p:cNvPr id="7" name="Oval 6"/>
          <p:cNvSpPr/>
          <p:nvPr/>
        </p:nvSpPr>
        <p:spPr>
          <a:xfrm>
            <a:off x="15670530" y="171450"/>
            <a:ext cx="1988820" cy="1988820"/>
          </a:xfrm>
          <a:prstGeom prst="ellipse">
            <a:avLst/>
          </a:prstGeom>
          <a:noFill/>
          <a:ln w="381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7" name="TextBox 36"/>
          <p:cNvSpPr txBox="1"/>
          <p:nvPr/>
        </p:nvSpPr>
        <p:spPr>
          <a:xfrm>
            <a:off x="480060" y="4775507"/>
            <a:ext cx="17323308" cy="461665"/>
          </a:xfrm>
          <a:prstGeom prst="rect">
            <a:avLst/>
          </a:prstGeom>
          <a:noFill/>
        </p:spPr>
        <p:txBody>
          <a:bodyPr wrap="square" lIns="0" tIns="0" rIns="0" bIns="0" anchor="ctr">
            <a:spAutoFit/>
          </a:bodyPr>
          <a:lstStyle/>
          <a:p>
            <a:pPr algn="ctr" rtl="1">
              <a:lnSpc>
                <a:spcPct val="100000"/>
              </a:lnSpc>
            </a:pPr>
            <a:r>
              <a:rPr sz="3000" b="1">
                <a:solidFill>
                  <a:srgbClr val="1960BD"/>
                </a:solidFill>
                <a:latin typeface="Arial" panose="020B0604020202020204" pitchFamily="34" charset="0"/>
              </a:rPr>
              <a:t>ملخص الدورة</a:t>
            </a:r>
          </a:p>
        </p:txBody>
      </p:sp>
      <p:sp>
        <p:nvSpPr>
          <p:cNvPr id="38" name="Rounded Rectangle 37"/>
          <p:cNvSpPr/>
          <p:nvPr/>
        </p:nvSpPr>
        <p:spPr>
          <a:xfrm>
            <a:off x="12193524" y="5541264"/>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9" name="Oval 38"/>
          <p:cNvSpPr/>
          <p:nvPr/>
        </p:nvSpPr>
        <p:spPr>
          <a:xfrm>
            <a:off x="17035272"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0" name="TextBox 39"/>
          <p:cNvSpPr txBox="1"/>
          <p:nvPr/>
        </p:nvSpPr>
        <p:spPr>
          <a:xfrm>
            <a:off x="17181352"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00</a:t>
            </a:r>
          </a:p>
        </p:txBody>
      </p:sp>
      <p:sp>
        <p:nvSpPr>
          <p:cNvPr id="41" name="TextBox 40"/>
          <p:cNvSpPr txBox="1"/>
          <p:nvPr/>
        </p:nvSpPr>
        <p:spPr>
          <a:xfrm>
            <a:off x="12412980" y="6419088"/>
            <a:ext cx="5170932"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وصول فاتورة من SAP تحتوي على خدمة التصنيع.</a:t>
            </a:r>
          </a:p>
        </p:txBody>
      </p:sp>
      <p:sp>
        <p:nvSpPr>
          <p:cNvPr id="42" name="Rounded Rectangle 41"/>
          <p:cNvSpPr/>
          <p:nvPr/>
        </p:nvSpPr>
        <p:spPr>
          <a:xfrm>
            <a:off x="12330684" y="6967728"/>
            <a:ext cx="5335524" cy="548640"/>
          </a:xfrm>
          <a:prstGeom prst="roundRect">
            <a:avLst>
              <a:gd name="adj" fmla="val 50000"/>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3" name="TextBox 42"/>
          <p:cNvSpPr txBox="1"/>
          <p:nvPr/>
        </p:nvSpPr>
        <p:spPr>
          <a:xfrm>
            <a:off x="12412980" y="7115090"/>
            <a:ext cx="5170932"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التصنيع</a:t>
            </a:r>
          </a:p>
        </p:txBody>
      </p:sp>
      <p:sp>
        <p:nvSpPr>
          <p:cNvPr id="44" name="Rounded Rectangle 43"/>
          <p:cNvSpPr/>
          <p:nvPr/>
        </p:nvSpPr>
        <p:spPr>
          <a:xfrm>
            <a:off x="6336792" y="5541264"/>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5" name="Oval 44"/>
          <p:cNvSpPr/>
          <p:nvPr/>
        </p:nvSpPr>
        <p:spPr>
          <a:xfrm>
            <a:off x="11178540"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6" name="TextBox 45"/>
          <p:cNvSpPr txBox="1"/>
          <p:nvPr/>
        </p:nvSpPr>
        <p:spPr>
          <a:xfrm>
            <a:off x="11324620"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01</a:t>
            </a:r>
          </a:p>
        </p:txBody>
      </p:sp>
      <p:sp>
        <p:nvSpPr>
          <p:cNvPr id="47" name="TextBox 46"/>
          <p:cNvSpPr txBox="1"/>
          <p:nvPr/>
        </p:nvSpPr>
        <p:spPr>
          <a:xfrm>
            <a:off x="6556248" y="6419088"/>
            <a:ext cx="5170932"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إنشاء طلب خدمة تصنيع داخل نظام خدمات ما بعد البيع.</a:t>
            </a:r>
          </a:p>
        </p:txBody>
      </p:sp>
      <p:sp>
        <p:nvSpPr>
          <p:cNvPr id="48" name="Rounded Rectangle 47"/>
          <p:cNvSpPr/>
          <p:nvPr/>
        </p:nvSpPr>
        <p:spPr>
          <a:xfrm>
            <a:off x="6473952" y="6967728"/>
            <a:ext cx="5335524" cy="548640"/>
          </a:xfrm>
          <a:prstGeom prst="roundRect">
            <a:avLst>
              <a:gd name="adj" fmla="val 50000"/>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9" name="TextBox 48"/>
          <p:cNvSpPr txBox="1"/>
          <p:nvPr/>
        </p:nvSpPr>
        <p:spPr>
          <a:xfrm>
            <a:off x="6556248" y="7115090"/>
            <a:ext cx="5170932"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التصنيع</a:t>
            </a:r>
          </a:p>
        </p:txBody>
      </p:sp>
      <p:sp>
        <p:nvSpPr>
          <p:cNvPr id="50" name="Rounded Rectangle 49"/>
          <p:cNvSpPr/>
          <p:nvPr/>
        </p:nvSpPr>
        <p:spPr>
          <a:xfrm>
            <a:off x="480060" y="5541264"/>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1" name="Oval 50"/>
          <p:cNvSpPr/>
          <p:nvPr/>
        </p:nvSpPr>
        <p:spPr>
          <a:xfrm>
            <a:off x="5321808"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2" name="TextBox 51"/>
          <p:cNvSpPr txBox="1"/>
          <p:nvPr/>
        </p:nvSpPr>
        <p:spPr>
          <a:xfrm>
            <a:off x="5467887"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02</a:t>
            </a:r>
          </a:p>
        </p:txBody>
      </p:sp>
      <p:sp>
        <p:nvSpPr>
          <p:cNvPr id="53" name="TextBox 52"/>
          <p:cNvSpPr txBox="1"/>
          <p:nvPr/>
        </p:nvSpPr>
        <p:spPr>
          <a:xfrm>
            <a:off x="699516" y="6419088"/>
            <a:ext cx="5170932"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إرسال طلب التصنيع إلى ورشة التصنيع لبدء تنفيذ الأعمال المطلوبة.</a:t>
            </a:r>
          </a:p>
        </p:txBody>
      </p:sp>
      <p:sp>
        <p:nvSpPr>
          <p:cNvPr id="54" name="Rounded Rectangle 53"/>
          <p:cNvSpPr/>
          <p:nvPr/>
        </p:nvSpPr>
        <p:spPr>
          <a:xfrm>
            <a:off x="617220" y="6967728"/>
            <a:ext cx="5335524"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5" name="TextBox 54"/>
          <p:cNvSpPr txBox="1"/>
          <p:nvPr/>
        </p:nvSpPr>
        <p:spPr>
          <a:xfrm>
            <a:off x="699516" y="7115090"/>
            <a:ext cx="5170932"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التصنيع</a:t>
            </a:r>
          </a:p>
        </p:txBody>
      </p:sp>
      <p:sp>
        <p:nvSpPr>
          <p:cNvPr id="56" name="Rounded Rectangle 55"/>
          <p:cNvSpPr/>
          <p:nvPr/>
        </p:nvSpPr>
        <p:spPr>
          <a:xfrm>
            <a:off x="12193524" y="7955280"/>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7" name="Oval 56"/>
          <p:cNvSpPr/>
          <p:nvPr/>
        </p:nvSpPr>
        <p:spPr>
          <a:xfrm>
            <a:off x="17035272"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8" name="TextBox 57"/>
          <p:cNvSpPr txBox="1"/>
          <p:nvPr/>
        </p:nvSpPr>
        <p:spPr>
          <a:xfrm>
            <a:off x="17181352"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03</a:t>
            </a:r>
          </a:p>
        </p:txBody>
      </p:sp>
      <p:sp>
        <p:nvSpPr>
          <p:cNvPr id="59" name="TextBox 58"/>
          <p:cNvSpPr txBox="1"/>
          <p:nvPr/>
        </p:nvSpPr>
        <p:spPr>
          <a:xfrm>
            <a:off x="12412980" y="8833104"/>
            <a:ext cx="5170932"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بدء أعمال التصنيع ومتابعة تنفيذ الطلب حسب المواصفات المعتمدة.</a:t>
            </a:r>
          </a:p>
        </p:txBody>
      </p:sp>
      <p:sp>
        <p:nvSpPr>
          <p:cNvPr id="60" name="Rounded Rectangle 59"/>
          <p:cNvSpPr/>
          <p:nvPr/>
        </p:nvSpPr>
        <p:spPr>
          <a:xfrm>
            <a:off x="12330684" y="9381744"/>
            <a:ext cx="5335524"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1" name="TextBox 60"/>
          <p:cNvSpPr txBox="1"/>
          <p:nvPr/>
        </p:nvSpPr>
        <p:spPr>
          <a:xfrm>
            <a:off x="12412980" y="9529106"/>
            <a:ext cx="5170932"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التصنيع</a:t>
            </a:r>
          </a:p>
        </p:txBody>
      </p:sp>
      <p:sp>
        <p:nvSpPr>
          <p:cNvPr id="62" name="Rounded Rectangle 61"/>
          <p:cNvSpPr/>
          <p:nvPr/>
        </p:nvSpPr>
        <p:spPr>
          <a:xfrm>
            <a:off x="6336792" y="7955280"/>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3" name="Oval 62"/>
          <p:cNvSpPr/>
          <p:nvPr/>
        </p:nvSpPr>
        <p:spPr>
          <a:xfrm>
            <a:off x="11178540"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4" name="TextBox 63"/>
          <p:cNvSpPr txBox="1"/>
          <p:nvPr/>
        </p:nvSpPr>
        <p:spPr>
          <a:xfrm>
            <a:off x="11324620"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04</a:t>
            </a:r>
          </a:p>
        </p:txBody>
      </p:sp>
      <p:sp>
        <p:nvSpPr>
          <p:cNvPr id="65" name="TextBox 64"/>
          <p:cNvSpPr txBox="1"/>
          <p:nvPr/>
        </p:nvSpPr>
        <p:spPr>
          <a:xfrm>
            <a:off x="6556248" y="8833104"/>
            <a:ext cx="5170932"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بعد اكتمال أعمال التصنيع، تنتقل المهمة إلى مرحلة تم الانتهاء من الخدمة.</a:t>
            </a:r>
          </a:p>
        </p:txBody>
      </p:sp>
      <p:sp>
        <p:nvSpPr>
          <p:cNvPr id="66" name="Rounded Rectangle 65"/>
          <p:cNvSpPr/>
          <p:nvPr/>
        </p:nvSpPr>
        <p:spPr>
          <a:xfrm>
            <a:off x="6473952" y="9381744"/>
            <a:ext cx="5335524"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7" name="TextBox 66"/>
          <p:cNvSpPr txBox="1"/>
          <p:nvPr/>
        </p:nvSpPr>
        <p:spPr>
          <a:xfrm>
            <a:off x="6556248" y="9529106"/>
            <a:ext cx="5170932"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التصنيع</a:t>
            </a:r>
          </a:p>
        </p:txBody>
      </p:sp>
      <p:sp>
        <p:nvSpPr>
          <p:cNvPr id="68" name="Rounded Rectangle 68"/>
          <p:cNvSpPr/>
          <p:nvPr/>
        </p:nvSpPr>
        <p:spPr>
          <a:xfrm>
            <a:off x="15304770"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9" name="Oval 69"/>
          <p:cNvSpPr/>
          <p:nvPr/>
        </p:nvSpPr>
        <p:spPr>
          <a:xfrm>
            <a:off x="17007840"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0" name="TextBox 70"/>
          <p:cNvSpPr txBox="1"/>
          <p:nvPr/>
        </p:nvSpPr>
        <p:spPr>
          <a:xfrm>
            <a:off x="17190259"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00</a:t>
            </a:r>
          </a:p>
        </p:txBody>
      </p:sp>
      <p:sp>
        <p:nvSpPr>
          <p:cNvPr id="71" name="TextBox 71"/>
          <p:cNvSpPr txBox="1"/>
          <p:nvPr/>
        </p:nvSpPr>
        <p:spPr>
          <a:xfrm>
            <a:off x="15506528"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72" name="TextBox 72"/>
          <p:cNvSpPr txBox="1"/>
          <p:nvPr/>
        </p:nvSpPr>
        <p:spPr>
          <a:xfrm>
            <a:off x="15414498" y="3763635"/>
            <a:ext cx="227914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فاتورة من SAP</a:t>
            </a:r>
          </a:p>
        </p:txBody>
      </p:sp>
      <p:sp>
        <p:nvSpPr>
          <p:cNvPr id="73" name="Isosceles Triangle 73"/>
          <p:cNvSpPr/>
          <p:nvPr/>
        </p:nvSpPr>
        <p:spPr>
          <a:xfrm rot="16200000">
            <a:off x="14584394"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4" name="Rounded Rectangle 74"/>
          <p:cNvSpPr/>
          <p:nvPr/>
        </p:nvSpPr>
        <p:spPr>
          <a:xfrm>
            <a:off x="11598592"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5" name="Oval 75"/>
          <p:cNvSpPr/>
          <p:nvPr/>
        </p:nvSpPr>
        <p:spPr>
          <a:xfrm>
            <a:off x="13301662"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6" name="TextBox 76"/>
          <p:cNvSpPr txBox="1"/>
          <p:nvPr/>
        </p:nvSpPr>
        <p:spPr>
          <a:xfrm>
            <a:off x="13484081"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01</a:t>
            </a:r>
          </a:p>
        </p:txBody>
      </p:sp>
      <p:sp>
        <p:nvSpPr>
          <p:cNvPr id="77" name="TextBox 77"/>
          <p:cNvSpPr txBox="1"/>
          <p:nvPr/>
        </p:nvSpPr>
        <p:spPr>
          <a:xfrm>
            <a:off x="11800350"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78" name="TextBox 78"/>
          <p:cNvSpPr txBox="1"/>
          <p:nvPr/>
        </p:nvSpPr>
        <p:spPr>
          <a:xfrm>
            <a:off x="11708320" y="3763635"/>
            <a:ext cx="227914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طلب خدمة تصنيع</a:t>
            </a:r>
          </a:p>
        </p:txBody>
      </p:sp>
      <p:sp>
        <p:nvSpPr>
          <p:cNvPr id="79" name="Isosceles Triangle 79"/>
          <p:cNvSpPr/>
          <p:nvPr/>
        </p:nvSpPr>
        <p:spPr>
          <a:xfrm rot="16200000">
            <a:off x="10878216"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0" name="Rounded Rectangle 80"/>
          <p:cNvSpPr/>
          <p:nvPr/>
        </p:nvSpPr>
        <p:spPr>
          <a:xfrm>
            <a:off x="7892415"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1" name="Oval 81"/>
          <p:cNvSpPr/>
          <p:nvPr/>
        </p:nvSpPr>
        <p:spPr>
          <a:xfrm>
            <a:off x="9595485"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2" name="TextBox 82"/>
          <p:cNvSpPr txBox="1"/>
          <p:nvPr/>
        </p:nvSpPr>
        <p:spPr>
          <a:xfrm>
            <a:off x="9777904"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02</a:t>
            </a:r>
          </a:p>
        </p:txBody>
      </p:sp>
      <p:sp>
        <p:nvSpPr>
          <p:cNvPr id="83" name="TextBox 83"/>
          <p:cNvSpPr txBox="1"/>
          <p:nvPr/>
        </p:nvSpPr>
        <p:spPr>
          <a:xfrm>
            <a:off x="8094173"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84" name="TextBox 84"/>
          <p:cNvSpPr txBox="1"/>
          <p:nvPr/>
        </p:nvSpPr>
        <p:spPr>
          <a:xfrm>
            <a:off x="8002143" y="3763635"/>
            <a:ext cx="227914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إرسال إلى ورشة التصنيع</a:t>
            </a:r>
          </a:p>
        </p:txBody>
      </p:sp>
      <p:sp>
        <p:nvSpPr>
          <p:cNvPr id="85" name="Isosceles Triangle 85"/>
          <p:cNvSpPr/>
          <p:nvPr/>
        </p:nvSpPr>
        <p:spPr>
          <a:xfrm rot="16200000">
            <a:off x="7172039"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6" name="Rounded Rectangle 86"/>
          <p:cNvSpPr/>
          <p:nvPr/>
        </p:nvSpPr>
        <p:spPr>
          <a:xfrm>
            <a:off x="4186237"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7" name="Oval 87"/>
          <p:cNvSpPr/>
          <p:nvPr/>
        </p:nvSpPr>
        <p:spPr>
          <a:xfrm>
            <a:off x="5889307"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8" name="TextBox 88"/>
          <p:cNvSpPr txBox="1"/>
          <p:nvPr/>
        </p:nvSpPr>
        <p:spPr>
          <a:xfrm>
            <a:off x="6071726"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03</a:t>
            </a:r>
          </a:p>
        </p:txBody>
      </p:sp>
      <p:sp>
        <p:nvSpPr>
          <p:cNvPr id="89" name="TextBox 89"/>
          <p:cNvSpPr txBox="1"/>
          <p:nvPr/>
        </p:nvSpPr>
        <p:spPr>
          <a:xfrm>
            <a:off x="4387995"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90" name="TextBox 90"/>
          <p:cNvSpPr txBox="1"/>
          <p:nvPr/>
        </p:nvSpPr>
        <p:spPr>
          <a:xfrm>
            <a:off x="4295965" y="3763635"/>
            <a:ext cx="227914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جاري التصنيع</a:t>
            </a:r>
          </a:p>
        </p:txBody>
      </p:sp>
      <p:sp>
        <p:nvSpPr>
          <p:cNvPr id="91" name="Isosceles Triangle 91"/>
          <p:cNvSpPr/>
          <p:nvPr/>
        </p:nvSpPr>
        <p:spPr>
          <a:xfrm rot="16200000">
            <a:off x="3465861"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2" name="Rounded Rectangle 92"/>
          <p:cNvSpPr/>
          <p:nvPr/>
        </p:nvSpPr>
        <p:spPr>
          <a:xfrm>
            <a:off x="480060"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3" name="Oval 93"/>
          <p:cNvSpPr/>
          <p:nvPr/>
        </p:nvSpPr>
        <p:spPr>
          <a:xfrm>
            <a:off x="2183130"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4" name="TextBox 94"/>
          <p:cNvSpPr txBox="1"/>
          <p:nvPr/>
        </p:nvSpPr>
        <p:spPr>
          <a:xfrm>
            <a:off x="2365549"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04</a:t>
            </a:r>
          </a:p>
        </p:txBody>
      </p:sp>
      <p:sp>
        <p:nvSpPr>
          <p:cNvPr id="95" name="TextBox 95"/>
          <p:cNvSpPr txBox="1"/>
          <p:nvPr/>
        </p:nvSpPr>
        <p:spPr>
          <a:xfrm>
            <a:off x="681818"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96" name="TextBox 96"/>
          <p:cNvSpPr txBox="1"/>
          <p:nvPr/>
        </p:nvSpPr>
        <p:spPr>
          <a:xfrm>
            <a:off x="589788" y="3773702"/>
            <a:ext cx="2279142" cy="270715"/>
          </a:xfrm>
          <a:prstGeom prst="rect">
            <a:avLst/>
          </a:prstGeom>
          <a:noFill/>
        </p:spPr>
        <p:txBody>
          <a:bodyPr wrap="square" lIns="0" tIns="0" rIns="0" bIns="0" anchor="ctr">
            <a:spAutoFit/>
          </a:bodyPr>
          <a:lstStyle/>
          <a:p>
            <a:pPr algn="ctr" rtl="1">
              <a:lnSpc>
                <a:spcPct val="105000"/>
              </a:lnSpc>
            </a:pPr>
            <a:r>
              <a:rPr lang="ar-SA" b="1" dirty="0">
                <a:solidFill>
                  <a:srgbClr val="FF0000"/>
                </a:solidFill>
                <a:latin typeface="Arial" panose="020B0604020202020204" pitchFamily="34" charset="0"/>
              </a:rPr>
              <a:t>تسليم الخدمة</a:t>
            </a:r>
            <a:endParaRPr b="1" dirty="0">
              <a:solidFill>
                <a:srgbClr val="FF0000"/>
              </a:solidFill>
              <a:latin typeface="Arial" panose="020B0604020202020204" pitchFamily="34" charset="0"/>
            </a:endParaRPr>
          </a:p>
        </p:txBody>
      </p:sp>
    </p:spTree>
    <p:extLst>
      <p:ext uri="{BB962C8B-B14F-4D97-AF65-F5344CB8AC3E}">
        <p14:creationId xmlns:p14="http://schemas.microsoft.com/office/powerpoint/2010/main" val="2972926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386" y="380701"/>
            <a:ext cx="3154711" cy="692497"/>
          </a:xfrm>
          <a:prstGeom prst="rect">
            <a:avLst/>
          </a:prstGeom>
          <a:noFill/>
        </p:spPr>
        <p:txBody>
          <a:bodyPr wrap="none" lIns="0" tIns="0" rIns="0" bIns="0" anchor="ctr">
            <a:spAutoFit/>
          </a:bodyPr>
          <a:lstStyle/>
          <a:p>
            <a:pPr algn="ctr" rtl="1">
              <a:lnSpc>
                <a:spcPct val="100000"/>
              </a:lnSpc>
            </a:pPr>
            <a:r>
              <a:rPr lang="ar-SA" sz="4500" b="1" dirty="0">
                <a:solidFill>
                  <a:srgbClr val="FF0000"/>
                </a:solidFill>
                <a:latin typeface="Arial" panose="020B0604020202020204" pitchFamily="34" charset="0"/>
              </a:rPr>
              <a:t>الخدمات المجانية</a:t>
            </a:r>
            <a:endParaRPr sz="4500" b="1" dirty="0">
              <a:solidFill>
                <a:srgbClr val="FF0000"/>
              </a:solidFill>
              <a:latin typeface="Arial" panose="020B0604020202020204" pitchFamily="34" charset="0"/>
            </a:endParaRPr>
          </a:p>
        </p:txBody>
      </p:sp>
      <p:sp>
        <p:nvSpPr>
          <p:cNvPr id="4" name="Rounded Rectangle 3"/>
          <p:cNvSpPr/>
          <p:nvPr/>
        </p:nvSpPr>
        <p:spPr>
          <a:xfrm>
            <a:off x="3360420" y="1261872"/>
            <a:ext cx="7406640" cy="603504"/>
          </a:xfrm>
          <a:prstGeom prst="roundRect">
            <a:avLst>
              <a:gd name="adj" fmla="val 50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 name="TextBox 4"/>
          <p:cNvSpPr txBox="1"/>
          <p:nvPr/>
        </p:nvSpPr>
        <p:spPr>
          <a:xfrm>
            <a:off x="5489591" y="1419353"/>
            <a:ext cx="3148298" cy="288541"/>
          </a:xfrm>
          <a:prstGeom prst="rect">
            <a:avLst/>
          </a:prstGeom>
          <a:noFill/>
        </p:spPr>
        <p:txBody>
          <a:bodyPr wrap="none" lIns="0" tIns="0" rIns="0" bIns="0" anchor="ctr">
            <a:spAutoFit/>
          </a:bodyPr>
          <a:lstStyle/>
          <a:p>
            <a:pPr algn="ctr" rtl="1">
              <a:lnSpc>
                <a:spcPct val="100000"/>
              </a:lnSpc>
            </a:pPr>
            <a:r>
              <a:rPr sz="1875" b="1" dirty="0" err="1">
                <a:solidFill>
                  <a:srgbClr val="000000"/>
                </a:solidFill>
                <a:latin typeface="Arial" panose="020B0604020202020204" pitchFamily="34" charset="0"/>
              </a:rPr>
              <a:t>الجهة</a:t>
            </a:r>
            <a:r>
              <a:rPr sz="1875" b="1" dirty="0">
                <a:solidFill>
                  <a:srgbClr val="000000"/>
                </a:solidFill>
                <a:latin typeface="Arial" panose="020B0604020202020204" pitchFamily="34" charset="0"/>
              </a:rPr>
              <a:t> </a:t>
            </a:r>
            <a:r>
              <a:rPr sz="1875" b="1" dirty="0" err="1">
                <a:solidFill>
                  <a:srgbClr val="000000"/>
                </a:solidFill>
                <a:latin typeface="Arial" panose="020B0604020202020204" pitchFamily="34" charset="0"/>
              </a:rPr>
              <a:t>المسؤولة</a:t>
            </a:r>
            <a:r>
              <a:rPr sz="1875" b="1" dirty="0">
                <a:solidFill>
                  <a:srgbClr val="000000"/>
                </a:solidFill>
                <a:latin typeface="Arial" panose="020B0604020202020204" pitchFamily="34" charset="0"/>
              </a:rPr>
              <a:t>: </a:t>
            </a:r>
            <a:r>
              <a:rPr sz="1875" b="1" dirty="0" err="1">
                <a:solidFill>
                  <a:srgbClr val="000000"/>
                </a:solidFill>
                <a:latin typeface="Arial" panose="020B0604020202020204" pitchFamily="34" charset="0"/>
              </a:rPr>
              <a:t>إدارة</a:t>
            </a:r>
            <a:r>
              <a:rPr sz="1875" b="1" dirty="0">
                <a:solidFill>
                  <a:srgbClr val="000000"/>
                </a:solidFill>
                <a:latin typeface="Arial" panose="020B0604020202020204" pitchFamily="34" charset="0"/>
              </a:rPr>
              <a:t> </a:t>
            </a:r>
            <a:r>
              <a:rPr sz="1875" b="1" dirty="0" err="1">
                <a:solidFill>
                  <a:srgbClr val="000000"/>
                </a:solidFill>
                <a:latin typeface="Arial" panose="020B0604020202020204" pitchFamily="34" charset="0"/>
              </a:rPr>
              <a:t>التصنيع</a:t>
            </a:r>
            <a:r>
              <a:rPr sz="1875" b="1" dirty="0">
                <a:solidFill>
                  <a:srgbClr val="000000"/>
                </a:solidFill>
                <a:latin typeface="Arial" panose="020B0604020202020204" pitchFamily="34" charset="0"/>
              </a:rPr>
              <a:t> / </a:t>
            </a:r>
            <a:r>
              <a:rPr sz="1875" b="1" dirty="0" err="1">
                <a:solidFill>
                  <a:srgbClr val="000000"/>
                </a:solidFill>
                <a:latin typeface="Arial" panose="020B0604020202020204" pitchFamily="34" charset="0"/>
              </a:rPr>
              <a:t>الورش</a:t>
            </a:r>
            <a:endParaRPr sz="1875" b="1" dirty="0">
              <a:solidFill>
                <a:srgbClr val="000000"/>
              </a:solidFill>
              <a:latin typeface="Arial" panose="020B0604020202020204" pitchFamily="34" charset="0"/>
            </a:endParaRPr>
          </a:p>
        </p:txBody>
      </p:sp>
      <p:pic>
        <p:nvPicPr>
          <p:cNvPr id="6" name="Picture 5" descr="6.png"/>
          <p:cNvPicPr>
            <a:picLocks noChangeAspect="1"/>
          </p:cNvPicPr>
          <p:nvPr/>
        </p:nvPicPr>
        <p:blipFill>
          <a:blip r:embed="rId2"/>
          <a:srcRect/>
          <a:stretch>
            <a:fillRect/>
          </a:stretch>
        </p:blipFill>
        <p:spPr>
          <a:xfrm>
            <a:off x="15670530" y="171450"/>
            <a:ext cx="1988820" cy="1988820"/>
          </a:xfrm>
          <a:prstGeom prst="ellipse">
            <a:avLst/>
          </a:prstGeom>
        </p:spPr>
      </p:pic>
      <p:sp>
        <p:nvSpPr>
          <p:cNvPr id="7" name="Oval 6"/>
          <p:cNvSpPr/>
          <p:nvPr/>
        </p:nvSpPr>
        <p:spPr>
          <a:xfrm>
            <a:off x="15670530" y="171450"/>
            <a:ext cx="1988820" cy="1988820"/>
          </a:xfrm>
          <a:prstGeom prst="ellipse">
            <a:avLst/>
          </a:prstGeom>
          <a:noFill/>
          <a:ln w="381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7" name="TextBox 36"/>
          <p:cNvSpPr txBox="1"/>
          <p:nvPr/>
        </p:nvSpPr>
        <p:spPr>
          <a:xfrm>
            <a:off x="480060" y="4775507"/>
            <a:ext cx="17323308" cy="461665"/>
          </a:xfrm>
          <a:prstGeom prst="rect">
            <a:avLst/>
          </a:prstGeom>
          <a:noFill/>
        </p:spPr>
        <p:txBody>
          <a:bodyPr wrap="square" lIns="0" tIns="0" rIns="0" bIns="0" anchor="ctr">
            <a:spAutoFit/>
          </a:bodyPr>
          <a:lstStyle/>
          <a:p>
            <a:pPr algn="ctr" rtl="1">
              <a:lnSpc>
                <a:spcPct val="100000"/>
              </a:lnSpc>
            </a:pPr>
            <a:r>
              <a:rPr sz="3000" b="1">
                <a:solidFill>
                  <a:srgbClr val="1960BD"/>
                </a:solidFill>
                <a:latin typeface="Arial" panose="020B0604020202020204" pitchFamily="34" charset="0"/>
              </a:rPr>
              <a:t>ملخص الدورة</a:t>
            </a:r>
          </a:p>
        </p:txBody>
      </p:sp>
      <p:sp>
        <p:nvSpPr>
          <p:cNvPr id="38" name="Rounded Rectangle 37"/>
          <p:cNvSpPr/>
          <p:nvPr/>
        </p:nvSpPr>
        <p:spPr>
          <a:xfrm>
            <a:off x="12193524" y="5541264"/>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9" name="Oval 38"/>
          <p:cNvSpPr/>
          <p:nvPr/>
        </p:nvSpPr>
        <p:spPr>
          <a:xfrm>
            <a:off x="17035272"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0" name="TextBox 39"/>
          <p:cNvSpPr txBox="1"/>
          <p:nvPr/>
        </p:nvSpPr>
        <p:spPr>
          <a:xfrm>
            <a:off x="17181352"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00</a:t>
            </a:r>
          </a:p>
        </p:txBody>
      </p:sp>
      <p:sp>
        <p:nvSpPr>
          <p:cNvPr id="41" name="TextBox 40"/>
          <p:cNvSpPr txBox="1"/>
          <p:nvPr/>
        </p:nvSpPr>
        <p:spPr>
          <a:xfrm>
            <a:off x="12412980" y="6419088"/>
            <a:ext cx="5170932"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وصول فاتورة من SAP تحتوي على خدمة التصنيع.</a:t>
            </a:r>
          </a:p>
        </p:txBody>
      </p:sp>
      <p:sp>
        <p:nvSpPr>
          <p:cNvPr id="42" name="Rounded Rectangle 41"/>
          <p:cNvSpPr/>
          <p:nvPr/>
        </p:nvSpPr>
        <p:spPr>
          <a:xfrm>
            <a:off x="12330684" y="6967728"/>
            <a:ext cx="5335524"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3" name="TextBox 42"/>
          <p:cNvSpPr txBox="1"/>
          <p:nvPr/>
        </p:nvSpPr>
        <p:spPr>
          <a:xfrm>
            <a:off x="12412980" y="7115090"/>
            <a:ext cx="5170932"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التصنيع</a:t>
            </a:r>
          </a:p>
        </p:txBody>
      </p:sp>
      <p:sp>
        <p:nvSpPr>
          <p:cNvPr id="44" name="Rounded Rectangle 43"/>
          <p:cNvSpPr/>
          <p:nvPr/>
        </p:nvSpPr>
        <p:spPr>
          <a:xfrm>
            <a:off x="6336792" y="5541264"/>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5" name="Oval 44"/>
          <p:cNvSpPr/>
          <p:nvPr/>
        </p:nvSpPr>
        <p:spPr>
          <a:xfrm>
            <a:off x="11178540"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6" name="TextBox 45"/>
          <p:cNvSpPr txBox="1"/>
          <p:nvPr/>
        </p:nvSpPr>
        <p:spPr>
          <a:xfrm>
            <a:off x="11324620"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01</a:t>
            </a:r>
          </a:p>
        </p:txBody>
      </p:sp>
      <p:sp>
        <p:nvSpPr>
          <p:cNvPr id="47" name="TextBox 46"/>
          <p:cNvSpPr txBox="1"/>
          <p:nvPr/>
        </p:nvSpPr>
        <p:spPr>
          <a:xfrm>
            <a:off x="6556248" y="6419088"/>
            <a:ext cx="5170932"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إنشاء طلب خدمة تصنيع داخل نظام خدمات ما بعد البيع.</a:t>
            </a:r>
          </a:p>
        </p:txBody>
      </p:sp>
      <p:sp>
        <p:nvSpPr>
          <p:cNvPr id="48" name="Rounded Rectangle 47"/>
          <p:cNvSpPr/>
          <p:nvPr/>
        </p:nvSpPr>
        <p:spPr>
          <a:xfrm>
            <a:off x="6473952" y="6967728"/>
            <a:ext cx="5335524"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9" name="TextBox 48"/>
          <p:cNvSpPr txBox="1"/>
          <p:nvPr/>
        </p:nvSpPr>
        <p:spPr>
          <a:xfrm>
            <a:off x="6556248" y="7115090"/>
            <a:ext cx="5170932"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التصنيع</a:t>
            </a:r>
          </a:p>
        </p:txBody>
      </p:sp>
      <p:sp>
        <p:nvSpPr>
          <p:cNvPr id="50" name="Rounded Rectangle 49"/>
          <p:cNvSpPr/>
          <p:nvPr/>
        </p:nvSpPr>
        <p:spPr>
          <a:xfrm>
            <a:off x="480060" y="5541264"/>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1" name="Oval 50"/>
          <p:cNvSpPr/>
          <p:nvPr/>
        </p:nvSpPr>
        <p:spPr>
          <a:xfrm>
            <a:off x="5321808"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2" name="TextBox 51"/>
          <p:cNvSpPr txBox="1"/>
          <p:nvPr/>
        </p:nvSpPr>
        <p:spPr>
          <a:xfrm>
            <a:off x="5467887"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02</a:t>
            </a:r>
          </a:p>
        </p:txBody>
      </p:sp>
      <p:sp>
        <p:nvSpPr>
          <p:cNvPr id="53" name="TextBox 52"/>
          <p:cNvSpPr txBox="1"/>
          <p:nvPr/>
        </p:nvSpPr>
        <p:spPr>
          <a:xfrm>
            <a:off x="699516" y="6419088"/>
            <a:ext cx="5170932"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إرسال طلب التصنيع إلى ورشة التصنيع لبدء تنفيذ الأعمال المطلوبة.</a:t>
            </a:r>
          </a:p>
        </p:txBody>
      </p:sp>
      <p:sp>
        <p:nvSpPr>
          <p:cNvPr id="54" name="Rounded Rectangle 53"/>
          <p:cNvSpPr/>
          <p:nvPr/>
        </p:nvSpPr>
        <p:spPr>
          <a:xfrm>
            <a:off x="617220" y="6967728"/>
            <a:ext cx="5335524"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5" name="TextBox 54"/>
          <p:cNvSpPr txBox="1"/>
          <p:nvPr/>
        </p:nvSpPr>
        <p:spPr>
          <a:xfrm>
            <a:off x="699516" y="7115090"/>
            <a:ext cx="5170932"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التصنيع</a:t>
            </a:r>
          </a:p>
        </p:txBody>
      </p:sp>
      <p:sp>
        <p:nvSpPr>
          <p:cNvPr id="56" name="Rounded Rectangle 55"/>
          <p:cNvSpPr/>
          <p:nvPr/>
        </p:nvSpPr>
        <p:spPr>
          <a:xfrm>
            <a:off x="12193524" y="7955280"/>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7" name="Oval 56"/>
          <p:cNvSpPr/>
          <p:nvPr/>
        </p:nvSpPr>
        <p:spPr>
          <a:xfrm>
            <a:off x="17035272"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8" name="TextBox 57"/>
          <p:cNvSpPr txBox="1"/>
          <p:nvPr/>
        </p:nvSpPr>
        <p:spPr>
          <a:xfrm>
            <a:off x="17181352"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03</a:t>
            </a:r>
          </a:p>
        </p:txBody>
      </p:sp>
      <p:sp>
        <p:nvSpPr>
          <p:cNvPr id="59" name="TextBox 58"/>
          <p:cNvSpPr txBox="1"/>
          <p:nvPr/>
        </p:nvSpPr>
        <p:spPr>
          <a:xfrm>
            <a:off x="12412980" y="8833104"/>
            <a:ext cx="5170932"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بدء أعمال التصنيع ومتابعة تنفيذ الطلب حسب المواصفات المعتمدة.</a:t>
            </a:r>
          </a:p>
        </p:txBody>
      </p:sp>
      <p:sp>
        <p:nvSpPr>
          <p:cNvPr id="60" name="Rounded Rectangle 59"/>
          <p:cNvSpPr/>
          <p:nvPr/>
        </p:nvSpPr>
        <p:spPr>
          <a:xfrm>
            <a:off x="12330684" y="9381744"/>
            <a:ext cx="5335524"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1" name="TextBox 60"/>
          <p:cNvSpPr txBox="1"/>
          <p:nvPr/>
        </p:nvSpPr>
        <p:spPr>
          <a:xfrm>
            <a:off x="12412980" y="9529106"/>
            <a:ext cx="5170932"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التصنيع</a:t>
            </a:r>
          </a:p>
        </p:txBody>
      </p:sp>
      <p:sp>
        <p:nvSpPr>
          <p:cNvPr id="62" name="Rounded Rectangle 61"/>
          <p:cNvSpPr/>
          <p:nvPr/>
        </p:nvSpPr>
        <p:spPr>
          <a:xfrm>
            <a:off x="6336792" y="7955280"/>
            <a:ext cx="5609844"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3" name="Oval 62"/>
          <p:cNvSpPr/>
          <p:nvPr/>
        </p:nvSpPr>
        <p:spPr>
          <a:xfrm>
            <a:off x="11178540"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4" name="TextBox 63"/>
          <p:cNvSpPr txBox="1"/>
          <p:nvPr/>
        </p:nvSpPr>
        <p:spPr>
          <a:xfrm>
            <a:off x="11324620"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04</a:t>
            </a:r>
          </a:p>
        </p:txBody>
      </p:sp>
      <p:sp>
        <p:nvSpPr>
          <p:cNvPr id="65" name="TextBox 64"/>
          <p:cNvSpPr txBox="1"/>
          <p:nvPr/>
        </p:nvSpPr>
        <p:spPr>
          <a:xfrm>
            <a:off x="6556248" y="8833104"/>
            <a:ext cx="5170932" cy="292003"/>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بعد اكتمال أعمال التصنيع، تنتقل المهمة إلى مرحلة تم الانتهاء من الخدمة.</a:t>
            </a:r>
          </a:p>
        </p:txBody>
      </p:sp>
      <p:sp>
        <p:nvSpPr>
          <p:cNvPr id="66" name="Rounded Rectangle 65"/>
          <p:cNvSpPr/>
          <p:nvPr/>
        </p:nvSpPr>
        <p:spPr>
          <a:xfrm>
            <a:off x="6473952" y="9381744"/>
            <a:ext cx="5335524"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7" name="TextBox 66"/>
          <p:cNvSpPr txBox="1"/>
          <p:nvPr/>
        </p:nvSpPr>
        <p:spPr>
          <a:xfrm>
            <a:off x="6556248" y="9529106"/>
            <a:ext cx="5170932"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إدارة التصنيع</a:t>
            </a:r>
          </a:p>
        </p:txBody>
      </p:sp>
      <p:sp>
        <p:nvSpPr>
          <p:cNvPr id="68" name="Rounded Rectangle 68"/>
          <p:cNvSpPr/>
          <p:nvPr/>
        </p:nvSpPr>
        <p:spPr>
          <a:xfrm>
            <a:off x="15304770"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9" name="Oval 69"/>
          <p:cNvSpPr/>
          <p:nvPr/>
        </p:nvSpPr>
        <p:spPr>
          <a:xfrm>
            <a:off x="17007840"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0" name="TextBox 70"/>
          <p:cNvSpPr txBox="1"/>
          <p:nvPr/>
        </p:nvSpPr>
        <p:spPr>
          <a:xfrm>
            <a:off x="17190259"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00</a:t>
            </a:r>
          </a:p>
        </p:txBody>
      </p:sp>
      <p:sp>
        <p:nvSpPr>
          <p:cNvPr id="71" name="TextBox 71"/>
          <p:cNvSpPr txBox="1"/>
          <p:nvPr/>
        </p:nvSpPr>
        <p:spPr>
          <a:xfrm>
            <a:off x="15506528"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72" name="TextBox 72"/>
          <p:cNvSpPr txBox="1"/>
          <p:nvPr/>
        </p:nvSpPr>
        <p:spPr>
          <a:xfrm>
            <a:off x="15414498" y="3763635"/>
            <a:ext cx="227914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فاتورة من SAP</a:t>
            </a:r>
          </a:p>
        </p:txBody>
      </p:sp>
      <p:sp>
        <p:nvSpPr>
          <p:cNvPr id="73" name="Isosceles Triangle 73"/>
          <p:cNvSpPr/>
          <p:nvPr/>
        </p:nvSpPr>
        <p:spPr>
          <a:xfrm rot="16200000">
            <a:off x="14584394"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4" name="Rounded Rectangle 74"/>
          <p:cNvSpPr/>
          <p:nvPr/>
        </p:nvSpPr>
        <p:spPr>
          <a:xfrm>
            <a:off x="11598592"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5" name="Oval 75"/>
          <p:cNvSpPr/>
          <p:nvPr/>
        </p:nvSpPr>
        <p:spPr>
          <a:xfrm>
            <a:off x="13301662"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6" name="TextBox 76"/>
          <p:cNvSpPr txBox="1"/>
          <p:nvPr/>
        </p:nvSpPr>
        <p:spPr>
          <a:xfrm>
            <a:off x="13484081"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01</a:t>
            </a:r>
          </a:p>
        </p:txBody>
      </p:sp>
      <p:sp>
        <p:nvSpPr>
          <p:cNvPr id="77" name="TextBox 77"/>
          <p:cNvSpPr txBox="1"/>
          <p:nvPr/>
        </p:nvSpPr>
        <p:spPr>
          <a:xfrm>
            <a:off x="11800350"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78" name="TextBox 78"/>
          <p:cNvSpPr txBox="1"/>
          <p:nvPr/>
        </p:nvSpPr>
        <p:spPr>
          <a:xfrm>
            <a:off x="11708320" y="3773702"/>
            <a:ext cx="2279142" cy="270715"/>
          </a:xfrm>
          <a:prstGeom prst="rect">
            <a:avLst/>
          </a:prstGeom>
          <a:noFill/>
        </p:spPr>
        <p:txBody>
          <a:bodyPr wrap="square" lIns="0" tIns="0" rIns="0" bIns="0" anchor="ctr">
            <a:spAutoFit/>
          </a:bodyPr>
          <a:lstStyle/>
          <a:p>
            <a:pPr algn="ctr" rtl="1">
              <a:lnSpc>
                <a:spcPct val="105000"/>
              </a:lnSpc>
            </a:pPr>
            <a:r>
              <a:rPr lang="ar-SA" b="1" dirty="0">
                <a:solidFill>
                  <a:srgbClr val="000000"/>
                </a:solidFill>
                <a:latin typeface="Arial" panose="020B0604020202020204" pitchFamily="34" charset="0"/>
              </a:rPr>
              <a:t>خدمة مجانية</a:t>
            </a:r>
            <a:endParaRPr b="1" dirty="0">
              <a:solidFill>
                <a:srgbClr val="000000"/>
              </a:solidFill>
              <a:latin typeface="Arial" panose="020B0604020202020204" pitchFamily="34" charset="0"/>
            </a:endParaRPr>
          </a:p>
        </p:txBody>
      </p:sp>
      <p:sp>
        <p:nvSpPr>
          <p:cNvPr id="79" name="Isosceles Triangle 79"/>
          <p:cNvSpPr/>
          <p:nvPr/>
        </p:nvSpPr>
        <p:spPr>
          <a:xfrm rot="16200000">
            <a:off x="10878216"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0" name="Rounded Rectangle 80"/>
          <p:cNvSpPr/>
          <p:nvPr/>
        </p:nvSpPr>
        <p:spPr>
          <a:xfrm>
            <a:off x="7892415"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dirty="0"/>
          </a:p>
        </p:txBody>
      </p:sp>
      <p:sp>
        <p:nvSpPr>
          <p:cNvPr id="81" name="Oval 81"/>
          <p:cNvSpPr/>
          <p:nvPr/>
        </p:nvSpPr>
        <p:spPr>
          <a:xfrm>
            <a:off x="9595485"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2" name="TextBox 82"/>
          <p:cNvSpPr txBox="1"/>
          <p:nvPr/>
        </p:nvSpPr>
        <p:spPr>
          <a:xfrm>
            <a:off x="9777904"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02</a:t>
            </a:r>
          </a:p>
        </p:txBody>
      </p:sp>
      <p:sp>
        <p:nvSpPr>
          <p:cNvPr id="83" name="TextBox 83"/>
          <p:cNvSpPr txBox="1"/>
          <p:nvPr/>
        </p:nvSpPr>
        <p:spPr>
          <a:xfrm>
            <a:off x="8094173"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84" name="TextBox 84"/>
          <p:cNvSpPr txBox="1"/>
          <p:nvPr/>
        </p:nvSpPr>
        <p:spPr>
          <a:xfrm>
            <a:off x="8002143" y="3773702"/>
            <a:ext cx="2279142" cy="270715"/>
          </a:xfrm>
          <a:prstGeom prst="rect">
            <a:avLst/>
          </a:prstGeom>
          <a:noFill/>
        </p:spPr>
        <p:txBody>
          <a:bodyPr wrap="square" lIns="0" tIns="0" rIns="0" bIns="0" anchor="ctr">
            <a:spAutoFit/>
          </a:bodyPr>
          <a:lstStyle/>
          <a:p>
            <a:pPr algn="ctr" rtl="1">
              <a:lnSpc>
                <a:spcPct val="105000"/>
              </a:lnSpc>
            </a:pPr>
            <a:r>
              <a:rPr lang="ar-SA" b="1" dirty="0">
                <a:solidFill>
                  <a:srgbClr val="000000"/>
                </a:solidFill>
                <a:latin typeface="Arial" panose="020B0604020202020204" pitchFamily="34" charset="0"/>
              </a:rPr>
              <a:t>تحديد نوع الخدمة</a:t>
            </a:r>
            <a:endParaRPr b="1" dirty="0">
              <a:solidFill>
                <a:srgbClr val="000000"/>
              </a:solidFill>
              <a:latin typeface="Arial" panose="020B0604020202020204" pitchFamily="34" charset="0"/>
            </a:endParaRPr>
          </a:p>
        </p:txBody>
      </p:sp>
      <p:sp>
        <p:nvSpPr>
          <p:cNvPr id="85" name="Isosceles Triangle 85"/>
          <p:cNvSpPr/>
          <p:nvPr/>
        </p:nvSpPr>
        <p:spPr>
          <a:xfrm rot="16200000">
            <a:off x="7172039"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6" name="Rounded Rectangle 86"/>
          <p:cNvSpPr/>
          <p:nvPr/>
        </p:nvSpPr>
        <p:spPr>
          <a:xfrm>
            <a:off x="4186237"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7" name="Oval 87"/>
          <p:cNvSpPr/>
          <p:nvPr/>
        </p:nvSpPr>
        <p:spPr>
          <a:xfrm>
            <a:off x="5889307"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8" name="TextBox 88"/>
          <p:cNvSpPr txBox="1"/>
          <p:nvPr/>
        </p:nvSpPr>
        <p:spPr>
          <a:xfrm>
            <a:off x="6071726"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03</a:t>
            </a:r>
          </a:p>
        </p:txBody>
      </p:sp>
      <p:sp>
        <p:nvSpPr>
          <p:cNvPr id="89" name="TextBox 89"/>
          <p:cNvSpPr txBox="1"/>
          <p:nvPr/>
        </p:nvSpPr>
        <p:spPr>
          <a:xfrm>
            <a:off x="4387995"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90" name="TextBox 90"/>
          <p:cNvSpPr txBox="1"/>
          <p:nvPr/>
        </p:nvSpPr>
        <p:spPr>
          <a:xfrm>
            <a:off x="4295965" y="3773702"/>
            <a:ext cx="2279142" cy="270715"/>
          </a:xfrm>
          <a:prstGeom prst="rect">
            <a:avLst/>
          </a:prstGeom>
          <a:noFill/>
        </p:spPr>
        <p:txBody>
          <a:bodyPr wrap="square" lIns="0" tIns="0" rIns="0" bIns="0" anchor="ctr">
            <a:spAutoFit/>
          </a:bodyPr>
          <a:lstStyle/>
          <a:p>
            <a:pPr algn="ctr" rtl="1">
              <a:lnSpc>
                <a:spcPct val="105000"/>
              </a:lnSpc>
            </a:pPr>
            <a:r>
              <a:rPr lang="ar-SA" b="1" dirty="0">
                <a:solidFill>
                  <a:srgbClr val="000000"/>
                </a:solidFill>
                <a:latin typeface="Arial" panose="020B0604020202020204" pitchFamily="34" charset="0"/>
              </a:rPr>
              <a:t>تنفيذ الخدمة</a:t>
            </a:r>
            <a:endParaRPr b="1" dirty="0">
              <a:solidFill>
                <a:srgbClr val="000000"/>
              </a:solidFill>
              <a:latin typeface="Arial" panose="020B0604020202020204" pitchFamily="34" charset="0"/>
            </a:endParaRPr>
          </a:p>
        </p:txBody>
      </p:sp>
      <p:sp>
        <p:nvSpPr>
          <p:cNvPr id="94" name="TextBox 94"/>
          <p:cNvSpPr txBox="1"/>
          <p:nvPr/>
        </p:nvSpPr>
        <p:spPr>
          <a:xfrm>
            <a:off x="2365549"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04</a:t>
            </a:r>
          </a:p>
        </p:txBody>
      </p:sp>
    </p:spTree>
    <p:extLst>
      <p:ext uri="{BB962C8B-B14F-4D97-AF65-F5344CB8AC3E}">
        <p14:creationId xmlns:p14="http://schemas.microsoft.com/office/powerpoint/2010/main" val="3191905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18287543"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 name="TextBox 2"/>
          <p:cNvSpPr txBox="1"/>
          <p:nvPr/>
        </p:nvSpPr>
        <p:spPr>
          <a:xfrm>
            <a:off x="6048720" y="497620"/>
            <a:ext cx="6185988" cy="623248"/>
          </a:xfrm>
          <a:prstGeom prst="rect">
            <a:avLst/>
          </a:prstGeom>
          <a:noFill/>
        </p:spPr>
        <p:txBody>
          <a:bodyPr wrap="none" lIns="0" tIns="0" rIns="0" bIns="0" anchor="ctr">
            <a:spAutoFit/>
          </a:bodyPr>
          <a:lstStyle/>
          <a:p>
            <a:pPr algn="ctr" rtl="1">
              <a:lnSpc>
                <a:spcPct val="100000"/>
              </a:lnSpc>
            </a:pPr>
            <a:r>
              <a:rPr sz="4050" b="1">
                <a:solidFill>
                  <a:srgbClr val="1960BD"/>
                </a:solidFill>
                <a:latin typeface="Public Sans Ultra-Bold"/>
              </a:rPr>
              <a:t>كيف تصل الحالات إلى خدمة العملاء؟</a:t>
            </a:r>
          </a:p>
        </p:txBody>
      </p:sp>
      <p:sp>
        <p:nvSpPr>
          <p:cNvPr id="4" name="TextBox 3"/>
          <p:cNvSpPr txBox="1"/>
          <p:nvPr/>
        </p:nvSpPr>
        <p:spPr>
          <a:xfrm>
            <a:off x="7099489" y="1276423"/>
            <a:ext cx="4084451" cy="300082"/>
          </a:xfrm>
          <a:prstGeom prst="rect">
            <a:avLst/>
          </a:prstGeom>
          <a:noFill/>
        </p:spPr>
        <p:txBody>
          <a:bodyPr wrap="none" lIns="0" tIns="0" rIns="0" bIns="0" anchor="ctr">
            <a:spAutoFit/>
          </a:bodyPr>
          <a:lstStyle/>
          <a:p>
            <a:pPr algn="ctr" rtl="1">
              <a:lnSpc>
                <a:spcPct val="100000"/>
              </a:lnSpc>
            </a:pPr>
            <a:r>
              <a:rPr sz="1950">
                <a:solidFill>
                  <a:srgbClr val="737373"/>
                </a:solidFill>
                <a:latin typeface="Arial" panose="020B0604020202020204" pitchFamily="34" charset="0"/>
              </a:rPr>
              <a:t>ثلاثة مصادر تغذّي جهة واحدة مسؤولة عن كل حالة</a:t>
            </a:r>
          </a:p>
        </p:txBody>
      </p:sp>
      <p:sp>
        <p:nvSpPr>
          <p:cNvPr id="5" name="Rounded Rectangle 4"/>
          <p:cNvSpPr/>
          <p:nvPr/>
        </p:nvSpPr>
        <p:spPr>
          <a:xfrm>
            <a:off x="12280392" y="2057400"/>
            <a:ext cx="5317236" cy="3360420"/>
          </a:xfrm>
          <a:prstGeom prst="roundRect">
            <a:avLst>
              <a:gd name="adj" fmla="val 10000"/>
            </a:avLst>
          </a:prstGeom>
          <a:solidFill>
            <a:srgbClr val="FFFFFF"/>
          </a:solidFill>
          <a:ln w="9525">
            <a:solidFill>
              <a:srgbClr val="E0E0E0"/>
            </a:solidFill>
          </a:ln>
          <a:effectLst>
            <a:outerShdw blurRad="203200" dist="63500" dir="5400000" rotWithShape="0">
              <a:srgbClr val="004369">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 name="Oval 5"/>
          <p:cNvSpPr/>
          <p:nvPr/>
        </p:nvSpPr>
        <p:spPr>
          <a:xfrm>
            <a:off x="16637508" y="238658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 name="TextBox 6"/>
          <p:cNvSpPr txBox="1"/>
          <p:nvPr/>
        </p:nvSpPr>
        <p:spPr>
          <a:xfrm>
            <a:off x="16702106" y="2482761"/>
            <a:ext cx="501740" cy="438582"/>
          </a:xfrm>
          <a:prstGeom prst="rect">
            <a:avLst/>
          </a:prstGeom>
          <a:noFill/>
        </p:spPr>
        <p:txBody>
          <a:bodyPr wrap="none" lIns="0" tIns="0" rIns="0" bIns="0" anchor="ctr">
            <a:spAutoFit/>
          </a:bodyPr>
          <a:lstStyle/>
          <a:p>
            <a:pPr algn="ctr">
              <a:lnSpc>
                <a:spcPct val="100000"/>
              </a:lnSpc>
            </a:pPr>
            <a:r>
              <a:rPr sz="2850">
                <a:solidFill>
                  <a:srgbClr val="FFFFFF"/>
                </a:solidFill>
                <a:latin typeface="Segoe UI Emoji"/>
              </a:rPr>
              <a:t>🔗</a:t>
            </a:r>
          </a:p>
        </p:txBody>
      </p:sp>
      <p:sp>
        <p:nvSpPr>
          <p:cNvPr id="8" name="TextBox 7"/>
          <p:cNvSpPr txBox="1"/>
          <p:nvPr/>
        </p:nvSpPr>
        <p:spPr>
          <a:xfrm>
            <a:off x="12609576" y="2514212"/>
            <a:ext cx="3835908" cy="375680"/>
          </a:xfrm>
          <a:prstGeom prst="rect">
            <a:avLst/>
          </a:prstGeom>
          <a:noFill/>
        </p:spPr>
        <p:txBody>
          <a:bodyPr wrap="square" lIns="0" tIns="0" rIns="0" bIns="0" anchor="ctr">
            <a:spAutoFit/>
          </a:bodyPr>
          <a:lstStyle/>
          <a:p>
            <a:pPr algn="r" rtl="1">
              <a:lnSpc>
                <a:spcPct val="105000"/>
              </a:lnSpc>
            </a:pPr>
            <a:r>
              <a:rPr sz="2325" b="1">
                <a:solidFill>
                  <a:srgbClr val="004369"/>
                </a:solidFill>
                <a:latin typeface="Arial" panose="020B0604020202020204" pitchFamily="34" charset="0"/>
              </a:rPr>
              <a:t>من الإدارات الداخلية</a:t>
            </a:r>
          </a:p>
        </p:txBody>
      </p:sp>
      <p:sp>
        <p:nvSpPr>
          <p:cNvPr id="9" name="Rectangle 8"/>
          <p:cNvSpPr/>
          <p:nvPr/>
        </p:nvSpPr>
        <p:spPr>
          <a:xfrm>
            <a:off x="12609576" y="3209544"/>
            <a:ext cx="4658868" cy="30174"/>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 name="TextBox 9"/>
          <p:cNvSpPr txBox="1"/>
          <p:nvPr/>
        </p:nvSpPr>
        <p:spPr>
          <a:xfrm>
            <a:off x="12609576" y="3429000"/>
            <a:ext cx="4658868" cy="1350370"/>
          </a:xfrm>
          <a:prstGeom prst="rect">
            <a:avLst/>
          </a:prstGeom>
          <a:noFill/>
        </p:spPr>
        <p:txBody>
          <a:bodyPr wrap="square" lIns="0" tIns="0" rIns="0" bIns="0" anchor="t">
            <a:spAutoFit/>
          </a:bodyPr>
          <a:lstStyle/>
          <a:p>
            <a:pPr algn="r" rtl="1">
              <a:lnSpc>
                <a:spcPct val="150000"/>
              </a:lnSpc>
            </a:pPr>
            <a:r>
              <a:rPr sz="1950">
                <a:solidFill>
                  <a:srgbClr val="1E1E1E"/>
                </a:solidFill>
                <a:latin typeface="Arial" panose="020B0604020202020204" pitchFamily="34" charset="0"/>
              </a:rPr>
              <a:t>•  عميل رفض التوقيع</a:t>
            </a:r>
          </a:p>
          <a:p>
            <a:pPr algn="r" rtl="1">
              <a:lnSpc>
                <a:spcPct val="150000"/>
              </a:lnSpc>
            </a:pPr>
            <a:r>
              <a:rPr sz="1950">
                <a:solidFill>
                  <a:srgbClr val="1E1E1E"/>
                </a:solidFill>
                <a:latin typeface="Arial" panose="020B0604020202020204" pitchFamily="34" charset="0"/>
              </a:rPr>
              <a:t>•  عميل غير راضٍ عن التركيب</a:t>
            </a:r>
          </a:p>
          <a:p>
            <a:pPr algn="r" rtl="1">
              <a:lnSpc>
                <a:spcPct val="150000"/>
              </a:lnSpc>
            </a:pPr>
            <a:r>
              <a:rPr sz="1950">
                <a:solidFill>
                  <a:srgbClr val="1E1E1E"/>
                </a:solidFill>
                <a:latin typeface="Arial" panose="020B0604020202020204" pitchFamily="34" charset="0"/>
              </a:rPr>
              <a:t>•  صعوبة تواصل</a:t>
            </a:r>
          </a:p>
        </p:txBody>
      </p:sp>
      <p:sp>
        <p:nvSpPr>
          <p:cNvPr id="11" name="Rounded Rectangle 10"/>
          <p:cNvSpPr/>
          <p:nvPr/>
        </p:nvSpPr>
        <p:spPr>
          <a:xfrm>
            <a:off x="6483096" y="2057400"/>
            <a:ext cx="5317236" cy="3360420"/>
          </a:xfrm>
          <a:prstGeom prst="roundRect">
            <a:avLst>
              <a:gd name="adj" fmla="val 10000"/>
            </a:avLst>
          </a:prstGeom>
          <a:solidFill>
            <a:srgbClr val="FFFFFF"/>
          </a:solidFill>
          <a:ln w="9525">
            <a:solidFill>
              <a:srgbClr val="E0E0E0"/>
            </a:solidFill>
          </a:ln>
          <a:effectLst>
            <a:outerShdw blurRad="203200" dist="63500" dir="5400000" rotWithShape="0">
              <a:srgbClr val="004369">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 name="Oval 11"/>
          <p:cNvSpPr/>
          <p:nvPr/>
        </p:nvSpPr>
        <p:spPr>
          <a:xfrm>
            <a:off x="10840212" y="238658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3" name="TextBox 12"/>
          <p:cNvSpPr txBox="1"/>
          <p:nvPr/>
        </p:nvSpPr>
        <p:spPr>
          <a:xfrm>
            <a:off x="10904810" y="2482761"/>
            <a:ext cx="501740" cy="438582"/>
          </a:xfrm>
          <a:prstGeom prst="rect">
            <a:avLst/>
          </a:prstGeom>
          <a:noFill/>
        </p:spPr>
        <p:txBody>
          <a:bodyPr wrap="none" lIns="0" tIns="0" rIns="0" bIns="0" anchor="ctr">
            <a:spAutoFit/>
          </a:bodyPr>
          <a:lstStyle/>
          <a:p>
            <a:pPr algn="ctr">
              <a:lnSpc>
                <a:spcPct val="100000"/>
              </a:lnSpc>
            </a:pPr>
            <a:r>
              <a:rPr sz="2850">
                <a:solidFill>
                  <a:srgbClr val="FFFFFF"/>
                </a:solidFill>
                <a:latin typeface="Segoe UI Emoji"/>
              </a:rPr>
              <a:t>💬</a:t>
            </a:r>
          </a:p>
        </p:txBody>
      </p:sp>
      <p:sp>
        <p:nvSpPr>
          <p:cNvPr id="14" name="TextBox 13"/>
          <p:cNvSpPr txBox="1"/>
          <p:nvPr/>
        </p:nvSpPr>
        <p:spPr>
          <a:xfrm>
            <a:off x="6812280" y="2514212"/>
            <a:ext cx="3835908" cy="375680"/>
          </a:xfrm>
          <a:prstGeom prst="rect">
            <a:avLst/>
          </a:prstGeom>
          <a:noFill/>
        </p:spPr>
        <p:txBody>
          <a:bodyPr wrap="square" lIns="0" tIns="0" rIns="0" bIns="0" anchor="ctr">
            <a:spAutoFit/>
          </a:bodyPr>
          <a:lstStyle/>
          <a:p>
            <a:pPr algn="r" rtl="1">
              <a:lnSpc>
                <a:spcPct val="105000"/>
              </a:lnSpc>
            </a:pPr>
            <a:r>
              <a:rPr sz="2325" b="1">
                <a:solidFill>
                  <a:srgbClr val="004369"/>
                </a:solidFill>
                <a:latin typeface="Arial" panose="020B0604020202020204" pitchFamily="34" charset="0"/>
              </a:rPr>
              <a:t>من العميل مباشرة</a:t>
            </a:r>
          </a:p>
        </p:txBody>
      </p:sp>
      <p:sp>
        <p:nvSpPr>
          <p:cNvPr id="15" name="Rectangle 14"/>
          <p:cNvSpPr/>
          <p:nvPr/>
        </p:nvSpPr>
        <p:spPr>
          <a:xfrm>
            <a:off x="6812280" y="3209544"/>
            <a:ext cx="4658868" cy="30174"/>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6" name="TextBox 15"/>
          <p:cNvSpPr txBox="1"/>
          <p:nvPr/>
        </p:nvSpPr>
        <p:spPr>
          <a:xfrm>
            <a:off x="6812280" y="3429000"/>
            <a:ext cx="4658868" cy="844590"/>
          </a:xfrm>
          <a:prstGeom prst="rect">
            <a:avLst/>
          </a:prstGeom>
          <a:noFill/>
        </p:spPr>
        <p:txBody>
          <a:bodyPr wrap="square" lIns="0" tIns="0" rIns="0" bIns="0" anchor="t">
            <a:spAutoFit/>
          </a:bodyPr>
          <a:lstStyle/>
          <a:p>
            <a:pPr algn="r" rtl="1">
              <a:lnSpc>
                <a:spcPct val="150000"/>
              </a:lnSpc>
            </a:pPr>
            <a:r>
              <a:rPr sz="1950">
                <a:solidFill>
                  <a:srgbClr val="1E1E1E"/>
                </a:solidFill>
                <a:latin typeface="Arial" panose="020B0604020202020204" pitchFamily="34" charset="0"/>
              </a:rPr>
              <a:t>•  استفسار</a:t>
            </a:r>
          </a:p>
          <a:p>
            <a:pPr algn="r" rtl="1">
              <a:lnSpc>
                <a:spcPct val="150000"/>
              </a:lnSpc>
            </a:pPr>
            <a:r>
              <a:rPr sz="1950">
                <a:solidFill>
                  <a:srgbClr val="1E1E1E"/>
                </a:solidFill>
                <a:latin typeface="Arial" panose="020B0604020202020204" pitchFamily="34" charset="0"/>
              </a:rPr>
              <a:t>•  شكوى</a:t>
            </a:r>
          </a:p>
        </p:txBody>
      </p:sp>
      <p:sp>
        <p:nvSpPr>
          <p:cNvPr id="17" name="Rounded Rectangle 16"/>
          <p:cNvSpPr/>
          <p:nvPr/>
        </p:nvSpPr>
        <p:spPr>
          <a:xfrm>
            <a:off x="685800" y="2057400"/>
            <a:ext cx="5317236" cy="3360420"/>
          </a:xfrm>
          <a:prstGeom prst="roundRect">
            <a:avLst>
              <a:gd name="adj" fmla="val 10000"/>
            </a:avLst>
          </a:prstGeom>
          <a:solidFill>
            <a:srgbClr val="FFFFFF"/>
          </a:solidFill>
          <a:ln w="9525">
            <a:solidFill>
              <a:srgbClr val="E0E0E0"/>
            </a:solidFill>
          </a:ln>
          <a:effectLst>
            <a:outerShdw blurRad="203200" dist="63500" dir="5400000" rotWithShape="0">
              <a:srgbClr val="004369">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8" name="Oval 17"/>
          <p:cNvSpPr/>
          <p:nvPr/>
        </p:nvSpPr>
        <p:spPr>
          <a:xfrm>
            <a:off x="5042916" y="2386584"/>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9" name="TextBox 18"/>
          <p:cNvSpPr txBox="1"/>
          <p:nvPr/>
        </p:nvSpPr>
        <p:spPr>
          <a:xfrm>
            <a:off x="5107514" y="2482761"/>
            <a:ext cx="501740" cy="438582"/>
          </a:xfrm>
          <a:prstGeom prst="rect">
            <a:avLst/>
          </a:prstGeom>
          <a:noFill/>
        </p:spPr>
        <p:txBody>
          <a:bodyPr wrap="none" lIns="0" tIns="0" rIns="0" bIns="0" anchor="ctr">
            <a:spAutoFit/>
          </a:bodyPr>
          <a:lstStyle/>
          <a:p>
            <a:pPr algn="ctr">
              <a:lnSpc>
                <a:spcPct val="100000"/>
              </a:lnSpc>
            </a:pPr>
            <a:r>
              <a:rPr sz="2850">
                <a:solidFill>
                  <a:srgbClr val="FFFFFF"/>
                </a:solidFill>
                <a:latin typeface="Segoe UI Emoji"/>
              </a:rPr>
              <a:t>💻</a:t>
            </a:r>
          </a:p>
        </p:txBody>
      </p:sp>
      <p:sp>
        <p:nvSpPr>
          <p:cNvPr id="20" name="TextBox 19"/>
          <p:cNvSpPr txBox="1"/>
          <p:nvPr/>
        </p:nvSpPr>
        <p:spPr>
          <a:xfrm>
            <a:off x="1014984" y="2527228"/>
            <a:ext cx="3835908" cy="349648"/>
          </a:xfrm>
          <a:prstGeom prst="rect">
            <a:avLst/>
          </a:prstGeom>
          <a:noFill/>
        </p:spPr>
        <p:txBody>
          <a:bodyPr wrap="square" lIns="0" tIns="0" rIns="0" bIns="0" anchor="ctr">
            <a:spAutoFit/>
          </a:bodyPr>
          <a:lstStyle/>
          <a:p>
            <a:pPr algn="r" rtl="1">
              <a:lnSpc>
                <a:spcPct val="105000"/>
              </a:lnSpc>
            </a:pPr>
            <a:r>
              <a:rPr sz="2325" b="1">
                <a:solidFill>
                  <a:srgbClr val="004369"/>
                </a:solidFill>
                <a:latin typeface="Arial" panose="020B0604020202020204" pitchFamily="34" charset="0"/>
              </a:rPr>
              <a:t>من النظام</a:t>
            </a:r>
          </a:p>
        </p:txBody>
      </p:sp>
      <p:sp>
        <p:nvSpPr>
          <p:cNvPr id="21" name="Rectangle 20"/>
          <p:cNvSpPr/>
          <p:nvPr/>
        </p:nvSpPr>
        <p:spPr>
          <a:xfrm>
            <a:off x="1014984" y="3209544"/>
            <a:ext cx="4658868" cy="30174"/>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2" name="TextBox 21"/>
          <p:cNvSpPr txBox="1"/>
          <p:nvPr/>
        </p:nvSpPr>
        <p:spPr>
          <a:xfrm>
            <a:off x="1014984" y="3429000"/>
            <a:ext cx="4658868" cy="1350370"/>
          </a:xfrm>
          <a:prstGeom prst="rect">
            <a:avLst/>
          </a:prstGeom>
          <a:noFill/>
        </p:spPr>
        <p:txBody>
          <a:bodyPr wrap="square" lIns="0" tIns="0" rIns="0" bIns="0" anchor="t">
            <a:spAutoFit/>
          </a:bodyPr>
          <a:lstStyle/>
          <a:p>
            <a:pPr algn="r" rtl="1">
              <a:lnSpc>
                <a:spcPct val="150000"/>
              </a:lnSpc>
            </a:pPr>
            <a:r>
              <a:rPr sz="1950">
                <a:solidFill>
                  <a:srgbClr val="1E1E1E"/>
                </a:solidFill>
                <a:latin typeface="Arial" panose="020B0604020202020204" pitchFamily="34" charset="0"/>
              </a:rPr>
              <a:t>•  حالة عالقة</a:t>
            </a:r>
          </a:p>
          <a:p>
            <a:pPr algn="r" rtl="1">
              <a:lnSpc>
                <a:spcPct val="150000"/>
              </a:lnSpc>
            </a:pPr>
            <a:r>
              <a:rPr sz="1950">
                <a:solidFill>
                  <a:srgbClr val="1E1E1E"/>
                </a:solidFill>
                <a:latin typeface="Arial" panose="020B0604020202020204" pitchFamily="34" charset="0"/>
              </a:rPr>
              <a:t>•  عميل لم يحجز موعد</a:t>
            </a:r>
          </a:p>
          <a:p>
            <a:pPr algn="r" rtl="1">
              <a:lnSpc>
                <a:spcPct val="150000"/>
              </a:lnSpc>
            </a:pPr>
            <a:r>
              <a:rPr sz="1950">
                <a:solidFill>
                  <a:srgbClr val="1E1E1E"/>
                </a:solidFill>
                <a:latin typeface="Arial" panose="020B0604020202020204" pitchFamily="34" charset="0"/>
              </a:rPr>
              <a:t>•  تأخر في إجراء مطلوب</a:t>
            </a:r>
          </a:p>
        </p:txBody>
      </p:sp>
      <p:sp>
        <p:nvSpPr>
          <p:cNvPr id="24" name="TextBox 23"/>
          <p:cNvSpPr txBox="1"/>
          <p:nvPr/>
        </p:nvSpPr>
        <p:spPr>
          <a:xfrm>
            <a:off x="685800" y="6711303"/>
            <a:ext cx="16911828" cy="553998"/>
          </a:xfrm>
          <a:prstGeom prst="rect">
            <a:avLst/>
          </a:prstGeom>
          <a:noFill/>
        </p:spPr>
        <p:txBody>
          <a:bodyPr wrap="square" lIns="0" tIns="0" rIns="0" bIns="0" anchor="ctr">
            <a:spAutoFit/>
          </a:bodyPr>
          <a:lstStyle/>
          <a:p>
            <a:pPr algn="ctr" rtl="1">
              <a:lnSpc>
                <a:spcPct val="100000"/>
              </a:lnSpc>
            </a:pPr>
            <a:r>
              <a:rPr sz="3600" b="1">
                <a:solidFill>
                  <a:srgbClr val="FFFFFF"/>
                </a:solidFill>
                <a:latin typeface="Public Sans Ultra-Bold"/>
              </a:rPr>
              <a:t>خدمة العملاء</a:t>
            </a:r>
          </a:p>
        </p:txBody>
      </p:sp>
      <p:cxnSp>
        <p:nvCxnSpPr>
          <p:cNvPr id="25" name="Connector 24"/>
          <p:cNvCxnSpPr/>
          <p:nvPr/>
        </p:nvCxnSpPr>
        <p:spPr>
          <a:xfrm>
            <a:off x="14939010" y="5417820"/>
            <a:ext cx="0" cy="932688"/>
          </a:xfrm>
          <a:prstGeom prst="line">
            <a:avLst/>
          </a:prstGeom>
          <a:ln w="22225">
            <a:solidFill>
              <a:srgbClr val="00436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344418" y="5417820"/>
            <a:ext cx="0" cy="932688"/>
          </a:xfrm>
          <a:prstGeom prst="line">
            <a:avLst/>
          </a:prstGeom>
          <a:ln w="22225">
            <a:solidFill>
              <a:srgbClr val="00436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141714" y="5417820"/>
            <a:ext cx="0" cy="932688"/>
          </a:xfrm>
          <a:prstGeom prst="line">
            <a:avLst/>
          </a:prstGeom>
          <a:ln w="22225">
            <a:solidFill>
              <a:srgbClr val="004369"/>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85800" y="8140193"/>
            <a:ext cx="16911828" cy="288541"/>
          </a:xfrm>
          <a:prstGeom prst="rect">
            <a:avLst/>
          </a:prstGeom>
          <a:noFill/>
        </p:spPr>
        <p:txBody>
          <a:bodyPr wrap="square" lIns="0" tIns="0" rIns="0" bIns="0" anchor="ctr">
            <a:spAutoFit/>
          </a:bodyPr>
          <a:lstStyle/>
          <a:p>
            <a:pPr algn="ctr" rtl="1">
              <a:lnSpc>
                <a:spcPct val="100000"/>
              </a:lnSpc>
            </a:pPr>
            <a:r>
              <a:rPr sz="1875">
                <a:solidFill>
                  <a:srgbClr val="737373"/>
                </a:solidFill>
                <a:latin typeface="Arial" panose="020B0604020202020204" pitchFamily="34" charset="0"/>
              </a:rPr>
              <a:t>جميع القنوات الثلاثة تصب في جهة واحدة لإدارة الحالة ومتابعتها حتى الإغلاق.</a:t>
            </a:r>
          </a:p>
        </p:txBody>
      </p:sp>
      <p:sp>
        <p:nvSpPr>
          <p:cNvPr id="23" name="Rounded Rectangle 22"/>
          <p:cNvSpPr/>
          <p:nvPr/>
        </p:nvSpPr>
        <p:spPr>
          <a:xfrm>
            <a:off x="685800" y="6268212"/>
            <a:ext cx="16911828" cy="1440180"/>
          </a:xfrm>
          <a:prstGeom prst="roundRect">
            <a:avLst>
              <a:gd name="adj" fmla="val 50000"/>
            </a:avLst>
          </a:prstGeom>
          <a:solidFill>
            <a:srgbClr val="1960BD"/>
          </a:solidFill>
          <a:ln>
            <a:noFill/>
          </a:ln>
          <a:effectLst>
            <a:outerShdw blurRad="254000" dist="76200" dir="5400000" rotWithShape="0">
              <a:srgbClr val="00436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9" name="Rectangle 28"/>
          <p:cNvSpPr/>
          <p:nvPr/>
        </p:nvSpPr>
        <p:spPr>
          <a:xfrm>
            <a:off x="6476169" y="7078070"/>
            <a:ext cx="4506363" cy="374461"/>
          </a:xfrm>
          <a:prstGeom prst="rect">
            <a:avLst/>
          </a:prstGeom>
        </p:spPr>
        <p:txBody>
          <a:bodyPr wrap="none">
            <a:spAutoFit/>
          </a:bodyPr>
          <a:lstStyle/>
          <a:p>
            <a:pPr algn="ctr">
              <a:lnSpc>
                <a:spcPts val="2183"/>
              </a:lnSpc>
            </a:pPr>
            <a:r>
              <a:rPr lang="ar-SY" sz="8000" b="1">
                <a:solidFill>
                  <a:srgbClr val="000000"/>
                </a:solidFill>
                <a:latin typeface="Arial" panose="020B0604020202020204" pitchFamily="34" charset="0"/>
                <a:ea typeface="Public Sans Bold"/>
                <a:sym typeface="Public Sans Bold"/>
                <a:rtl/>
              </a:rPr>
              <a:t>خدمة العملاء</a:t>
            </a:r>
            <a:endParaRPr lang="ar-EG" sz="8000" b="1" dirty="0">
              <a:solidFill>
                <a:srgbClr val="000000"/>
              </a:solidFill>
              <a:latin typeface="Arial" panose="020B0604020202020204" pitchFamily="34" charset="0"/>
              <a:ea typeface="Public Sans Bold"/>
              <a:sym typeface="Public Sans Bold"/>
              <a:rtl/>
            </a:endParaRPr>
          </a:p>
        </p:txBody>
      </p:sp>
    </p:spTree>
    <p:extLst>
      <p:ext uri="{BB962C8B-B14F-4D97-AF65-F5344CB8AC3E}">
        <p14:creationId xmlns:p14="http://schemas.microsoft.com/office/powerpoint/2010/main" val="35596488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18287543"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 name="TextBox 2"/>
          <p:cNvSpPr txBox="1"/>
          <p:nvPr/>
        </p:nvSpPr>
        <p:spPr>
          <a:xfrm>
            <a:off x="5641714" y="380701"/>
            <a:ext cx="7000000" cy="692497"/>
          </a:xfrm>
          <a:prstGeom prst="rect">
            <a:avLst/>
          </a:prstGeom>
          <a:noFill/>
        </p:spPr>
        <p:txBody>
          <a:bodyPr wrap="none" lIns="0" tIns="0" rIns="0" bIns="0" anchor="ctr">
            <a:spAutoFit/>
          </a:bodyPr>
          <a:lstStyle/>
          <a:p>
            <a:pPr algn="ctr" rtl="1">
              <a:lnSpc>
                <a:spcPct val="100000"/>
              </a:lnSpc>
            </a:pPr>
            <a:r>
              <a:rPr sz="4500" b="1">
                <a:solidFill>
                  <a:srgbClr val="1960BD"/>
                </a:solidFill>
                <a:latin typeface="Public Sans Ultra-Bold"/>
              </a:rPr>
              <a:t>الشكاوى / الاستفسارات</a:t>
            </a:r>
          </a:p>
        </p:txBody>
      </p:sp>
      <p:sp>
        <p:nvSpPr>
          <p:cNvPr id="4" name="Rounded Rectangle 3"/>
          <p:cNvSpPr/>
          <p:nvPr/>
        </p:nvSpPr>
        <p:spPr>
          <a:xfrm>
            <a:off x="5438394" y="1261872"/>
            <a:ext cx="7406640" cy="603504"/>
          </a:xfrm>
          <a:prstGeom prst="roundRect">
            <a:avLst>
              <a:gd name="adj" fmla="val 50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 name="TextBox 4"/>
          <p:cNvSpPr txBox="1"/>
          <p:nvPr/>
        </p:nvSpPr>
        <p:spPr>
          <a:xfrm>
            <a:off x="6883884" y="1419353"/>
            <a:ext cx="4515660" cy="288541"/>
          </a:xfrm>
          <a:prstGeom prst="rect">
            <a:avLst/>
          </a:prstGeom>
          <a:noFill/>
        </p:spPr>
        <p:txBody>
          <a:bodyPr wrap="none" lIns="0" tIns="0" rIns="0" bIns="0" anchor="ctr">
            <a:spAutoFit/>
          </a:bodyPr>
          <a:lstStyle/>
          <a:p>
            <a:pPr algn="ctr" rtl="1">
              <a:lnSpc>
                <a:spcPct val="100000"/>
              </a:lnSpc>
            </a:pPr>
            <a:r>
              <a:rPr sz="1875" b="1">
                <a:solidFill>
                  <a:srgbClr val="000000"/>
                </a:solidFill>
                <a:latin typeface="Arial" panose="020B0604020202020204" pitchFamily="34" charset="0"/>
              </a:rPr>
              <a:t>الجهة المسؤولة: خدمة العملاء / الجهة المختصة بالمتابعة</a:t>
            </a:r>
          </a:p>
        </p:txBody>
      </p:sp>
      <p:sp>
        <p:nvSpPr>
          <p:cNvPr id="6" name="Rounded Rectangle 5"/>
          <p:cNvSpPr/>
          <p:nvPr/>
        </p:nvSpPr>
        <p:spPr>
          <a:xfrm>
            <a:off x="15304768"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 name="Oval 6"/>
          <p:cNvSpPr/>
          <p:nvPr/>
        </p:nvSpPr>
        <p:spPr>
          <a:xfrm>
            <a:off x="17007838"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 name="TextBox 7"/>
          <p:cNvSpPr txBox="1"/>
          <p:nvPr/>
        </p:nvSpPr>
        <p:spPr>
          <a:xfrm>
            <a:off x="17190257"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00</a:t>
            </a:r>
          </a:p>
        </p:txBody>
      </p:sp>
      <p:sp>
        <p:nvSpPr>
          <p:cNvPr id="9" name="TextBox 8"/>
          <p:cNvSpPr txBox="1"/>
          <p:nvPr/>
        </p:nvSpPr>
        <p:spPr>
          <a:xfrm>
            <a:off x="15506526"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0" name="TextBox 9"/>
          <p:cNvSpPr txBox="1"/>
          <p:nvPr/>
        </p:nvSpPr>
        <p:spPr>
          <a:xfrm>
            <a:off x="15414496" y="3773702"/>
            <a:ext cx="2279142" cy="270715"/>
          </a:xfrm>
          <a:prstGeom prst="rect">
            <a:avLst/>
          </a:prstGeom>
          <a:noFill/>
        </p:spPr>
        <p:txBody>
          <a:bodyPr wrap="square" lIns="0" tIns="0" rIns="0" bIns="0" anchor="ctr">
            <a:spAutoFit/>
          </a:bodyPr>
          <a:lstStyle/>
          <a:p>
            <a:pPr algn="ctr" rtl="1">
              <a:lnSpc>
                <a:spcPct val="105000"/>
              </a:lnSpc>
            </a:pPr>
            <a:r>
              <a:rPr b="1" dirty="0" err="1">
                <a:solidFill>
                  <a:srgbClr val="FF0000"/>
                </a:solidFill>
                <a:latin typeface="Arial" panose="020B0604020202020204" pitchFamily="34" charset="0"/>
              </a:rPr>
              <a:t>شكوى</a:t>
            </a:r>
            <a:r>
              <a:rPr lang="ar-SA" b="1" dirty="0">
                <a:solidFill>
                  <a:srgbClr val="FF0000"/>
                </a:solidFill>
                <a:latin typeface="Arial" panose="020B0604020202020204" pitchFamily="34" charset="0"/>
              </a:rPr>
              <a:t>/استفسار</a:t>
            </a:r>
            <a:r>
              <a:rPr b="1" dirty="0">
                <a:solidFill>
                  <a:srgbClr val="FF0000"/>
                </a:solidFill>
                <a:latin typeface="Arial" panose="020B0604020202020204" pitchFamily="34" charset="0"/>
              </a:rPr>
              <a:t> </a:t>
            </a:r>
            <a:r>
              <a:rPr b="1" dirty="0" err="1">
                <a:solidFill>
                  <a:srgbClr val="FF0000"/>
                </a:solidFill>
                <a:latin typeface="Arial" panose="020B0604020202020204" pitchFamily="34" charset="0"/>
              </a:rPr>
              <a:t>العميل</a:t>
            </a:r>
            <a:endParaRPr b="1" dirty="0">
              <a:solidFill>
                <a:srgbClr val="FF0000"/>
              </a:solidFill>
              <a:latin typeface="Arial" panose="020B0604020202020204" pitchFamily="34" charset="0"/>
            </a:endParaRPr>
          </a:p>
        </p:txBody>
      </p:sp>
      <p:sp>
        <p:nvSpPr>
          <p:cNvPr id="11" name="Isosceles Triangle 10"/>
          <p:cNvSpPr/>
          <p:nvPr/>
        </p:nvSpPr>
        <p:spPr>
          <a:xfrm rot="16200000">
            <a:off x="14584393"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 name="Rounded Rectangle 11"/>
          <p:cNvSpPr/>
          <p:nvPr/>
        </p:nvSpPr>
        <p:spPr>
          <a:xfrm>
            <a:off x="11598591"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3" name="Oval 12"/>
          <p:cNvSpPr/>
          <p:nvPr/>
        </p:nvSpPr>
        <p:spPr>
          <a:xfrm>
            <a:off x="13301661"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4" name="TextBox 13"/>
          <p:cNvSpPr txBox="1"/>
          <p:nvPr/>
        </p:nvSpPr>
        <p:spPr>
          <a:xfrm>
            <a:off x="13484081"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01</a:t>
            </a:r>
          </a:p>
        </p:txBody>
      </p:sp>
      <p:sp>
        <p:nvSpPr>
          <p:cNvPr id="15" name="TextBox 14"/>
          <p:cNvSpPr txBox="1"/>
          <p:nvPr/>
        </p:nvSpPr>
        <p:spPr>
          <a:xfrm>
            <a:off x="11800349"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6" name="TextBox 15"/>
          <p:cNvSpPr txBox="1"/>
          <p:nvPr/>
        </p:nvSpPr>
        <p:spPr>
          <a:xfrm>
            <a:off x="11708319" y="3773701"/>
            <a:ext cx="2279142" cy="270715"/>
          </a:xfrm>
          <a:prstGeom prst="rect">
            <a:avLst/>
          </a:prstGeom>
          <a:noFill/>
        </p:spPr>
        <p:txBody>
          <a:bodyPr wrap="square" lIns="0" tIns="0" rIns="0" bIns="0" anchor="ctr">
            <a:spAutoFit/>
          </a:bodyPr>
          <a:lstStyle/>
          <a:p>
            <a:pPr algn="ctr" rtl="1">
              <a:lnSpc>
                <a:spcPct val="105000"/>
              </a:lnSpc>
            </a:pPr>
            <a:r>
              <a:rPr b="1" dirty="0" err="1">
                <a:solidFill>
                  <a:srgbClr val="FF0000"/>
                </a:solidFill>
                <a:latin typeface="Arial" panose="020B0604020202020204" pitchFamily="34" charset="0"/>
              </a:rPr>
              <a:t>تحديد</a:t>
            </a:r>
            <a:r>
              <a:rPr b="1" dirty="0">
                <a:solidFill>
                  <a:srgbClr val="FF0000"/>
                </a:solidFill>
                <a:latin typeface="Arial" panose="020B0604020202020204" pitchFamily="34" charset="0"/>
              </a:rPr>
              <a:t> </a:t>
            </a:r>
            <a:r>
              <a:rPr b="1" dirty="0" err="1">
                <a:solidFill>
                  <a:srgbClr val="FF0000"/>
                </a:solidFill>
                <a:latin typeface="Arial" panose="020B0604020202020204" pitchFamily="34" charset="0"/>
              </a:rPr>
              <a:t>النوع</a:t>
            </a:r>
            <a:endParaRPr b="1" dirty="0">
              <a:solidFill>
                <a:srgbClr val="FF0000"/>
              </a:solidFill>
              <a:latin typeface="Arial" panose="020B0604020202020204" pitchFamily="34" charset="0"/>
            </a:endParaRPr>
          </a:p>
        </p:txBody>
      </p:sp>
      <p:sp>
        <p:nvSpPr>
          <p:cNvPr id="17" name="Isosceles Triangle 16"/>
          <p:cNvSpPr/>
          <p:nvPr/>
        </p:nvSpPr>
        <p:spPr>
          <a:xfrm rot="16200000">
            <a:off x="10878216"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4" name="Rounded Rectangle 23"/>
          <p:cNvSpPr/>
          <p:nvPr/>
        </p:nvSpPr>
        <p:spPr>
          <a:xfrm>
            <a:off x="7892414"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5" name="Oval 24"/>
          <p:cNvSpPr/>
          <p:nvPr/>
        </p:nvSpPr>
        <p:spPr>
          <a:xfrm>
            <a:off x="9595484"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6" name="TextBox 25"/>
          <p:cNvSpPr txBox="1"/>
          <p:nvPr/>
        </p:nvSpPr>
        <p:spPr>
          <a:xfrm>
            <a:off x="9777903"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02</a:t>
            </a:r>
          </a:p>
        </p:txBody>
      </p:sp>
      <p:sp>
        <p:nvSpPr>
          <p:cNvPr id="27" name="TextBox 26"/>
          <p:cNvSpPr txBox="1"/>
          <p:nvPr/>
        </p:nvSpPr>
        <p:spPr>
          <a:xfrm>
            <a:off x="8094172"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28" name="TextBox 27"/>
          <p:cNvSpPr txBox="1"/>
          <p:nvPr/>
        </p:nvSpPr>
        <p:spPr>
          <a:xfrm>
            <a:off x="8002142" y="3773702"/>
            <a:ext cx="2279142" cy="270715"/>
          </a:xfrm>
          <a:prstGeom prst="rect">
            <a:avLst/>
          </a:prstGeom>
          <a:noFill/>
        </p:spPr>
        <p:txBody>
          <a:bodyPr wrap="square" lIns="0" tIns="0" rIns="0" bIns="0" anchor="ctr">
            <a:spAutoFit/>
          </a:bodyPr>
          <a:lstStyle/>
          <a:p>
            <a:pPr algn="ctr" rtl="1">
              <a:lnSpc>
                <a:spcPct val="105000"/>
              </a:lnSpc>
            </a:pPr>
            <a:r>
              <a:rPr lang="ar-SA" b="1" dirty="0">
                <a:solidFill>
                  <a:srgbClr val="FF0000"/>
                </a:solidFill>
                <a:latin typeface="Arial" panose="020B0604020202020204" pitchFamily="34" charset="0"/>
              </a:rPr>
              <a:t>ارسال إلى </a:t>
            </a:r>
            <a:r>
              <a:rPr b="1" dirty="0" err="1">
                <a:solidFill>
                  <a:srgbClr val="FF0000"/>
                </a:solidFill>
                <a:latin typeface="Arial" panose="020B0604020202020204" pitchFamily="34" charset="0"/>
              </a:rPr>
              <a:t>الجهة</a:t>
            </a:r>
            <a:r>
              <a:rPr b="1" dirty="0">
                <a:solidFill>
                  <a:srgbClr val="FF0000"/>
                </a:solidFill>
                <a:latin typeface="Arial" panose="020B0604020202020204" pitchFamily="34" charset="0"/>
              </a:rPr>
              <a:t> </a:t>
            </a:r>
            <a:r>
              <a:rPr b="1" dirty="0" err="1">
                <a:solidFill>
                  <a:srgbClr val="FF0000"/>
                </a:solidFill>
                <a:latin typeface="Arial" panose="020B0604020202020204" pitchFamily="34" charset="0"/>
              </a:rPr>
              <a:t>المختصة</a:t>
            </a:r>
            <a:endParaRPr b="1" dirty="0">
              <a:solidFill>
                <a:srgbClr val="FF0000"/>
              </a:solidFill>
              <a:latin typeface="Arial" panose="020B0604020202020204" pitchFamily="34" charset="0"/>
            </a:endParaRPr>
          </a:p>
        </p:txBody>
      </p:sp>
      <p:sp>
        <p:nvSpPr>
          <p:cNvPr id="29" name="Isosceles Triangle 28"/>
          <p:cNvSpPr/>
          <p:nvPr/>
        </p:nvSpPr>
        <p:spPr>
          <a:xfrm rot="16200000">
            <a:off x="7172039"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0" name="Rounded Rectangle 29"/>
          <p:cNvSpPr/>
          <p:nvPr/>
        </p:nvSpPr>
        <p:spPr>
          <a:xfrm>
            <a:off x="4186237"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1" name="Oval 30"/>
          <p:cNvSpPr/>
          <p:nvPr/>
        </p:nvSpPr>
        <p:spPr>
          <a:xfrm>
            <a:off x="5889307"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2" name="TextBox 31"/>
          <p:cNvSpPr txBox="1"/>
          <p:nvPr/>
        </p:nvSpPr>
        <p:spPr>
          <a:xfrm>
            <a:off x="6071726"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03</a:t>
            </a:r>
          </a:p>
        </p:txBody>
      </p:sp>
      <p:sp>
        <p:nvSpPr>
          <p:cNvPr id="33" name="TextBox 32"/>
          <p:cNvSpPr txBox="1"/>
          <p:nvPr/>
        </p:nvSpPr>
        <p:spPr>
          <a:xfrm>
            <a:off x="4387995"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34" name="TextBox 33"/>
          <p:cNvSpPr txBox="1"/>
          <p:nvPr/>
        </p:nvSpPr>
        <p:spPr>
          <a:xfrm>
            <a:off x="4295965" y="3763635"/>
            <a:ext cx="227914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متابعة</a:t>
            </a:r>
          </a:p>
        </p:txBody>
      </p:sp>
      <p:sp>
        <p:nvSpPr>
          <p:cNvPr id="35" name="Isosceles Triangle 34"/>
          <p:cNvSpPr/>
          <p:nvPr/>
        </p:nvSpPr>
        <p:spPr>
          <a:xfrm rot="16200000">
            <a:off x="3465862"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6" name="Rounded Rectangle 35"/>
          <p:cNvSpPr/>
          <p:nvPr/>
        </p:nvSpPr>
        <p:spPr>
          <a:xfrm>
            <a:off x="480060" y="2400300"/>
            <a:ext cx="2498598"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7" name="Oval 36"/>
          <p:cNvSpPr/>
          <p:nvPr/>
        </p:nvSpPr>
        <p:spPr>
          <a:xfrm>
            <a:off x="2183130"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8" name="TextBox 37"/>
          <p:cNvSpPr txBox="1"/>
          <p:nvPr/>
        </p:nvSpPr>
        <p:spPr>
          <a:xfrm>
            <a:off x="2365549"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04</a:t>
            </a:r>
          </a:p>
        </p:txBody>
      </p:sp>
      <p:sp>
        <p:nvSpPr>
          <p:cNvPr id="39" name="TextBox 38"/>
          <p:cNvSpPr txBox="1"/>
          <p:nvPr/>
        </p:nvSpPr>
        <p:spPr>
          <a:xfrm>
            <a:off x="681818"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40" name="TextBox 39"/>
          <p:cNvSpPr txBox="1"/>
          <p:nvPr/>
        </p:nvSpPr>
        <p:spPr>
          <a:xfrm>
            <a:off x="589788" y="3763635"/>
            <a:ext cx="2279142" cy="290849"/>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حل أو تصعيد</a:t>
            </a:r>
          </a:p>
        </p:txBody>
      </p:sp>
      <p:sp>
        <p:nvSpPr>
          <p:cNvPr id="41" name="TextBox 40"/>
          <p:cNvSpPr txBox="1"/>
          <p:nvPr/>
        </p:nvSpPr>
        <p:spPr>
          <a:xfrm>
            <a:off x="480060" y="4706927"/>
            <a:ext cx="17323308" cy="461665"/>
          </a:xfrm>
          <a:prstGeom prst="rect">
            <a:avLst/>
          </a:prstGeom>
          <a:noFill/>
        </p:spPr>
        <p:txBody>
          <a:bodyPr wrap="square" lIns="0" tIns="0" rIns="0" bIns="0" anchor="ctr">
            <a:spAutoFit/>
          </a:bodyPr>
          <a:lstStyle/>
          <a:p>
            <a:pPr algn="ctr" rtl="1">
              <a:lnSpc>
                <a:spcPct val="100000"/>
              </a:lnSpc>
            </a:pPr>
            <a:r>
              <a:rPr sz="3000" b="1">
                <a:solidFill>
                  <a:srgbClr val="1960BD"/>
                </a:solidFill>
                <a:latin typeface="Public Sans Ultra-Bold"/>
              </a:rPr>
              <a:t>ملخص الدورة</a:t>
            </a:r>
          </a:p>
        </p:txBody>
      </p:sp>
      <p:sp>
        <p:nvSpPr>
          <p:cNvPr id="42" name="Rounded Rectangle 41"/>
          <p:cNvSpPr/>
          <p:nvPr/>
        </p:nvSpPr>
        <p:spPr>
          <a:xfrm>
            <a:off x="12193524" y="5472684"/>
            <a:ext cx="5609844" cy="222885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3" name="Oval 42"/>
          <p:cNvSpPr/>
          <p:nvPr/>
        </p:nvSpPr>
        <p:spPr>
          <a:xfrm>
            <a:off x="17035272" y="569214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4" name="TextBox 43"/>
          <p:cNvSpPr txBox="1"/>
          <p:nvPr/>
        </p:nvSpPr>
        <p:spPr>
          <a:xfrm>
            <a:off x="17181352" y="582796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00</a:t>
            </a:r>
          </a:p>
        </p:txBody>
      </p:sp>
      <p:sp>
        <p:nvSpPr>
          <p:cNvPr id="45" name="TextBox 44"/>
          <p:cNvSpPr txBox="1"/>
          <p:nvPr/>
        </p:nvSpPr>
        <p:spPr>
          <a:xfrm>
            <a:off x="12412980" y="6350508"/>
            <a:ext cx="5170932" cy="331822"/>
          </a:xfrm>
          <a:prstGeom prst="rect">
            <a:avLst/>
          </a:prstGeom>
          <a:noFill/>
        </p:spPr>
        <p:txBody>
          <a:bodyPr wrap="square" lIns="0" tIns="0" rIns="0" bIns="0" anchor="t">
            <a:spAutoFit/>
          </a:bodyPr>
          <a:lstStyle/>
          <a:p>
            <a:pPr algn="r" rtl="1">
              <a:lnSpc>
                <a:spcPct val="115000"/>
              </a:lnSpc>
            </a:pPr>
            <a:r>
              <a:rPr sz="1875">
                <a:solidFill>
                  <a:srgbClr val="1E1E1E"/>
                </a:solidFill>
                <a:latin typeface="Arial" panose="020B0604020202020204" pitchFamily="34" charset="0"/>
              </a:rPr>
              <a:t>استقبال شكوى العميل وتوثيق تفاصيلها.</a:t>
            </a:r>
          </a:p>
        </p:txBody>
      </p:sp>
      <p:sp>
        <p:nvSpPr>
          <p:cNvPr id="46" name="Rounded Rectangle 45"/>
          <p:cNvSpPr/>
          <p:nvPr/>
        </p:nvSpPr>
        <p:spPr>
          <a:xfrm>
            <a:off x="6336792" y="5472684"/>
            <a:ext cx="5609844" cy="222885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7" name="Oval 46"/>
          <p:cNvSpPr/>
          <p:nvPr/>
        </p:nvSpPr>
        <p:spPr>
          <a:xfrm>
            <a:off x="11178540" y="569214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8" name="TextBox 47"/>
          <p:cNvSpPr txBox="1"/>
          <p:nvPr/>
        </p:nvSpPr>
        <p:spPr>
          <a:xfrm>
            <a:off x="11324620" y="582796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01</a:t>
            </a:r>
          </a:p>
        </p:txBody>
      </p:sp>
      <p:sp>
        <p:nvSpPr>
          <p:cNvPr id="49" name="TextBox 48"/>
          <p:cNvSpPr txBox="1"/>
          <p:nvPr/>
        </p:nvSpPr>
        <p:spPr>
          <a:xfrm>
            <a:off x="6556248" y="6350508"/>
            <a:ext cx="5170932" cy="331822"/>
          </a:xfrm>
          <a:prstGeom prst="rect">
            <a:avLst/>
          </a:prstGeom>
          <a:noFill/>
        </p:spPr>
        <p:txBody>
          <a:bodyPr wrap="square" lIns="0" tIns="0" rIns="0" bIns="0" anchor="t">
            <a:spAutoFit/>
          </a:bodyPr>
          <a:lstStyle/>
          <a:p>
            <a:pPr algn="r" rtl="1">
              <a:lnSpc>
                <a:spcPct val="115000"/>
              </a:lnSpc>
            </a:pPr>
            <a:r>
              <a:rPr sz="1875">
                <a:solidFill>
                  <a:srgbClr val="1E1E1E"/>
                </a:solidFill>
                <a:latin typeface="Arial" panose="020B0604020202020204" pitchFamily="34" charset="0"/>
              </a:rPr>
              <a:t>تحديد نوع الحالة وتصنيفها: إدارية / فنية.</a:t>
            </a:r>
          </a:p>
        </p:txBody>
      </p:sp>
      <p:sp>
        <p:nvSpPr>
          <p:cNvPr id="54" name="Rounded Rectangle 53"/>
          <p:cNvSpPr/>
          <p:nvPr/>
        </p:nvSpPr>
        <p:spPr>
          <a:xfrm>
            <a:off x="480060" y="5472684"/>
            <a:ext cx="5609844" cy="222885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5" name="Oval 54"/>
          <p:cNvSpPr/>
          <p:nvPr/>
        </p:nvSpPr>
        <p:spPr>
          <a:xfrm>
            <a:off x="5321808" y="569214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6" name="TextBox 55"/>
          <p:cNvSpPr txBox="1"/>
          <p:nvPr/>
        </p:nvSpPr>
        <p:spPr>
          <a:xfrm>
            <a:off x="5467888" y="582796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02</a:t>
            </a:r>
          </a:p>
        </p:txBody>
      </p:sp>
      <p:sp>
        <p:nvSpPr>
          <p:cNvPr id="57" name="TextBox 56"/>
          <p:cNvSpPr txBox="1"/>
          <p:nvPr/>
        </p:nvSpPr>
        <p:spPr>
          <a:xfrm>
            <a:off x="699516" y="6350508"/>
            <a:ext cx="5170932" cy="331822"/>
          </a:xfrm>
          <a:prstGeom prst="rect">
            <a:avLst/>
          </a:prstGeom>
          <a:noFill/>
        </p:spPr>
        <p:txBody>
          <a:bodyPr wrap="square" lIns="0" tIns="0" rIns="0" bIns="0" anchor="t">
            <a:spAutoFit/>
          </a:bodyPr>
          <a:lstStyle/>
          <a:p>
            <a:pPr algn="r" rtl="1">
              <a:lnSpc>
                <a:spcPct val="115000"/>
              </a:lnSpc>
            </a:pPr>
            <a:r>
              <a:rPr sz="1875">
                <a:solidFill>
                  <a:srgbClr val="1E1E1E"/>
                </a:solidFill>
                <a:latin typeface="Arial" panose="020B0604020202020204" pitchFamily="34" charset="0"/>
              </a:rPr>
              <a:t>تحويل الشكوى إلى الجهة المختصة بالمعالجة.</a:t>
            </a:r>
          </a:p>
        </p:txBody>
      </p:sp>
      <p:sp>
        <p:nvSpPr>
          <p:cNvPr id="58" name="Rounded Rectangle 57"/>
          <p:cNvSpPr/>
          <p:nvPr/>
        </p:nvSpPr>
        <p:spPr>
          <a:xfrm>
            <a:off x="12193524" y="7920990"/>
            <a:ext cx="5609844" cy="222885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9" name="Oval 58"/>
          <p:cNvSpPr/>
          <p:nvPr/>
        </p:nvSpPr>
        <p:spPr>
          <a:xfrm>
            <a:off x="17035272" y="814044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0" name="TextBox 59"/>
          <p:cNvSpPr txBox="1"/>
          <p:nvPr/>
        </p:nvSpPr>
        <p:spPr>
          <a:xfrm>
            <a:off x="17181352" y="827626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03</a:t>
            </a:r>
          </a:p>
        </p:txBody>
      </p:sp>
      <p:sp>
        <p:nvSpPr>
          <p:cNvPr id="61" name="TextBox 60"/>
          <p:cNvSpPr txBox="1"/>
          <p:nvPr/>
        </p:nvSpPr>
        <p:spPr>
          <a:xfrm>
            <a:off x="12412980" y="8798814"/>
            <a:ext cx="5170932" cy="331822"/>
          </a:xfrm>
          <a:prstGeom prst="rect">
            <a:avLst/>
          </a:prstGeom>
          <a:noFill/>
        </p:spPr>
        <p:txBody>
          <a:bodyPr wrap="square" lIns="0" tIns="0" rIns="0" bIns="0" anchor="t">
            <a:spAutoFit/>
          </a:bodyPr>
          <a:lstStyle/>
          <a:p>
            <a:pPr algn="r" rtl="1">
              <a:lnSpc>
                <a:spcPct val="115000"/>
              </a:lnSpc>
            </a:pPr>
            <a:r>
              <a:rPr sz="1875">
                <a:solidFill>
                  <a:srgbClr val="1E1E1E"/>
                </a:solidFill>
                <a:latin typeface="Arial" panose="020B0604020202020204" pitchFamily="34" charset="0"/>
              </a:rPr>
              <a:t>متابعة الشكوى حتى اكتمال الإجراء.</a:t>
            </a:r>
          </a:p>
        </p:txBody>
      </p:sp>
      <p:sp>
        <p:nvSpPr>
          <p:cNvPr id="62" name="Rounded Rectangle 61"/>
          <p:cNvSpPr/>
          <p:nvPr/>
        </p:nvSpPr>
        <p:spPr>
          <a:xfrm>
            <a:off x="6336792" y="7920990"/>
            <a:ext cx="5609844" cy="222885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3" name="Oval 62"/>
          <p:cNvSpPr/>
          <p:nvPr/>
        </p:nvSpPr>
        <p:spPr>
          <a:xfrm>
            <a:off x="11178540" y="814044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4" name="TextBox 63"/>
          <p:cNvSpPr txBox="1"/>
          <p:nvPr/>
        </p:nvSpPr>
        <p:spPr>
          <a:xfrm>
            <a:off x="11324620" y="827626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04</a:t>
            </a:r>
          </a:p>
        </p:txBody>
      </p:sp>
      <p:sp>
        <p:nvSpPr>
          <p:cNvPr id="65" name="TextBox 64"/>
          <p:cNvSpPr txBox="1"/>
          <p:nvPr/>
        </p:nvSpPr>
        <p:spPr>
          <a:xfrm>
            <a:off x="6556248" y="8798815"/>
            <a:ext cx="5170932" cy="331822"/>
          </a:xfrm>
          <a:prstGeom prst="rect">
            <a:avLst/>
          </a:prstGeom>
          <a:noFill/>
        </p:spPr>
        <p:txBody>
          <a:bodyPr wrap="square" lIns="0" tIns="0" rIns="0" bIns="0" anchor="t">
            <a:spAutoFit/>
          </a:bodyPr>
          <a:lstStyle/>
          <a:p>
            <a:pPr algn="r" rtl="1">
              <a:lnSpc>
                <a:spcPct val="115000"/>
              </a:lnSpc>
            </a:pPr>
            <a:r>
              <a:rPr sz="1875">
                <a:solidFill>
                  <a:srgbClr val="1E1E1E"/>
                </a:solidFill>
                <a:latin typeface="Arial" panose="020B0604020202020204" pitchFamily="34" charset="0"/>
              </a:rPr>
              <a:t>الوصول إلى حل الشكوى، أو تصعيدها عند الحاجة.</a:t>
            </a:r>
          </a:p>
        </p:txBody>
      </p:sp>
      <p:sp>
        <p:nvSpPr>
          <p:cNvPr id="66" name="Rounded Rectangle 66"/>
          <p:cNvSpPr/>
          <p:nvPr/>
        </p:nvSpPr>
        <p:spPr>
          <a:xfrm>
            <a:off x="12330684" y="6933438"/>
            <a:ext cx="5335524"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7" name="TextBox 67"/>
          <p:cNvSpPr txBox="1"/>
          <p:nvPr/>
        </p:nvSpPr>
        <p:spPr>
          <a:xfrm>
            <a:off x="12412980" y="7080800"/>
            <a:ext cx="5170932"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خدمة العملاء</a:t>
            </a:r>
          </a:p>
        </p:txBody>
      </p:sp>
      <p:sp>
        <p:nvSpPr>
          <p:cNvPr id="68" name="Rounded Rectangle 68"/>
          <p:cNvSpPr/>
          <p:nvPr/>
        </p:nvSpPr>
        <p:spPr>
          <a:xfrm>
            <a:off x="6473952" y="6933438"/>
            <a:ext cx="5335524"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9" name="TextBox 69"/>
          <p:cNvSpPr txBox="1"/>
          <p:nvPr/>
        </p:nvSpPr>
        <p:spPr>
          <a:xfrm>
            <a:off x="6556248" y="7080800"/>
            <a:ext cx="5170932"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خدمة العملاء</a:t>
            </a:r>
          </a:p>
        </p:txBody>
      </p:sp>
      <p:sp>
        <p:nvSpPr>
          <p:cNvPr id="70" name="Rounded Rectangle 70"/>
          <p:cNvSpPr/>
          <p:nvPr/>
        </p:nvSpPr>
        <p:spPr>
          <a:xfrm>
            <a:off x="617220" y="6933438"/>
            <a:ext cx="5335524"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1" name="TextBox 71"/>
          <p:cNvSpPr txBox="1"/>
          <p:nvPr/>
        </p:nvSpPr>
        <p:spPr>
          <a:xfrm>
            <a:off x="699516" y="7080800"/>
            <a:ext cx="5170932"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خدمة العملاء / الجهة المختصة</a:t>
            </a:r>
          </a:p>
        </p:txBody>
      </p:sp>
      <p:sp>
        <p:nvSpPr>
          <p:cNvPr id="72" name="Rounded Rectangle 72"/>
          <p:cNvSpPr/>
          <p:nvPr/>
        </p:nvSpPr>
        <p:spPr>
          <a:xfrm>
            <a:off x="12330684" y="9381744"/>
            <a:ext cx="5335524"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3" name="TextBox 73"/>
          <p:cNvSpPr txBox="1"/>
          <p:nvPr/>
        </p:nvSpPr>
        <p:spPr>
          <a:xfrm>
            <a:off x="12412980" y="9529106"/>
            <a:ext cx="5170932"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خدمة العملاء</a:t>
            </a:r>
          </a:p>
        </p:txBody>
      </p:sp>
      <p:sp>
        <p:nvSpPr>
          <p:cNvPr id="74" name="Rounded Rectangle 74"/>
          <p:cNvSpPr/>
          <p:nvPr/>
        </p:nvSpPr>
        <p:spPr>
          <a:xfrm>
            <a:off x="6473952" y="9381744"/>
            <a:ext cx="5335524"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5" name="TextBox 75"/>
          <p:cNvSpPr txBox="1"/>
          <p:nvPr/>
        </p:nvSpPr>
        <p:spPr>
          <a:xfrm>
            <a:off x="6556248" y="9529106"/>
            <a:ext cx="5170932"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خدمة العملاء</a:t>
            </a:r>
          </a:p>
        </p:txBody>
      </p:sp>
    </p:spTree>
    <p:extLst>
      <p:ext uri="{BB962C8B-B14F-4D97-AF65-F5344CB8AC3E}">
        <p14:creationId xmlns:p14="http://schemas.microsoft.com/office/powerpoint/2010/main" val="31826138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18287543"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 name="TextBox 2"/>
          <p:cNvSpPr txBox="1"/>
          <p:nvPr/>
        </p:nvSpPr>
        <p:spPr>
          <a:xfrm>
            <a:off x="5816603" y="380701"/>
            <a:ext cx="2494273" cy="692497"/>
          </a:xfrm>
          <a:prstGeom prst="rect">
            <a:avLst/>
          </a:prstGeom>
          <a:noFill/>
        </p:spPr>
        <p:txBody>
          <a:bodyPr wrap="none" lIns="0" tIns="0" rIns="0" bIns="0" anchor="ctr">
            <a:spAutoFit/>
          </a:bodyPr>
          <a:lstStyle/>
          <a:p>
            <a:pPr algn="ctr" rtl="1">
              <a:lnSpc>
                <a:spcPct val="100000"/>
              </a:lnSpc>
            </a:pPr>
            <a:r>
              <a:rPr sz="4500" b="1">
                <a:solidFill>
                  <a:srgbClr val="1960BD"/>
                </a:solidFill>
                <a:latin typeface="Public Sans Ultra-Bold"/>
              </a:rPr>
              <a:t>خدمة الصيانة</a:t>
            </a:r>
          </a:p>
        </p:txBody>
      </p:sp>
      <p:sp>
        <p:nvSpPr>
          <p:cNvPr id="4" name="Rounded Rectangle 3"/>
          <p:cNvSpPr/>
          <p:nvPr/>
        </p:nvSpPr>
        <p:spPr>
          <a:xfrm>
            <a:off x="3360420" y="1261872"/>
            <a:ext cx="7406640" cy="603504"/>
          </a:xfrm>
          <a:prstGeom prst="roundRect">
            <a:avLst>
              <a:gd name="adj" fmla="val 50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 name="TextBox 4"/>
          <p:cNvSpPr txBox="1"/>
          <p:nvPr/>
        </p:nvSpPr>
        <p:spPr>
          <a:xfrm>
            <a:off x="4934954" y="1419353"/>
            <a:ext cx="4257577" cy="288541"/>
          </a:xfrm>
          <a:prstGeom prst="rect">
            <a:avLst/>
          </a:prstGeom>
          <a:noFill/>
        </p:spPr>
        <p:txBody>
          <a:bodyPr wrap="none" lIns="0" tIns="0" rIns="0" bIns="0" anchor="ctr">
            <a:spAutoFit/>
          </a:bodyPr>
          <a:lstStyle/>
          <a:p>
            <a:pPr algn="ctr" rtl="1">
              <a:lnSpc>
                <a:spcPct val="100000"/>
              </a:lnSpc>
            </a:pPr>
            <a:r>
              <a:rPr sz="1875" b="1">
                <a:solidFill>
                  <a:srgbClr val="000000"/>
                </a:solidFill>
                <a:latin typeface="Arial" panose="020B0604020202020204" pitchFamily="34" charset="0"/>
              </a:rPr>
              <a:t>الجهة المسؤولة: </a:t>
            </a:r>
            <a:r>
              <a:rPr lang="ar-SY" sz="1875" b="1">
                <a:solidFill>
                  <a:srgbClr val="000000"/>
                </a:solidFill>
                <a:latin typeface="Arial" panose="020B0604020202020204" pitchFamily="34" charset="0"/>
              </a:rPr>
              <a:t>خدمة العملاء</a:t>
            </a:r>
            <a:r>
              <a:rPr sz="1875" b="1">
                <a:solidFill>
                  <a:srgbClr val="000000"/>
                </a:solidFill>
                <a:latin typeface="Arial" panose="020B0604020202020204" pitchFamily="34" charset="0"/>
              </a:rPr>
              <a:t>/ الجهة الفنية المسؤولة</a:t>
            </a:r>
          </a:p>
        </p:txBody>
      </p:sp>
      <p:pic>
        <p:nvPicPr>
          <p:cNvPr id="6" name="Picture 5" descr="1.jpg"/>
          <p:cNvPicPr>
            <a:picLocks noChangeAspect="1"/>
          </p:cNvPicPr>
          <p:nvPr/>
        </p:nvPicPr>
        <p:blipFill>
          <a:blip r:embed="rId2"/>
          <a:srcRect l="22093" r="22093"/>
          <a:stretch>
            <a:fillRect/>
          </a:stretch>
        </p:blipFill>
        <p:spPr>
          <a:xfrm>
            <a:off x="15670530" y="171450"/>
            <a:ext cx="1988820" cy="1988820"/>
          </a:xfrm>
          <a:prstGeom prst="ellipse">
            <a:avLst/>
          </a:prstGeom>
        </p:spPr>
      </p:pic>
      <p:sp>
        <p:nvSpPr>
          <p:cNvPr id="7" name="Oval 6"/>
          <p:cNvSpPr/>
          <p:nvPr/>
        </p:nvSpPr>
        <p:spPr>
          <a:xfrm>
            <a:off x="15670530" y="171450"/>
            <a:ext cx="1988820" cy="1988820"/>
          </a:xfrm>
          <a:prstGeom prst="ellipse">
            <a:avLst/>
          </a:prstGeom>
          <a:noFill/>
          <a:ln w="38100">
            <a:solidFill>
              <a:srgbClr val="1960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3" name="TextBox 42"/>
          <p:cNvSpPr txBox="1"/>
          <p:nvPr/>
        </p:nvSpPr>
        <p:spPr>
          <a:xfrm>
            <a:off x="480060" y="4775507"/>
            <a:ext cx="17323308" cy="461665"/>
          </a:xfrm>
          <a:prstGeom prst="rect">
            <a:avLst/>
          </a:prstGeom>
          <a:noFill/>
        </p:spPr>
        <p:txBody>
          <a:bodyPr wrap="square" lIns="0" tIns="0" rIns="0" bIns="0" anchor="ctr">
            <a:spAutoFit/>
          </a:bodyPr>
          <a:lstStyle/>
          <a:p>
            <a:pPr algn="ctr" rtl="1">
              <a:lnSpc>
                <a:spcPct val="100000"/>
              </a:lnSpc>
            </a:pPr>
            <a:r>
              <a:rPr sz="3000" b="1">
                <a:solidFill>
                  <a:srgbClr val="1960BD"/>
                </a:solidFill>
                <a:latin typeface="Public Sans Ultra-Bold"/>
              </a:rPr>
              <a:t>ملخص الدورة</a:t>
            </a:r>
          </a:p>
        </p:txBody>
      </p:sp>
      <p:sp>
        <p:nvSpPr>
          <p:cNvPr id="44" name="Rounded Rectangle 43"/>
          <p:cNvSpPr/>
          <p:nvPr/>
        </p:nvSpPr>
        <p:spPr>
          <a:xfrm>
            <a:off x="13657707"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5" name="Oval 44"/>
          <p:cNvSpPr/>
          <p:nvPr/>
        </p:nvSpPr>
        <p:spPr>
          <a:xfrm>
            <a:off x="17035272"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6" name="TextBox 45"/>
          <p:cNvSpPr txBox="1"/>
          <p:nvPr/>
        </p:nvSpPr>
        <p:spPr>
          <a:xfrm>
            <a:off x="17181352"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00</a:t>
            </a:r>
          </a:p>
        </p:txBody>
      </p:sp>
      <p:sp>
        <p:nvSpPr>
          <p:cNvPr id="47" name="TextBox 46"/>
          <p:cNvSpPr txBox="1"/>
          <p:nvPr/>
        </p:nvSpPr>
        <p:spPr>
          <a:xfrm>
            <a:off x="13877163" y="6419089"/>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إنشاء طلب صيانة جديد داخل نظام خدمات ما بعد البيع.</a:t>
            </a:r>
          </a:p>
        </p:txBody>
      </p:sp>
      <p:sp>
        <p:nvSpPr>
          <p:cNvPr id="48" name="Rounded Rectangle 47"/>
          <p:cNvSpPr/>
          <p:nvPr/>
        </p:nvSpPr>
        <p:spPr>
          <a:xfrm>
            <a:off x="9265158"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9" name="Oval 48"/>
          <p:cNvSpPr/>
          <p:nvPr/>
        </p:nvSpPr>
        <p:spPr>
          <a:xfrm>
            <a:off x="12642723"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0" name="TextBox 49"/>
          <p:cNvSpPr txBox="1"/>
          <p:nvPr/>
        </p:nvSpPr>
        <p:spPr>
          <a:xfrm>
            <a:off x="12788803"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01</a:t>
            </a:r>
          </a:p>
        </p:txBody>
      </p:sp>
      <p:sp>
        <p:nvSpPr>
          <p:cNvPr id="51" name="TextBox 50"/>
          <p:cNvSpPr txBox="1"/>
          <p:nvPr/>
        </p:nvSpPr>
        <p:spPr>
          <a:xfrm>
            <a:off x="9484614" y="6419089"/>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يتم الانتقال إلى مرحلة جدولة الموعد لتحديد موعد زيارة الصيانة.</a:t>
            </a:r>
          </a:p>
        </p:txBody>
      </p:sp>
      <p:sp>
        <p:nvSpPr>
          <p:cNvPr id="52" name="Rounded Rectangle 51"/>
          <p:cNvSpPr/>
          <p:nvPr/>
        </p:nvSpPr>
        <p:spPr>
          <a:xfrm>
            <a:off x="4872609"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3" name="Oval 52"/>
          <p:cNvSpPr/>
          <p:nvPr/>
        </p:nvSpPr>
        <p:spPr>
          <a:xfrm>
            <a:off x="8250174"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4" name="TextBox 53"/>
          <p:cNvSpPr txBox="1"/>
          <p:nvPr/>
        </p:nvSpPr>
        <p:spPr>
          <a:xfrm>
            <a:off x="8396254"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02</a:t>
            </a:r>
          </a:p>
        </p:txBody>
      </p:sp>
      <p:sp>
        <p:nvSpPr>
          <p:cNvPr id="55" name="TextBox 54"/>
          <p:cNvSpPr txBox="1"/>
          <p:nvPr/>
        </p:nvSpPr>
        <p:spPr>
          <a:xfrm>
            <a:off x="5092065" y="6419089"/>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يكون طلب الصيانة بانتظار تعيين الفني المسؤول عن تنفيذ الزيارة.</a:t>
            </a:r>
          </a:p>
        </p:txBody>
      </p:sp>
      <p:sp>
        <p:nvSpPr>
          <p:cNvPr id="56" name="Rounded Rectangle 55"/>
          <p:cNvSpPr/>
          <p:nvPr/>
        </p:nvSpPr>
        <p:spPr>
          <a:xfrm>
            <a:off x="480060" y="5541264"/>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7" name="Oval 56"/>
          <p:cNvSpPr/>
          <p:nvPr/>
        </p:nvSpPr>
        <p:spPr>
          <a:xfrm>
            <a:off x="3857625" y="5760720"/>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8" name="TextBox 57"/>
          <p:cNvSpPr txBox="1"/>
          <p:nvPr/>
        </p:nvSpPr>
        <p:spPr>
          <a:xfrm>
            <a:off x="4003705" y="5896541"/>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03</a:t>
            </a:r>
          </a:p>
        </p:txBody>
      </p:sp>
      <p:sp>
        <p:nvSpPr>
          <p:cNvPr id="59" name="TextBox 58"/>
          <p:cNvSpPr txBox="1"/>
          <p:nvPr/>
        </p:nvSpPr>
        <p:spPr>
          <a:xfrm>
            <a:off x="699516" y="6419089"/>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بعد زيارة الفني، يتم تسجيل التقرير المبدئي للحالة وتحديد الإجراء المطلوب.</a:t>
            </a:r>
          </a:p>
        </p:txBody>
      </p:sp>
      <p:sp>
        <p:nvSpPr>
          <p:cNvPr id="60" name="Rounded Rectangle 59"/>
          <p:cNvSpPr/>
          <p:nvPr/>
        </p:nvSpPr>
        <p:spPr>
          <a:xfrm>
            <a:off x="13657707"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1" name="Oval 60"/>
          <p:cNvSpPr/>
          <p:nvPr/>
        </p:nvSpPr>
        <p:spPr>
          <a:xfrm>
            <a:off x="17035272"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2" name="TextBox 61"/>
          <p:cNvSpPr txBox="1"/>
          <p:nvPr/>
        </p:nvSpPr>
        <p:spPr>
          <a:xfrm>
            <a:off x="17181352"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04</a:t>
            </a:r>
          </a:p>
        </p:txBody>
      </p:sp>
      <p:sp>
        <p:nvSpPr>
          <p:cNvPr id="63" name="TextBox 62"/>
          <p:cNvSpPr txBox="1"/>
          <p:nvPr/>
        </p:nvSpPr>
        <p:spPr>
          <a:xfrm>
            <a:off x="13877163" y="8833105"/>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اتخاذ القرار النهائي للحالة واستكمال الموافقات المطلوبة.</a:t>
            </a:r>
          </a:p>
        </p:txBody>
      </p:sp>
      <p:sp>
        <p:nvSpPr>
          <p:cNvPr id="64" name="Rounded Rectangle 63"/>
          <p:cNvSpPr/>
          <p:nvPr/>
        </p:nvSpPr>
        <p:spPr>
          <a:xfrm>
            <a:off x="9265158"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5" name="Oval 64"/>
          <p:cNvSpPr/>
          <p:nvPr/>
        </p:nvSpPr>
        <p:spPr>
          <a:xfrm>
            <a:off x="12642723"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6" name="TextBox 65"/>
          <p:cNvSpPr txBox="1"/>
          <p:nvPr/>
        </p:nvSpPr>
        <p:spPr>
          <a:xfrm>
            <a:off x="12788803"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05</a:t>
            </a:r>
          </a:p>
        </p:txBody>
      </p:sp>
      <p:sp>
        <p:nvSpPr>
          <p:cNvPr id="67" name="TextBox 66"/>
          <p:cNvSpPr txBox="1"/>
          <p:nvPr/>
        </p:nvSpPr>
        <p:spPr>
          <a:xfrm>
            <a:off x="9484614" y="8833105"/>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بعد جاهزية الحالة، يتم تحديد موعد تنفيذ أعمال الصيانة.</a:t>
            </a:r>
          </a:p>
        </p:txBody>
      </p:sp>
      <p:sp>
        <p:nvSpPr>
          <p:cNvPr id="74" name="Rounded Rectangle 74"/>
          <p:cNvSpPr/>
          <p:nvPr/>
        </p:nvSpPr>
        <p:spPr>
          <a:xfrm>
            <a:off x="4872609" y="7955280"/>
            <a:ext cx="4145661" cy="2194560"/>
          </a:xfrm>
          <a:prstGeom prst="roundRect">
            <a:avLst>
              <a:gd name="adj" fmla="val 14000"/>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5" name="Oval 75"/>
          <p:cNvSpPr/>
          <p:nvPr/>
        </p:nvSpPr>
        <p:spPr>
          <a:xfrm>
            <a:off x="8250174" y="8174736"/>
            <a:ext cx="548640" cy="548640"/>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6" name="TextBox 76"/>
          <p:cNvSpPr txBox="1"/>
          <p:nvPr/>
        </p:nvSpPr>
        <p:spPr>
          <a:xfrm>
            <a:off x="8396254" y="8310557"/>
            <a:ext cx="256480" cy="276999"/>
          </a:xfrm>
          <a:prstGeom prst="rect">
            <a:avLst/>
          </a:prstGeom>
          <a:noFill/>
        </p:spPr>
        <p:txBody>
          <a:bodyPr wrap="none" lIns="0" tIns="0" rIns="0" bIns="0" anchor="ctr">
            <a:spAutoFit/>
          </a:bodyPr>
          <a:lstStyle/>
          <a:p>
            <a:pPr algn="ctr">
              <a:lnSpc>
                <a:spcPct val="100000"/>
              </a:lnSpc>
            </a:pPr>
            <a:r>
              <a:rPr b="1">
                <a:solidFill>
                  <a:srgbClr val="FFFFFF"/>
                </a:solidFill>
                <a:latin typeface="Arial" panose="020B0604020202020204" pitchFamily="34" charset="0"/>
              </a:rPr>
              <a:t>06</a:t>
            </a:r>
          </a:p>
        </p:txBody>
      </p:sp>
      <p:sp>
        <p:nvSpPr>
          <p:cNvPr id="77" name="TextBox 77"/>
          <p:cNvSpPr txBox="1"/>
          <p:nvPr/>
        </p:nvSpPr>
        <p:spPr>
          <a:xfrm>
            <a:off x="5092065" y="8833105"/>
            <a:ext cx="3706749" cy="584006"/>
          </a:xfrm>
          <a:prstGeom prst="rect">
            <a:avLst/>
          </a:prstGeom>
          <a:noFill/>
        </p:spPr>
        <p:txBody>
          <a:bodyPr wrap="square" lIns="0" tIns="0" rIns="0" bIns="0" anchor="t">
            <a:spAutoFit/>
          </a:bodyPr>
          <a:lstStyle/>
          <a:p>
            <a:pPr algn="r" rtl="1">
              <a:lnSpc>
                <a:spcPct val="115000"/>
              </a:lnSpc>
            </a:pPr>
            <a:r>
              <a:rPr sz="1650">
                <a:solidFill>
                  <a:srgbClr val="1E1E1E"/>
                </a:solidFill>
                <a:latin typeface="Arial" panose="020B0604020202020204" pitchFamily="34" charset="0"/>
              </a:rPr>
              <a:t>تنفيذ أعمال الصيانة ثم تسليم الخدمة بعد الانتهاء من الأعمال المطلوبة.</a:t>
            </a:r>
          </a:p>
        </p:txBody>
      </p:sp>
      <p:sp>
        <p:nvSpPr>
          <p:cNvPr id="78" name="Rounded Rectangle 78"/>
          <p:cNvSpPr/>
          <p:nvPr/>
        </p:nvSpPr>
        <p:spPr>
          <a:xfrm>
            <a:off x="13794867" y="6967728"/>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9" name="TextBox 79"/>
          <p:cNvSpPr txBox="1"/>
          <p:nvPr/>
        </p:nvSpPr>
        <p:spPr>
          <a:xfrm>
            <a:off x="13877163" y="7115090"/>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خدمة العملاء</a:t>
            </a:r>
          </a:p>
        </p:txBody>
      </p:sp>
      <p:sp>
        <p:nvSpPr>
          <p:cNvPr id="80" name="Rounded Rectangle 80"/>
          <p:cNvSpPr/>
          <p:nvPr/>
        </p:nvSpPr>
        <p:spPr>
          <a:xfrm>
            <a:off x="9402318" y="6967728"/>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1" name="TextBox 81"/>
          <p:cNvSpPr txBox="1"/>
          <p:nvPr/>
        </p:nvSpPr>
        <p:spPr>
          <a:xfrm>
            <a:off x="9484614" y="7115090"/>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خدمة العملاء</a:t>
            </a:r>
          </a:p>
        </p:txBody>
      </p:sp>
      <p:sp>
        <p:nvSpPr>
          <p:cNvPr id="82" name="Rounded Rectangle 82"/>
          <p:cNvSpPr/>
          <p:nvPr/>
        </p:nvSpPr>
        <p:spPr>
          <a:xfrm>
            <a:off x="5009769" y="6967728"/>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3" name="TextBox 83"/>
          <p:cNvSpPr txBox="1"/>
          <p:nvPr/>
        </p:nvSpPr>
        <p:spPr>
          <a:xfrm>
            <a:off x="5092065" y="7115090"/>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الجهة </a:t>
            </a:r>
            <a:r>
              <a:rPr lang="ar-SY" sz="1650" b="1">
                <a:solidFill>
                  <a:srgbClr val="0B3658"/>
                </a:solidFill>
                <a:latin typeface="Arial" panose="020B0604020202020204" pitchFamily="34" charset="0"/>
              </a:rPr>
              <a:t>المختصة</a:t>
            </a:r>
            <a:endParaRPr sz="1650" b="1">
              <a:solidFill>
                <a:srgbClr val="0B3658"/>
              </a:solidFill>
              <a:latin typeface="Arial" panose="020B0604020202020204" pitchFamily="34" charset="0"/>
            </a:endParaRPr>
          </a:p>
        </p:txBody>
      </p:sp>
      <p:sp>
        <p:nvSpPr>
          <p:cNvPr id="84" name="Rounded Rectangle 84"/>
          <p:cNvSpPr/>
          <p:nvPr/>
        </p:nvSpPr>
        <p:spPr>
          <a:xfrm>
            <a:off x="617220" y="6967728"/>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5" name="TextBox 85"/>
          <p:cNvSpPr txBox="1"/>
          <p:nvPr/>
        </p:nvSpPr>
        <p:spPr>
          <a:xfrm>
            <a:off x="699516" y="7115090"/>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الجهة </a:t>
            </a:r>
            <a:r>
              <a:rPr lang="ar-SY" sz="1650" b="1">
                <a:solidFill>
                  <a:srgbClr val="0B3658"/>
                </a:solidFill>
                <a:latin typeface="Arial" panose="020B0604020202020204" pitchFamily="34" charset="0"/>
              </a:rPr>
              <a:t>المختصة</a:t>
            </a:r>
            <a:endParaRPr sz="1650" b="1">
              <a:solidFill>
                <a:srgbClr val="0B3658"/>
              </a:solidFill>
              <a:latin typeface="Arial" panose="020B0604020202020204" pitchFamily="34" charset="0"/>
            </a:endParaRPr>
          </a:p>
        </p:txBody>
      </p:sp>
      <p:sp>
        <p:nvSpPr>
          <p:cNvPr id="86" name="Rounded Rectangle 86"/>
          <p:cNvSpPr/>
          <p:nvPr/>
        </p:nvSpPr>
        <p:spPr>
          <a:xfrm>
            <a:off x="13794867" y="9381744"/>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7" name="TextBox 87"/>
          <p:cNvSpPr txBox="1"/>
          <p:nvPr/>
        </p:nvSpPr>
        <p:spPr>
          <a:xfrm>
            <a:off x="13877163" y="9529106"/>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الإدارة</a:t>
            </a:r>
          </a:p>
        </p:txBody>
      </p:sp>
      <p:sp>
        <p:nvSpPr>
          <p:cNvPr id="88" name="Rounded Rectangle 88"/>
          <p:cNvSpPr/>
          <p:nvPr/>
        </p:nvSpPr>
        <p:spPr>
          <a:xfrm>
            <a:off x="9402318" y="9381744"/>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9" name="TextBox 89"/>
          <p:cNvSpPr txBox="1"/>
          <p:nvPr/>
        </p:nvSpPr>
        <p:spPr>
          <a:xfrm>
            <a:off x="9484614" y="9529106"/>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خدمة العملاء</a:t>
            </a:r>
          </a:p>
        </p:txBody>
      </p:sp>
      <p:sp>
        <p:nvSpPr>
          <p:cNvPr id="90" name="Rounded Rectangle 90"/>
          <p:cNvSpPr/>
          <p:nvPr/>
        </p:nvSpPr>
        <p:spPr>
          <a:xfrm>
            <a:off x="5009769" y="9381744"/>
            <a:ext cx="3871341" cy="548640"/>
          </a:xfrm>
          <a:prstGeom prst="roundRect">
            <a:avLst>
              <a:gd name="adj" fmla="val 50000"/>
            </a:avLst>
          </a:prstGeom>
          <a:solidFill>
            <a:srgbClr val="DEC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1" name="TextBox 91"/>
          <p:cNvSpPr txBox="1"/>
          <p:nvPr/>
        </p:nvSpPr>
        <p:spPr>
          <a:xfrm>
            <a:off x="5092065" y="9529106"/>
            <a:ext cx="3706749" cy="253916"/>
          </a:xfrm>
          <a:prstGeom prst="rect">
            <a:avLst/>
          </a:prstGeom>
          <a:noFill/>
        </p:spPr>
        <p:txBody>
          <a:bodyPr wrap="square" lIns="0" tIns="0" rIns="0" bIns="0" anchor="ctr">
            <a:spAutoFit/>
          </a:bodyPr>
          <a:lstStyle/>
          <a:p>
            <a:pPr algn="ctr" rtl="1">
              <a:lnSpc>
                <a:spcPct val="100000"/>
              </a:lnSpc>
            </a:pPr>
            <a:r>
              <a:rPr sz="1650" b="1">
                <a:solidFill>
                  <a:srgbClr val="0B3658"/>
                </a:solidFill>
                <a:latin typeface="Arial" panose="020B0604020202020204" pitchFamily="34" charset="0"/>
              </a:rPr>
              <a:t>يدوي / الفني</a:t>
            </a:r>
          </a:p>
        </p:txBody>
      </p:sp>
      <p:sp>
        <p:nvSpPr>
          <p:cNvPr id="92" name="Rounded Rectangle 92"/>
          <p:cNvSpPr/>
          <p:nvPr/>
        </p:nvSpPr>
        <p:spPr>
          <a:xfrm>
            <a:off x="15728333"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3" name="Oval 93"/>
          <p:cNvSpPr/>
          <p:nvPr/>
        </p:nvSpPr>
        <p:spPr>
          <a:xfrm>
            <a:off x="17007840"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4" name="TextBox 94"/>
          <p:cNvSpPr txBox="1"/>
          <p:nvPr/>
        </p:nvSpPr>
        <p:spPr>
          <a:xfrm>
            <a:off x="17190259"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00</a:t>
            </a:r>
          </a:p>
        </p:txBody>
      </p:sp>
      <p:sp>
        <p:nvSpPr>
          <p:cNvPr id="95" name="TextBox 95"/>
          <p:cNvSpPr txBox="1"/>
          <p:nvPr/>
        </p:nvSpPr>
        <p:spPr>
          <a:xfrm>
            <a:off x="15930091"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96" name="TextBox 96"/>
          <p:cNvSpPr txBox="1"/>
          <p:nvPr/>
        </p:nvSpPr>
        <p:spPr>
          <a:xfrm>
            <a:off x="15838061"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طلب صيانة جديد</a:t>
            </a:r>
          </a:p>
        </p:txBody>
      </p:sp>
      <p:sp>
        <p:nvSpPr>
          <p:cNvPr id="97" name="Isosceles Triangle 97"/>
          <p:cNvSpPr/>
          <p:nvPr/>
        </p:nvSpPr>
        <p:spPr>
          <a:xfrm rot="16200000">
            <a:off x="15378575"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8" name="Rounded Rectangle 98"/>
          <p:cNvSpPr/>
          <p:nvPr/>
        </p:nvSpPr>
        <p:spPr>
          <a:xfrm>
            <a:off x="13186954"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9" name="Oval 99"/>
          <p:cNvSpPr/>
          <p:nvPr/>
        </p:nvSpPr>
        <p:spPr>
          <a:xfrm>
            <a:off x="14466461"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0" name="TextBox 100"/>
          <p:cNvSpPr txBox="1"/>
          <p:nvPr/>
        </p:nvSpPr>
        <p:spPr>
          <a:xfrm>
            <a:off x="14648880"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01</a:t>
            </a:r>
          </a:p>
        </p:txBody>
      </p:sp>
      <p:sp>
        <p:nvSpPr>
          <p:cNvPr id="101" name="TextBox 101"/>
          <p:cNvSpPr txBox="1"/>
          <p:nvPr/>
        </p:nvSpPr>
        <p:spPr>
          <a:xfrm>
            <a:off x="13388712"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02" name="TextBox 102"/>
          <p:cNvSpPr txBox="1"/>
          <p:nvPr/>
        </p:nvSpPr>
        <p:spPr>
          <a:xfrm>
            <a:off x="13296682"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جدولة موعد</a:t>
            </a:r>
          </a:p>
        </p:txBody>
      </p:sp>
      <p:sp>
        <p:nvSpPr>
          <p:cNvPr id="103" name="Isosceles Triangle 103"/>
          <p:cNvSpPr/>
          <p:nvPr/>
        </p:nvSpPr>
        <p:spPr>
          <a:xfrm rot="16200000">
            <a:off x="12837196"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4" name="Rounded Rectangle 104"/>
          <p:cNvSpPr/>
          <p:nvPr/>
        </p:nvSpPr>
        <p:spPr>
          <a:xfrm>
            <a:off x="10645575"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5" name="Oval 105"/>
          <p:cNvSpPr/>
          <p:nvPr/>
        </p:nvSpPr>
        <p:spPr>
          <a:xfrm>
            <a:off x="11925082"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6" name="TextBox 106"/>
          <p:cNvSpPr txBox="1"/>
          <p:nvPr/>
        </p:nvSpPr>
        <p:spPr>
          <a:xfrm>
            <a:off x="12107501"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02</a:t>
            </a:r>
          </a:p>
        </p:txBody>
      </p:sp>
      <p:sp>
        <p:nvSpPr>
          <p:cNvPr id="107" name="TextBox 107"/>
          <p:cNvSpPr txBox="1"/>
          <p:nvPr/>
        </p:nvSpPr>
        <p:spPr>
          <a:xfrm>
            <a:off x="10847333"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08" name="TextBox 108"/>
          <p:cNvSpPr txBox="1"/>
          <p:nvPr/>
        </p:nvSpPr>
        <p:spPr>
          <a:xfrm>
            <a:off x="10755303" y="3773701"/>
            <a:ext cx="1855578" cy="270715"/>
          </a:xfrm>
          <a:prstGeom prst="rect">
            <a:avLst/>
          </a:prstGeom>
          <a:noFill/>
        </p:spPr>
        <p:txBody>
          <a:bodyPr wrap="square" lIns="0" tIns="0" rIns="0" bIns="0" anchor="ctr">
            <a:spAutoFit/>
          </a:bodyPr>
          <a:lstStyle/>
          <a:p>
            <a:pPr algn="ctr" rtl="1">
              <a:lnSpc>
                <a:spcPct val="105000"/>
              </a:lnSpc>
            </a:pPr>
            <a:r>
              <a:rPr b="1" dirty="0" err="1">
                <a:solidFill>
                  <a:srgbClr val="FF0000"/>
                </a:solidFill>
                <a:latin typeface="Arial" panose="020B0604020202020204" pitchFamily="34" charset="0"/>
              </a:rPr>
              <a:t>تعيين</a:t>
            </a:r>
            <a:r>
              <a:rPr b="1" dirty="0">
                <a:solidFill>
                  <a:srgbClr val="FF0000"/>
                </a:solidFill>
                <a:latin typeface="Arial" panose="020B0604020202020204" pitchFamily="34" charset="0"/>
              </a:rPr>
              <a:t> </a:t>
            </a:r>
            <a:r>
              <a:rPr b="1" dirty="0" err="1">
                <a:solidFill>
                  <a:srgbClr val="FF0000"/>
                </a:solidFill>
                <a:latin typeface="Arial" panose="020B0604020202020204" pitchFamily="34" charset="0"/>
              </a:rPr>
              <a:t>فني</a:t>
            </a:r>
            <a:endParaRPr b="1" dirty="0">
              <a:solidFill>
                <a:srgbClr val="FF0000"/>
              </a:solidFill>
              <a:latin typeface="Arial" panose="020B0604020202020204" pitchFamily="34" charset="0"/>
            </a:endParaRPr>
          </a:p>
        </p:txBody>
      </p:sp>
      <p:sp>
        <p:nvSpPr>
          <p:cNvPr id="109" name="Isosceles Triangle 109"/>
          <p:cNvSpPr/>
          <p:nvPr/>
        </p:nvSpPr>
        <p:spPr>
          <a:xfrm rot="16200000">
            <a:off x="10295817"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0" name="Rounded Rectangle 110"/>
          <p:cNvSpPr/>
          <p:nvPr/>
        </p:nvSpPr>
        <p:spPr>
          <a:xfrm>
            <a:off x="8104196"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1" name="Oval 111"/>
          <p:cNvSpPr/>
          <p:nvPr/>
        </p:nvSpPr>
        <p:spPr>
          <a:xfrm>
            <a:off x="9383703"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2" name="TextBox 112"/>
          <p:cNvSpPr txBox="1"/>
          <p:nvPr/>
        </p:nvSpPr>
        <p:spPr>
          <a:xfrm>
            <a:off x="9566122"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03</a:t>
            </a:r>
          </a:p>
        </p:txBody>
      </p:sp>
      <p:sp>
        <p:nvSpPr>
          <p:cNvPr id="113" name="TextBox 113"/>
          <p:cNvSpPr txBox="1"/>
          <p:nvPr/>
        </p:nvSpPr>
        <p:spPr>
          <a:xfrm>
            <a:off x="8305954"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14" name="TextBox 114"/>
          <p:cNvSpPr txBox="1"/>
          <p:nvPr/>
        </p:nvSpPr>
        <p:spPr>
          <a:xfrm>
            <a:off x="8213924"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التقرير المبدئي</a:t>
            </a:r>
          </a:p>
        </p:txBody>
      </p:sp>
      <p:sp>
        <p:nvSpPr>
          <p:cNvPr id="115" name="Isosceles Triangle 115"/>
          <p:cNvSpPr/>
          <p:nvPr/>
        </p:nvSpPr>
        <p:spPr>
          <a:xfrm rot="16200000">
            <a:off x="7754438"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6" name="Rounded Rectangle 116"/>
          <p:cNvSpPr/>
          <p:nvPr/>
        </p:nvSpPr>
        <p:spPr>
          <a:xfrm>
            <a:off x="5562817"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7" name="Oval 117"/>
          <p:cNvSpPr/>
          <p:nvPr/>
        </p:nvSpPr>
        <p:spPr>
          <a:xfrm>
            <a:off x="6842324"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18" name="TextBox 118"/>
          <p:cNvSpPr txBox="1"/>
          <p:nvPr/>
        </p:nvSpPr>
        <p:spPr>
          <a:xfrm>
            <a:off x="7024743"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04</a:t>
            </a:r>
          </a:p>
        </p:txBody>
      </p:sp>
      <p:sp>
        <p:nvSpPr>
          <p:cNvPr id="119" name="TextBox 119"/>
          <p:cNvSpPr txBox="1"/>
          <p:nvPr/>
        </p:nvSpPr>
        <p:spPr>
          <a:xfrm>
            <a:off x="5764575"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20" name="TextBox 120"/>
          <p:cNvSpPr txBox="1"/>
          <p:nvPr/>
        </p:nvSpPr>
        <p:spPr>
          <a:xfrm>
            <a:off x="5672545"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القرار النهائي / الموافقات</a:t>
            </a:r>
          </a:p>
        </p:txBody>
      </p:sp>
      <p:sp>
        <p:nvSpPr>
          <p:cNvPr id="121" name="Isosceles Triangle 121"/>
          <p:cNvSpPr/>
          <p:nvPr/>
        </p:nvSpPr>
        <p:spPr>
          <a:xfrm rot="16200000">
            <a:off x="5213059"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2" name="Rounded Rectangle 122"/>
          <p:cNvSpPr/>
          <p:nvPr/>
        </p:nvSpPr>
        <p:spPr>
          <a:xfrm>
            <a:off x="3021438"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3" name="Oval 123"/>
          <p:cNvSpPr/>
          <p:nvPr/>
        </p:nvSpPr>
        <p:spPr>
          <a:xfrm>
            <a:off x="4300945"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4" name="TextBox 124"/>
          <p:cNvSpPr txBox="1"/>
          <p:nvPr/>
        </p:nvSpPr>
        <p:spPr>
          <a:xfrm>
            <a:off x="4483364"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05</a:t>
            </a:r>
          </a:p>
        </p:txBody>
      </p:sp>
      <p:sp>
        <p:nvSpPr>
          <p:cNvPr id="125" name="TextBox 125"/>
          <p:cNvSpPr txBox="1"/>
          <p:nvPr/>
        </p:nvSpPr>
        <p:spPr>
          <a:xfrm>
            <a:off x="3223196"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26" name="TextBox 126"/>
          <p:cNvSpPr txBox="1"/>
          <p:nvPr/>
        </p:nvSpPr>
        <p:spPr>
          <a:xfrm>
            <a:off x="3131166"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تحديد موعد الصيانة</a:t>
            </a:r>
          </a:p>
        </p:txBody>
      </p:sp>
      <p:sp>
        <p:nvSpPr>
          <p:cNvPr id="127" name="Isosceles Triangle 127"/>
          <p:cNvSpPr/>
          <p:nvPr/>
        </p:nvSpPr>
        <p:spPr>
          <a:xfrm rot="16200000">
            <a:off x="2671680" y="3346704"/>
            <a:ext cx="233172" cy="233172"/>
          </a:xfrm>
          <a:prstGeom prst="triangle">
            <a:avLst/>
          </a:prstGeom>
          <a:solidFill>
            <a:srgbClr val="0043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8" name="Rounded Rectangle 128"/>
          <p:cNvSpPr/>
          <p:nvPr/>
        </p:nvSpPr>
        <p:spPr>
          <a:xfrm>
            <a:off x="480060" y="2400300"/>
            <a:ext cx="2075034" cy="2125980"/>
          </a:xfrm>
          <a:prstGeom prst="roundRect">
            <a:avLst>
              <a:gd name="adj" fmla="val 16000"/>
            </a:avLst>
          </a:prstGeom>
          <a:solidFill>
            <a:srgbClr val="FFFFFF"/>
          </a:solidFill>
          <a:ln w="9525">
            <a:solidFill>
              <a:srgbClr val="E0E0E0"/>
            </a:solidFill>
          </a:ln>
          <a:effectLst>
            <a:outerShdw blurRad="165100" dist="50800" dir="5400000" rotWithShape="0">
              <a:srgbClr val="004369">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9" name="Oval 129"/>
          <p:cNvSpPr/>
          <p:nvPr/>
        </p:nvSpPr>
        <p:spPr>
          <a:xfrm>
            <a:off x="1759566" y="2564892"/>
            <a:ext cx="630936" cy="630936"/>
          </a:xfrm>
          <a:prstGeom prst="ellipse">
            <a:avLst/>
          </a:prstGeom>
          <a:solidFill>
            <a:srgbClr val="1960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30" name="TextBox 130"/>
          <p:cNvSpPr txBox="1"/>
          <p:nvPr/>
        </p:nvSpPr>
        <p:spPr>
          <a:xfrm>
            <a:off x="1941985" y="2736089"/>
            <a:ext cx="266098" cy="288541"/>
          </a:xfrm>
          <a:prstGeom prst="rect">
            <a:avLst/>
          </a:prstGeom>
          <a:noFill/>
        </p:spPr>
        <p:txBody>
          <a:bodyPr wrap="none" lIns="0" tIns="0" rIns="0" bIns="0" anchor="ctr">
            <a:spAutoFit/>
          </a:bodyPr>
          <a:lstStyle/>
          <a:p>
            <a:pPr algn="ctr">
              <a:lnSpc>
                <a:spcPct val="100000"/>
              </a:lnSpc>
            </a:pPr>
            <a:r>
              <a:rPr sz="1875" b="1">
                <a:solidFill>
                  <a:srgbClr val="FFFFFF"/>
                </a:solidFill>
                <a:latin typeface="Arial" panose="020B0604020202020204" pitchFamily="34" charset="0"/>
              </a:rPr>
              <a:t>06</a:t>
            </a:r>
          </a:p>
        </p:txBody>
      </p:sp>
      <p:sp>
        <p:nvSpPr>
          <p:cNvPr id="131" name="TextBox 131"/>
          <p:cNvSpPr txBox="1"/>
          <p:nvPr/>
        </p:nvSpPr>
        <p:spPr>
          <a:xfrm>
            <a:off x="681818" y="2674785"/>
            <a:ext cx="501740" cy="438582"/>
          </a:xfrm>
          <a:prstGeom prst="rect">
            <a:avLst/>
          </a:prstGeom>
          <a:noFill/>
        </p:spPr>
        <p:txBody>
          <a:bodyPr wrap="none" lIns="0" tIns="0" rIns="0" bIns="0" anchor="ctr">
            <a:spAutoFit/>
          </a:bodyPr>
          <a:lstStyle/>
          <a:p>
            <a:pPr algn="ctr">
              <a:lnSpc>
                <a:spcPct val="100000"/>
              </a:lnSpc>
            </a:pPr>
            <a:r>
              <a:rPr sz="2850">
                <a:solidFill>
                  <a:srgbClr val="1960BD"/>
                </a:solidFill>
                <a:latin typeface="Segoe UI Emoji"/>
              </a:rPr>
              <a:t>✅</a:t>
            </a:r>
          </a:p>
        </p:txBody>
      </p:sp>
      <p:sp>
        <p:nvSpPr>
          <p:cNvPr id="132" name="TextBox 132"/>
          <p:cNvSpPr txBox="1"/>
          <p:nvPr/>
        </p:nvSpPr>
        <p:spPr>
          <a:xfrm>
            <a:off x="589788" y="3609059"/>
            <a:ext cx="1855578" cy="600000"/>
          </a:xfrm>
          <a:prstGeom prst="rect">
            <a:avLst/>
          </a:prstGeom>
          <a:noFill/>
        </p:spPr>
        <p:txBody>
          <a:bodyPr wrap="square" lIns="0" tIns="0" rIns="0" bIns="0" anchor="ctr">
            <a:spAutoFit/>
          </a:bodyPr>
          <a:lstStyle/>
          <a:p>
            <a:pPr algn="ctr" rtl="1">
              <a:lnSpc>
                <a:spcPct val="105000"/>
              </a:lnSpc>
            </a:pPr>
            <a:r>
              <a:rPr b="1">
                <a:solidFill>
                  <a:srgbClr val="000000"/>
                </a:solidFill>
                <a:latin typeface="Arial" panose="020B0604020202020204" pitchFamily="34" charset="0"/>
              </a:rPr>
              <a:t>جاري الصيانة /</a:t>
            </a:r>
          </a:p>
          <a:p>
            <a:pPr algn="ctr" rtl="1">
              <a:lnSpc>
                <a:spcPct val="105000"/>
              </a:lnSpc>
            </a:pPr>
            <a:r>
              <a:rPr b="1">
                <a:solidFill>
                  <a:srgbClr val="000000"/>
                </a:solidFill>
                <a:latin typeface="Arial" panose="020B0604020202020204" pitchFamily="34" charset="0"/>
              </a:rPr>
              <a:t>تسليم الخدمة</a:t>
            </a:r>
          </a:p>
        </p:txBody>
      </p:sp>
    </p:spTree>
    <p:extLst>
      <p:ext uri="{BB962C8B-B14F-4D97-AF65-F5344CB8AC3E}">
        <p14:creationId xmlns:p14="http://schemas.microsoft.com/office/powerpoint/2010/main" val="3635848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30202" y="956310"/>
            <a:ext cx="9027596" cy="362343"/>
          </a:xfrm>
          <a:prstGeom prst="rect">
            <a:avLst/>
          </a:prstGeom>
        </p:spPr>
        <p:txBody>
          <a:bodyPr lIns="0" tIns="0" rIns="0" bIns="0" rtlCol="0" anchor="t">
            <a:spAutoFit/>
          </a:bodyPr>
          <a:lstStyle/>
          <a:p>
            <a:pPr marL="0" lvl="0" indent="0" algn="ctr">
              <a:lnSpc>
                <a:spcPts val="3079"/>
              </a:lnSpc>
              <a:spcBef>
                <a:spcPct val="0"/>
              </a:spcBef>
            </a:pPr>
            <a:r>
              <a:rPr lang="ar-EG" sz="2199" dirty="0">
                <a:solidFill>
                  <a:srgbClr val="000000"/>
                </a:solidFill>
                <a:latin typeface="Arial" panose="020B0604020202020204" pitchFamily="34" charset="0"/>
                <a:ea typeface="DM Sans"/>
                <a:cs typeface="Arial" panose="020B0604020202020204" pitchFamily="34" charset="0"/>
                <a:sym typeface="DM Sans"/>
                <a:rtl/>
              </a:rPr>
              <a:t>مقارنة توضح أثر</a:t>
            </a:r>
            <a:r>
              <a:rPr lang="ar-EG" sz="2199" u="none" strike="noStrike" dirty="0">
                <a:solidFill>
                  <a:srgbClr val="000000"/>
                </a:solidFill>
                <a:latin typeface="Arial" panose="020B0604020202020204" pitchFamily="34" charset="0"/>
                <a:ea typeface="DM Sans"/>
                <a:cs typeface="Arial" panose="020B0604020202020204" pitchFamily="34" charset="0"/>
                <a:sym typeface="DM Sans"/>
                <a:rtl/>
              </a:rPr>
              <a:t> المشروع على رحلة خدمات ما بعد البيع</a:t>
            </a:r>
          </a:p>
        </p:txBody>
      </p:sp>
      <p:sp>
        <p:nvSpPr>
          <p:cNvPr id="3" name="TextBox 3"/>
          <p:cNvSpPr txBox="1"/>
          <p:nvPr/>
        </p:nvSpPr>
        <p:spPr>
          <a:xfrm>
            <a:off x="4630202" y="147955"/>
            <a:ext cx="9027596" cy="620619"/>
          </a:xfrm>
          <a:prstGeom prst="rect">
            <a:avLst/>
          </a:prstGeom>
        </p:spPr>
        <p:txBody>
          <a:bodyPr lIns="0" tIns="0" rIns="0" bIns="0" rtlCol="0" anchor="t">
            <a:spAutoFit/>
          </a:bodyPr>
          <a:lstStyle/>
          <a:p>
            <a:pPr algn="ctr">
              <a:lnSpc>
                <a:spcPts val="5319"/>
              </a:lnSpc>
              <a:spcBef>
                <a:spcPct val="0"/>
              </a:spcBef>
            </a:pPr>
            <a:r>
              <a:rPr lang="ar-EG" sz="3799" b="1" dirty="0">
                <a:solidFill>
                  <a:srgbClr val="000000"/>
                </a:solidFill>
                <a:latin typeface="Arial" panose="020B0604020202020204" pitchFamily="34" charset="0"/>
                <a:ea typeface="DM Sans Bold"/>
                <a:cs typeface="Arial" panose="020B0604020202020204" pitchFamily="34" charset="0"/>
                <a:sym typeface="DM Sans Bold"/>
                <a:rtl/>
              </a:rPr>
              <a:t>قبل وبعد المشروع</a:t>
            </a:r>
          </a:p>
        </p:txBody>
      </p:sp>
      <p:sp>
        <p:nvSpPr>
          <p:cNvPr id="4" name="Freeform 4"/>
          <p:cNvSpPr/>
          <p:nvPr/>
        </p:nvSpPr>
        <p:spPr>
          <a:xfrm>
            <a:off x="2546714" y="2562792"/>
            <a:ext cx="4774544" cy="300021"/>
          </a:xfrm>
          <a:custGeom>
            <a:avLst/>
            <a:gdLst/>
            <a:ahLst/>
            <a:cxnLst/>
            <a:rect l="l" t="t" r="r" b="b"/>
            <a:pathLst>
              <a:path w="4774544" h="300021">
                <a:moveTo>
                  <a:pt x="0" y="0"/>
                </a:moveTo>
                <a:lnTo>
                  <a:pt x="4774544" y="0"/>
                </a:lnTo>
                <a:lnTo>
                  <a:pt x="4774544" y="300021"/>
                </a:lnTo>
                <a:lnTo>
                  <a:pt x="0" y="300021"/>
                </a:lnTo>
                <a:lnTo>
                  <a:pt x="0" y="0"/>
                </a:lnTo>
                <a:close/>
              </a:path>
            </a:pathLst>
          </a:custGeom>
          <a:blipFill>
            <a:blip r:embed="rId2">
              <a:alphaModFix amt="65000"/>
            </a:blip>
            <a:stretch>
              <a:fillRect t="-82288"/>
            </a:stretch>
          </a:blipFill>
        </p:spPr>
        <p:txBody>
          <a:bodyPr/>
          <a:lstStyle/>
          <a:p>
            <a:endParaRPr/>
          </a:p>
        </p:txBody>
      </p:sp>
      <p:sp>
        <p:nvSpPr>
          <p:cNvPr id="5" name="Freeform 5"/>
          <p:cNvSpPr/>
          <p:nvPr/>
        </p:nvSpPr>
        <p:spPr>
          <a:xfrm>
            <a:off x="10965737" y="2562792"/>
            <a:ext cx="4774544" cy="300021"/>
          </a:xfrm>
          <a:custGeom>
            <a:avLst/>
            <a:gdLst/>
            <a:ahLst/>
            <a:cxnLst/>
            <a:rect l="l" t="t" r="r" b="b"/>
            <a:pathLst>
              <a:path w="4774544" h="300021">
                <a:moveTo>
                  <a:pt x="0" y="0"/>
                </a:moveTo>
                <a:lnTo>
                  <a:pt x="4774544" y="0"/>
                </a:lnTo>
                <a:lnTo>
                  <a:pt x="4774544" y="300021"/>
                </a:lnTo>
                <a:lnTo>
                  <a:pt x="0" y="300021"/>
                </a:lnTo>
                <a:lnTo>
                  <a:pt x="0" y="0"/>
                </a:lnTo>
                <a:close/>
              </a:path>
            </a:pathLst>
          </a:custGeom>
          <a:blipFill>
            <a:blip r:embed="rId2">
              <a:alphaModFix amt="65000"/>
            </a:blip>
            <a:stretch>
              <a:fillRect t="-82288"/>
            </a:stretch>
          </a:blipFill>
        </p:spPr>
        <p:txBody>
          <a:bodyPr/>
          <a:lstStyle/>
          <a:p>
            <a:endParaRPr/>
          </a:p>
        </p:txBody>
      </p:sp>
      <p:grpSp>
        <p:nvGrpSpPr>
          <p:cNvPr id="6" name="Group 6"/>
          <p:cNvGrpSpPr/>
          <p:nvPr/>
        </p:nvGrpSpPr>
        <p:grpSpPr>
          <a:xfrm>
            <a:off x="2546714" y="2001616"/>
            <a:ext cx="4771936" cy="687686"/>
            <a:chOff x="0" y="0"/>
            <a:chExt cx="1081126" cy="155801"/>
          </a:xfrm>
        </p:grpSpPr>
        <p:sp>
          <p:nvSpPr>
            <p:cNvPr id="7" name="Freeform 7"/>
            <p:cNvSpPr/>
            <p:nvPr/>
          </p:nvSpPr>
          <p:spPr>
            <a:xfrm>
              <a:off x="0" y="0"/>
              <a:ext cx="1081126" cy="155801"/>
            </a:xfrm>
            <a:custGeom>
              <a:avLst/>
              <a:gdLst/>
              <a:ahLst/>
              <a:cxnLst/>
              <a:rect l="l" t="t" r="r" b="b"/>
              <a:pathLst>
                <a:path w="1081126" h="155801">
                  <a:moveTo>
                    <a:pt x="12979" y="0"/>
                  </a:moveTo>
                  <a:lnTo>
                    <a:pt x="1068147" y="0"/>
                  </a:lnTo>
                  <a:cubicBezTo>
                    <a:pt x="1075315" y="0"/>
                    <a:pt x="1081126" y="5811"/>
                    <a:pt x="1081126" y="12979"/>
                  </a:cubicBezTo>
                  <a:lnTo>
                    <a:pt x="1081126" y="142822"/>
                  </a:lnTo>
                  <a:cubicBezTo>
                    <a:pt x="1081126" y="146265"/>
                    <a:pt x="1079758" y="149566"/>
                    <a:pt x="1077324" y="152000"/>
                  </a:cubicBezTo>
                  <a:cubicBezTo>
                    <a:pt x="1074890" y="154434"/>
                    <a:pt x="1071589" y="155801"/>
                    <a:pt x="1068147" y="155801"/>
                  </a:cubicBezTo>
                  <a:lnTo>
                    <a:pt x="12979" y="155801"/>
                  </a:lnTo>
                  <a:cubicBezTo>
                    <a:pt x="5811" y="155801"/>
                    <a:pt x="0" y="149991"/>
                    <a:pt x="0" y="142822"/>
                  </a:cubicBezTo>
                  <a:lnTo>
                    <a:pt x="0" y="12979"/>
                  </a:lnTo>
                  <a:cubicBezTo>
                    <a:pt x="0" y="5811"/>
                    <a:pt x="5811" y="0"/>
                    <a:pt x="12979" y="0"/>
                  </a:cubicBezTo>
                  <a:close/>
                </a:path>
              </a:pathLst>
            </a:custGeom>
            <a:solidFill>
              <a:srgbClr val="E0E0E0"/>
            </a:solidFill>
          </p:spPr>
        </p:sp>
        <p:sp>
          <p:nvSpPr>
            <p:cNvPr id="8" name="TextBox 8"/>
            <p:cNvSpPr txBox="1"/>
            <p:nvPr/>
          </p:nvSpPr>
          <p:spPr>
            <a:xfrm>
              <a:off x="0" y="-47625"/>
              <a:ext cx="1081126" cy="203426"/>
            </a:xfrm>
            <a:prstGeom prst="rect">
              <a:avLst/>
            </a:prstGeom>
          </p:spPr>
          <p:txBody>
            <a:bodyPr lIns="50800" tIns="50800" rIns="50800" bIns="50800" rtlCol="0" anchor="ctr"/>
            <a:lstStyle/>
            <a:p>
              <a:pPr marL="0" lvl="0" indent="0" algn="ctr">
                <a:lnSpc>
                  <a:spcPts val="3079"/>
                </a:lnSpc>
                <a:spcBef>
                  <a:spcPct val="0"/>
                </a:spcBef>
              </a:pPr>
              <a:r>
                <a:rPr lang="ar-EG" sz="2199" b="1" dirty="0">
                  <a:solidFill>
                    <a:srgbClr val="000000"/>
                  </a:solidFill>
                  <a:latin typeface="Arial" panose="020B0604020202020204" pitchFamily="34" charset="0"/>
                  <a:ea typeface="DM Sans Bold"/>
                  <a:cs typeface="Arial" panose="020B0604020202020204" pitchFamily="34" charset="0"/>
                  <a:sym typeface="DM Sans Bold"/>
                  <a:rtl/>
                </a:rPr>
                <a:t>قبل المشروع</a:t>
              </a:r>
            </a:p>
          </p:txBody>
        </p:sp>
      </p:grpSp>
      <p:grpSp>
        <p:nvGrpSpPr>
          <p:cNvPr id="9" name="Group 9"/>
          <p:cNvGrpSpPr/>
          <p:nvPr/>
        </p:nvGrpSpPr>
        <p:grpSpPr>
          <a:xfrm>
            <a:off x="7616533" y="2028186"/>
            <a:ext cx="3053929" cy="634547"/>
            <a:chOff x="0" y="0"/>
            <a:chExt cx="2567133" cy="533400"/>
          </a:xfrm>
        </p:grpSpPr>
        <p:sp>
          <p:nvSpPr>
            <p:cNvPr id="10" name="Freeform 10"/>
            <p:cNvSpPr/>
            <p:nvPr/>
          </p:nvSpPr>
          <p:spPr>
            <a:xfrm>
              <a:off x="0" y="0"/>
              <a:ext cx="2567133" cy="533400"/>
            </a:xfrm>
            <a:custGeom>
              <a:avLst/>
              <a:gdLst/>
              <a:ahLst/>
              <a:cxnLst/>
              <a:rect l="l" t="t" r="r" b="b"/>
              <a:pathLst>
                <a:path w="2567133" h="533400">
                  <a:moveTo>
                    <a:pt x="273050" y="0"/>
                  </a:moveTo>
                  <a:lnTo>
                    <a:pt x="0" y="266700"/>
                  </a:lnTo>
                  <a:lnTo>
                    <a:pt x="273050" y="533400"/>
                  </a:lnTo>
                  <a:lnTo>
                    <a:pt x="273050" y="400050"/>
                  </a:lnTo>
                  <a:lnTo>
                    <a:pt x="2294083" y="400050"/>
                  </a:lnTo>
                  <a:lnTo>
                    <a:pt x="2294083" y="533400"/>
                  </a:lnTo>
                  <a:lnTo>
                    <a:pt x="2567133" y="266700"/>
                  </a:lnTo>
                  <a:lnTo>
                    <a:pt x="2294083" y="0"/>
                  </a:lnTo>
                  <a:lnTo>
                    <a:pt x="2294083" y="133350"/>
                  </a:lnTo>
                  <a:lnTo>
                    <a:pt x="273050" y="133350"/>
                  </a:lnTo>
                  <a:lnTo>
                    <a:pt x="273050" y="0"/>
                  </a:lnTo>
                  <a:close/>
                </a:path>
              </a:pathLst>
            </a:custGeom>
            <a:solidFill>
              <a:srgbClr val="FFFFFF"/>
            </a:solidFill>
          </p:spPr>
        </p:sp>
        <p:sp>
          <p:nvSpPr>
            <p:cNvPr id="11" name="TextBox 11"/>
            <p:cNvSpPr txBox="1"/>
            <p:nvPr/>
          </p:nvSpPr>
          <p:spPr>
            <a:xfrm>
              <a:off x="101600" y="101600"/>
              <a:ext cx="2363933" cy="292100"/>
            </a:xfrm>
            <a:prstGeom prst="rect">
              <a:avLst/>
            </a:prstGeom>
          </p:spPr>
          <p:txBody>
            <a:bodyPr lIns="50800" tIns="50800" rIns="50800" bIns="50800" rtlCol="0" anchor="ctr"/>
            <a:lstStyle/>
            <a:p>
              <a:pPr algn="ctr">
                <a:lnSpc>
                  <a:spcPts val="2520"/>
                </a:lnSpc>
              </a:pPr>
              <a:endParaRPr/>
            </a:p>
          </p:txBody>
        </p:sp>
      </p:grpSp>
      <p:grpSp>
        <p:nvGrpSpPr>
          <p:cNvPr id="12" name="Group 12"/>
          <p:cNvGrpSpPr/>
          <p:nvPr/>
        </p:nvGrpSpPr>
        <p:grpSpPr>
          <a:xfrm>
            <a:off x="10965438" y="2001616"/>
            <a:ext cx="4774544" cy="687686"/>
            <a:chOff x="0" y="0"/>
            <a:chExt cx="1081717" cy="155801"/>
          </a:xfrm>
        </p:grpSpPr>
        <p:sp>
          <p:nvSpPr>
            <p:cNvPr id="13" name="Freeform 13"/>
            <p:cNvSpPr/>
            <p:nvPr/>
          </p:nvSpPr>
          <p:spPr>
            <a:xfrm>
              <a:off x="0" y="0"/>
              <a:ext cx="1081717" cy="155801"/>
            </a:xfrm>
            <a:custGeom>
              <a:avLst/>
              <a:gdLst/>
              <a:ahLst/>
              <a:cxnLst/>
              <a:rect l="l" t="t" r="r" b="b"/>
              <a:pathLst>
                <a:path w="1081717" h="155801">
                  <a:moveTo>
                    <a:pt x="12972" y="0"/>
                  </a:moveTo>
                  <a:lnTo>
                    <a:pt x="1068745" y="0"/>
                  </a:lnTo>
                  <a:cubicBezTo>
                    <a:pt x="1072185" y="0"/>
                    <a:pt x="1075485" y="1367"/>
                    <a:pt x="1077917" y="3799"/>
                  </a:cubicBezTo>
                  <a:cubicBezTo>
                    <a:pt x="1080350" y="6232"/>
                    <a:pt x="1081717" y="9532"/>
                    <a:pt x="1081717" y="12972"/>
                  </a:cubicBezTo>
                  <a:lnTo>
                    <a:pt x="1081717" y="142829"/>
                  </a:lnTo>
                  <a:cubicBezTo>
                    <a:pt x="1081717" y="146270"/>
                    <a:pt x="1080350" y="149569"/>
                    <a:pt x="1077917" y="152002"/>
                  </a:cubicBezTo>
                  <a:cubicBezTo>
                    <a:pt x="1075485" y="154435"/>
                    <a:pt x="1072185" y="155801"/>
                    <a:pt x="1068745" y="155801"/>
                  </a:cubicBezTo>
                  <a:lnTo>
                    <a:pt x="12972" y="155801"/>
                  </a:lnTo>
                  <a:cubicBezTo>
                    <a:pt x="9532" y="155801"/>
                    <a:pt x="6232" y="154435"/>
                    <a:pt x="3799" y="152002"/>
                  </a:cubicBezTo>
                  <a:cubicBezTo>
                    <a:pt x="1367" y="149569"/>
                    <a:pt x="0" y="146270"/>
                    <a:pt x="0" y="142829"/>
                  </a:cubicBezTo>
                  <a:lnTo>
                    <a:pt x="0" y="12972"/>
                  </a:lnTo>
                  <a:cubicBezTo>
                    <a:pt x="0" y="9532"/>
                    <a:pt x="1367" y="6232"/>
                    <a:pt x="3799" y="3799"/>
                  </a:cubicBezTo>
                  <a:cubicBezTo>
                    <a:pt x="6232" y="1367"/>
                    <a:pt x="9532" y="0"/>
                    <a:pt x="12972" y="0"/>
                  </a:cubicBezTo>
                  <a:close/>
                </a:path>
              </a:pathLst>
            </a:custGeom>
            <a:solidFill>
              <a:srgbClr val="E0E0E0"/>
            </a:solidFill>
          </p:spPr>
        </p:sp>
        <p:sp>
          <p:nvSpPr>
            <p:cNvPr id="14" name="TextBox 14"/>
            <p:cNvSpPr txBox="1"/>
            <p:nvPr/>
          </p:nvSpPr>
          <p:spPr>
            <a:xfrm>
              <a:off x="0" y="-47625"/>
              <a:ext cx="1081717" cy="203426"/>
            </a:xfrm>
            <a:prstGeom prst="rect">
              <a:avLst/>
            </a:prstGeom>
          </p:spPr>
          <p:txBody>
            <a:bodyPr lIns="50800" tIns="50800" rIns="50800" bIns="50800" rtlCol="0" anchor="ctr"/>
            <a:lstStyle/>
            <a:p>
              <a:pPr marL="0" lvl="0" indent="0" algn="ctr">
                <a:lnSpc>
                  <a:spcPts val="3079"/>
                </a:lnSpc>
                <a:spcBef>
                  <a:spcPct val="0"/>
                </a:spcBef>
              </a:pPr>
              <a:r>
                <a:rPr lang="ar-EG" sz="2199" b="1" dirty="0">
                  <a:solidFill>
                    <a:srgbClr val="000000"/>
                  </a:solidFill>
                  <a:latin typeface="Arial" panose="020B0604020202020204" pitchFamily="34" charset="0"/>
                  <a:ea typeface="DM Sans Bold"/>
                  <a:cs typeface="Arial" panose="020B0604020202020204" pitchFamily="34" charset="0"/>
                  <a:sym typeface="DM Sans Bold"/>
                  <a:rtl/>
                </a:rPr>
                <a:t>بعد المشروع</a:t>
              </a:r>
            </a:p>
          </p:txBody>
        </p:sp>
      </p:grpSp>
      <p:sp>
        <p:nvSpPr>
          <p:cNvPr id="15" name="Freeform 15"/>
          <p:cNvSpPr/>
          <p:nvPr/>
        </p:nvSpPr>
        <p:spPr>
          <a:xfrm>
            <a:off x="8741091" y="2000250"/>
            <a:ext cx="804812" cy="803806"/>
          </a:xfrm>
          <a:custGeom>
            <a:avLst/>
            <a:gdLst/>
            <a:ahLst/>
            <a:cxnLst/>
            <a:rect l="l" t="t" r="r" b="b"/>
            <a:pathLst>
              <a:path w="804812" h="803806">
                <a:moveTo>
                  <a:pt x="0" y="0"/>
                </a:moveTo>
                <a:lnTo>
                  <a:pt x="804812" y="0"/>
                </a:lnTo>
                <a:lnTo>
                  <a:pt x="804812" y="803806"/>
                </a:lnTo>
                <a:lnTo>
                  <a:pt x="0" y="803806"/>
                </a:lnTo>
                <a:lnTo>
                  <a:pt x="0" y="0"/>
                </a:lnTo>
                <a:close/>
              </a:path>
            </a:pathLst>
          </a:custGeom>
          <a:blipFill>
            <a:blip r:embed="rId3"/>
            <a:stretch>
              <a:fillRect/>
            </a:stretch>
          </a:blipFill>
        </p:spPr>
        <p:txBody>
          <a:bodyPr/>
          <a:lstStyle/>
          <a:p>
            <a:endParaRPr/>
          </a:p>
        </p:txBody>
      </p:sp>
      <p:grpSp>
        <p:nvGrpSpPr>
          <p:cNvPr id="16" name="Group 16"/>
          <p:cNvGrpSpPr/>
          <p:nvPr/>
        </p:nvGrpSpPr>
        <p:grpSpPr>
          <a:xfrm>
            <a:off x="8798288" y="2000250"/>
            <a:ext cx="690418" cy="690418"/>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8" name="TextBox 18"/>
            <p:cNvSpPr txBox="1"/>
            <p:nvPr/>
          </p:nvSpPr>
          <p:spPr>
            <a:xfrm>
              <a:off x="76200" y="38100"/>
              <a:ext cx="660400" cy="698500"/>
            </a:xfrm>
            <a:prstGeom prst="rect">
              <a:avLst/>
            </a:prstGeom>
          </p:spPr>
          <p:txBody>
            <a:bodyPr lIns="50800" tIns="50800" rIns="50800" bIns="50800" rtlCol="0" anchor="ctr"/>
            <a:lstStyle/>
            <a:p>
              <a:pPr marL="0" lvl="0" indent="0" algn="ctr">
                <a:lnSpc>
                  <a:spcPts val="2519"/>
                </a:lnSpc>
                <a:spcBef>
                  <a:spcPct val="0"/>
                </a:spcBef>
              </a:pPr>
              <a:r>
                <a:rPr lang="en-US" sz="1799" b="1" dirty="0">
                  <a:solidFill>
                    <a:srgbClr val="000000"/>
                  </a:solidFill>
                  <a:latin typeface="Arial" panose="020B0604020202020204" pitchFamily="34" charset="0"/>
                  <a:ea typeface="DM Sans Bold"/>
                  <a:cs typeface="Arial" panose="020B0604020202020204" pitchFamily="34" charset="0"/>
                  <a:sym typeface="DM Sans Bold"/>
                </a:rPr>
                <a:t>VS</a:t>
              </a:r>
            </a:p>
          </p:txBody>
        </p:sp>
      </p:grpSp>
      <p:sp>
        <p:nvSpPr>
          <p:cNvPr id="19" name="Freeform 19"/>
          <p:cNvSpPr/>
          <p:nvPr/>
        </p:nvSpPr>
        <p:spPr>
          <a:xfrm rot="5400000">
            <a:off x="7966950" y="2976688"/>
            <a:ext cx="1310584" cy="1463833"/>
          </a:xfrm>
          <a:custGeom>
            <a:avLst/>
            <a:gdLst/>
            <a:ahLst/>
            <a:cxnLst/>
            <a:rect l="l" t="t" r="r" b="b"/>
            <a:pathLst>
              <a:path w="1310584" h="1463833">
                <a:moveTo>
                  <a:pt x="0" y="0"/>
                </a:moveTo>
                <a:lnTo>
                  <a:pt x="1310585" y="0"/>
                </a:lnTo>
                <a:lnTo>
                  <a:pt x="1310585" y="1463833"/>
                </a:lnTo>
                <a:lnTo>
                  <a:pt x="0" y="146383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a:p>
        </p:txBody>
      </p:sp>
      <p:sp>
        <p:nvSpPr>
          <p:cNvPr id="20" name="Freeform 20"/>
          <p:cNvSpPr/>
          <p:nvPr/>
        </p:nvSpPr>
        <p:spPr>
          <a:xfrm rot="5400000" flipV="1">
            <a:off x="9009460" y="2976688"/>
            <a:ext cx="1310584" cy="1463833"/>
          </a:xfrm>
          <a:custGeom>
            <a:avLst/>
            <a:gdLst/>
            <a:ahLst/>
            <a:cxnLst/>
            <a:rect l="l" t="t" r="r" b="b"/>
            <a:pathLst>
              <a:path w="1310584" h="1463833">
                <a:moveTo>
                  <a:pt x="0" y="1463833"/>
                </a:moveTo>
                <a:lnTo>
                  <a:pt x="1310584" y="1463833"/>
                </a:lnTo>
                <a:lnTo>
                  <a:pt x="1310584" y="0"/>
                </a:lnTo>
                <a:lnTo>
                  <a:pt x="0" y="0"/>
                </a:lnTo>
                <a:lnTo>
                  <a:pt x="0" y="1463833"/>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a:p>
        </p:txBody>
      </p:sp>
      <p:sp>
        <p:nvSpPr>
          <p:cNvPr id="21" name="Freeform 21"/>
          <p:cNvSpPr/>
          <p:nvPr/>
        </p:nvSpPr>
        <p:spPr>
          <a:xfrm>
            <a:off x="8741091" y="3306702"/>
            <a:ext cx="804812" cy="803806"/>
          </a:xfrm>
          <a:custGeom>
            <a:avLst/>
            <a:gdLst/>
            <a:ahLst/>
            <a:cxnLst/>
            <a:rect l="l" t="t" r="r" b="b"/>
            <a:pathLst>
              <a:path w="804812" h="803806">
                <a:moveTo>
                  <a:pt x="0" y="0"/>
                </a:moveTo>
                <a:lnTo>
                  <a:pt x="804812" y="0"/>
                </a:lnTo>
                <a:lnTo>
                  <a:pt x="804812" y="803806"/>
                </a:lnTo>
                <a:lnTo>
                  <a:pt x="0" y="803806"/>
                </a:lnTo>
                <a:lnTo>
                  <a:pt x="0" y="0"/>
                </a:lnTo>
                <a:close/>
              </a:path>
            </a:pathLst>
          </a:custGeom>
          <a:blipFill>
            <a:blip r:embed="rId3"/>
            <a:stretch>
              <a:fillRect/>
            </a:stretch>
          </a:blipFill>
        </p:spPr>
        <p:txBody>
          <a:bodyPr/>
          <a:lstStyle/>
          <a:p>
            <a:endParaRPr/>
          </a:p>
        </p:txBody>
      </p:sp>
      <p:grpSp>
        <p:nvGrpSpPr>
          <p:cNvPr id="22" name="Group 22"/>
          <p:cNvGrpSpPr/>
          <p:nvPr/>
        </p:nvGrpSpPr>
        <p:grpSpPr>
          <a:xfrm>
            <a:off x="8869504" y="3434727"/>
            <a:ext cx="547756" cy="547756"/>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24" name="TextBox 24"/>
            <p:cNvSpPr txBox="1"/>
            <p:nvPr/>
          </p:nvSpPr>
          <p:spPr>
            <a:xfrm>
              <a:off x="76200" y="38100"/>
              <a:ext cx="660400" cy="698500"/>
            </a:xfrm>
            <a:prstGeom prst="rect">
              <a:avLst/>
            </a:prstGeom>
          </p:spPr>
          <p:txBody>
            <a:bodyPr lIns="50800" tIns="50800" rIns="50800" bIns="50800" rtlCol="0" anchor="ctr"/>
            <a:lstStyle/>
            <a:p>
              <a:pPr marL="0" lvl="0" indent="0" algn="ctr">
                <a:lnSpc>
                  <a:spcPts val="2519"/>
                </a:lnSpc>
                <a:spcBef>
                  <a:spcPct val="0"/>
                </a:spcBef>
              </a:pPr>
              <a:r>
                <a:rPr lang="en-US" sz="1799" b="1" dirty="0">
                  <a:solidFill>
                    <a:srgbClr val="000000"/>
                  </a:solidFill>
                  <a:latin typeface="Arial" panose="020B0604020202020204" pitchFamily="34" charset="0"/>
                  <a:ea typeface="DM Sans Bold"/>
                  <a:cs typeface="Arial" panose="020B0604020202020204" pitchFamily="34" charset="0"/>
                  <a:sym typeface="DM Sans Bold"/>
                </a:rPr>
                <a:t>01</a:t>
              </a:r>
            </a:p>
          </p:txBody>
        </p:sp>
      </p:grpSp>
      <p:sp>
        <p:nvSpPr>
          <p:cNvPr id="25" name="Freeform 25"/>
          <p:cNvSpPr/>
          <p:nvPr/>
        </p:nvSpPr>
        <p:spPr>
          <a:xfrm rot="5400000">
            <a:off x="7966950" y="4474806"/>
            <a:ext cx="1310584" cy="1463833"/>
          </a:xfrm>
          <a:custGeom>
            <a:avLst/>
            <a:gdLst/>
            <a:ahLst/>
            <a:cxnLst/>
            <a:rect l="l" t="t" r="r" b="b"/>
            <a:pathLst>
              <a:path w="1310584" h="1463833">
                <a:moveTo>
                  <a:pt x="0" y="0"/>
                </a:moveTo>
                <a:lnTo>
                  <a:pt x="1310585" y="0"/>
                </a:lnTo>
                <a:lnTo>
                  <a:pt x="1310585" y="1463833"/>
                </a:lnTo>
                <a:lnTo>
                  <a:pt x="0" y="146383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a:p>
        </p:txBody>
      </p:sp>
      <p:sp>
        <p:nvSpPr>
          <p:cNvPr id="26" name="Freeform 26"/>
          <p:cNvSpPr/>
          <p:nvPr/>
        </p:nvSpPr>
        <p:spPr>
          <a:xfrm>
            <a:off x="8741091" y="4804819"/>
            <a:ext cx="804812" cy="803806"/>
          </a:xfrm>
          <a:custGeom>
            <a:avLst/>
            <a:gdLst/>
            <a:ahLst/>
            <a:cxnLst/>
            <a:rect l="l" t="t" r="r" b="b"/>
            <a:pathLst>
              <a:path w="804812" h="803806">
                <a:moveTo>
                  <a:pt x="0" y="0"/>
                </a:moveTo>
                <a:lnTo>
                  <a:pt x="804812" y="0"/>
                </a:lnTo>
                <a:lnTo>
                  <a:pt x="804812" y="803807"/>
                </a:lnTo>
                <a:lnTo>
                  <a:pt x="0" y="803807"/>
                </a:lnTo>
                <a:lnTo>
                  <a:pt x="0" y="0"/>
                </a:lnTo>
                <a:close/>
              </a:path>
            </a:pathLst>
          </a:custGeom>
          <a:blipFill>
            <a:blip r:embed="rId3"/>
            <a:stretch>
              <a:fillRect/>
            </a:stretch>
          </a:blipFill>
        </p:spPr>
        <p:txBody>
          <a:bodyPr/>
          <a:lstStyle/>
          <a:p>
            <a:endParaRPr/>
          </a:p>
        </p:txBody>
      </p:sp>
      <p:sp>
        <p:nvSpPr>
          <p:cNvPr id="27" name="Freeform 27"/>
          <p:cNvSpPr/>
          <p:nvPr/>
        </p:nvSpPr>
        <p:spPr>
          <a:xfrm rot="5400000" flipV="1">
            <a:off x="9009460" y="4474806"/>
            <a:ext cx="1310584" cy="1463833"/>
          </a:xfrm>
          <a:custGeom>
            <a:avLst/>
            <a:gdLst/>
            <a:ahLst/>
            <a:cxnLst/>
            <a:rect l="l" t="t" r="r" b="b"/>
            <a:pathLst>
              <a:path w="1310584" h="1463833">
                <a:moveTo>
                  <a:pt x="0" y="1463833"/>
                </a:moveTo>
                <a:lnTo>
                  <a:pt x="1310584" y="1463833"/>
                </a:lnTo>
                <a:lnTo>
                  <a:pt x="1310584" y="0"/>
                </a:lnTo>
                <a:lnTo>
                  <a:pt x="0" y="0"/>
                </a:lnTo>
                <a:lnTo>
                  <a:pt x="0" y="1463833"/>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a:p>
        </p:txBody>
      </p:sp>
      <p:grpSp>
        <p:nvGrpSpPr>
          <p:cNvPr id="28" name="Group 28"/>
          <p:cNvGrpSpPr/>
          <p:nvPr/>
        </p:nvGrpSpPr>
        <p:grpSpPr>
          <a:xfrm>
            <a:off x="8869504" y="4932844"/>
            <a:ext cx="547756" cy="547756"/>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30" name="TextBox 30"/>
            <p:cNvSpPr txBox="1"/>
            <p:nvPr/>
          </p:nvSpPr>
          <p:spPr>
            <a:xfrm>
              <a:off x="76200" y="38100"/>
              <a:ext cx="660400" cy="698500"/>
            </a:xfrm>
            <a:prstGeom prst="rect">
              <a:avLst/>
            </a:prstGeom>
          </p:spPr>
          <p:txBody>
            <a:bodyPr lIns="50800" tIns="50800" rIns="50800" bIns="50800" rtlCol="0" anchor="ctr"/>
            <a:lstStyle/>
            <a:p>
              <a:pPr marL="0" lvl="0" indent="0" algn="ctr">
                <a:lnSpc>
                  <a:spcPts val="2519"/>
                </a:lnSpc>
                <a:spcBef>
                  <a:spcPct val="0"/>
                </a:spcBef>
              </a:pPr>
              <a:r>
                <a:rPr lang="en-US" sz="1799" b="1" dirty="0">
                  <a:solidFill>
                    <a:srgbClr val="000000"/>
                  </a:solidFill>
                  <a:latin typeface="Arial" panose="020B0604020202020204" pitchFamily="34" charset="0"/>
                  <a:ea typeface="DM Sans Bold"/>
                  <a:cs typeface="Arial" panose="020B0604020202020204" pitchFamily="34" charset="0"/>
                  <a:sym typeface="DM Sans Bold"/>
                </a:rPr>
                <a:t>02</a:t>
              </a:r>
            </a:p>
          </p:txBody>
        </p:sp>
      </p:grpSp>
      <p:sp>
        <p:nvSpPr>
          <p:cNvPr id="31" name="Freeform 31"/>
          <p:cNvSpPr/>
          <p:nvPr/>
        </p:nvSpPr>
        <p:spPr>
          <a:xfrm rot="5400000">
            <a:off x="7966950" y="5972924"/>
            <a:ext cx="1310584" cy="1463833"/>
          </a:xfrm>
          <a:custGeom>
            <a:avLst/>
            <a:gdLst/>
            <a:ahLst/>
            <a:cxnLst/>
            <a:rect l="l" t="t" r="r" b="b"/>
            <a:pathLst>
              <a:path w="1310584" h="1463833">
                <a:moveTo>
                  <a:pt x="0" y="0"/>
                </a:moveTo>
                <a:lnTo>
                  <a:pt x="1310585" y="0"/>
                </a:lnTo>
                <a:lnTo>
                  <a:pt x="1310585" y="1463833"/>
                </a:lnTo>
                <a:lnTo>
                  <a:pt x="0" y="146383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a:p>
        </p:txBody>
      </p:sp>
      <p:sp>
        <p:nvSpPr>
          <p:cNvPr id="32" name="Freeform 32"/>
          <p:cNvSpPr/>
          <p:nvPr/>
        </p:nvSpPr>
        <p:spPr>
          <a:xfrm>
            <a:off x="8741091" y="6305490"/>
            <a:ext cx="804812" cy="803806"/>
          </a:xfrm>
          <a:custGeom>
            <a:avLst/>
            <a:gdLst/>
            <a:ahLst/>
            <a:cxnLst/>
            <a:rect l="l" t="t" r="r" b="b"/>
            <a:pathLst>
              <a:path w="804812" h="803806">
                <a:moveTo>
                  <a:pt x="0" y="0"/>
                </a:moveTo>
                <a:lnTo>
                  <a:pt x="804812" y="0"/>
                </a:lnTo>
                <a:lnTo>
                  <a:pt x="804812" y="803806"/>
                </a:lnTo>
                <a:lnTo>
                  <a:pt x="0" y="803806"/>
                </a:lnTo>
                <a:lnTo>
                  <a:pt x="0" y="0"/>
                </a:lnTo>
                <a:close/>
              </a:path>
            </a:pathLst>
          </a:custGeom>
          <a:blipFill>
            <a:blip r:embed="rId3"/>
            <a:stretch>
              <a:fillRect/>
            </a:stretch>
          </a:blipFill>
        </p:spPr>
        <p:txBody>
          <a:bodyPr/>
          <a:lstStyle/>
          <a:p>
            <a:endParaRPr/>
          </a:p>
        </p:txBody>
      </p:sp>
      <p:sp>
        <p:nvSpPr>
          <p:cNvPr id="33" name="Freeform 33"/>
          <p:cNvSpPr/>
          <p:nvPr/>
        </p:nvSpPr>
        <p:spPr>
          <a:xfrm rot="5400000" flipV="1">
            <a:off x="9009460" y="5972924"/>
            <a:ext cx="1310584" cy="1463833"/>
          </a:xfrm>
          <a:custGeom>
            <a:avLst/>
            <a:gdLst/>
            <a:ahLst/>
            <a:cxnLst/>
            <a:rect l="l" t="t" r="r" b="b"/>
            <a:pathLst>
              <a:path w="1310584" h="1463833">
                <a:moveTo>
                  <a:pt x="0" y="1463833"/>
                </a:moveTo>
                <a:lnTo>
                  <a:pt x="1310584" y="1463833"/>
                </a:lnTo>
                <a:lnTo>
                  <a:pt x="1310584" y="0"/>
                </a:lnTo>
                <a:lnTo>
                  <a:pt x="0" y="0"/>
                </a:lnTo>
                <a:lnTo>
                  <a:pt x="0" y="1463833"/>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a:p>
        </p:txBody>
      </p:sp>
      <p:grpSp>
        <p:nvGrpSpPr>
          <p:cNvPr id="34" name="Group 34"/>
          <p:cNvGrpSpPr/>
          <p:nvPr/>
        </p:nvGrpSpPr>
        <p:grpSpPr>
          <a:xfrm>
            <a:off x="8869504" y="6433515"/>
            <a:ext cx="547756" cy="547756"/>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36" name="TextBox 36"/>
            <p:cNvSpPr txBox="1"/>
            <p:nvPr/>
          </p:nvSpPr>
          <p:spPr>
            <a:xfrm>
              <a:off x="76200" y="38100"/>
              <a:ext cx="660400" cy="698500"/>
            </a:xfrm>
            <a:prstGeom prst="rect">
              <a:avLst/>
            </a:prstGeom>
          </p:spPr>
          <p:txBody>
            <a:bodyPr lIns="50800" tIns="50800" rIns="50800" bIns="50800" rtlCol="0" anchor="ctr"/>
            <a:lstStyle/>
            <a:p>
              <a:pPr marL="0" lvl="0" indent="0" algn="ctr">
                <a:lnSpc>
                  <a:spcPts val="2519"/>
                </a:lnSpc>
                <a:spcBef>
                  <a:spcPct val="0"/>
                </a:spcBef>
              </a:pPr>
              <a:r>
                <a:rPr lang="en-US" sz="1799" b="1" dirty="0">
                  <a:solidFill>
                    <a:srgbClr val="000000"/>
                  </a:solidFill>
                  <a:latin typeface="Arial" panose="020B0604020202020204" pitchFamily="34" charset="0"/>
                  <a:ea typeface="DM Sans Bold"/>
                  <a:cs typeface="Arial" panose="020B0604020202020204" pitchFamily="34" charset="0"/>
                  <a:sym typeface="DM Sans Bold"/>
                </a:rPr>
                <a:t>03</a:t>
              </a:r>
            </a:p>
          </p:txBody>
        </p:sp>
      </p:grpSp>
      <p:sp>
        <p:nvSpPr>
          <p:cNvPr id="37" name="Freeform 37"/>
          <p:cNvSpPr/>
          <p:nvPr/>
        </p:nvSpPr>
        <p:spPr>
          <a:xfrm rot="5400000">
            <a:off x="7966950" y="7471041"/>
            <a:ext cx="1310584" cy="1463833"/>
          </a:xfrm>
          <a:custGeom>
            <a:avLst/>
            <a:gdLst/>
            <a:ahLst/>
            <a:cxnLst/>
            <a:rect l="l" t="t" r="r" b="b"/>
            <a:pathLst>
              <a:path w="1310584" h="1463833">
                <a:moveTo>
                  <a:pt x="0" y="0"/>
                </a:moveTo>
                <a:lnTo>
                  <a:pt x="1310585" y="0"/>
                </a:lnTo>
                <a:lnTo>
                  <a:pt x="1310585" y="1463833"/>
                </a:lnTo>
                <a:lnTo>
                  <a:pt x="0" y="146383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a:p>
        </p:txBody>
      </p:sp>
      <p:sp>
        <p:nvSpPr>
          <p:cNvPr id="38" name="Freeform 38"/>
          <p:cNvSpPr/>
          <p:nvPr/>
        </p:nvSpPr>
        <p:spPr>
          <a:xfrm rot="5400000" flipV="1">
            <a:off x="9009460" y="7471041"/>
            <a:ext cx="1310584" cy="1463833"/>
          </a:xfrm>
          <a:custGeom>
            <a:avLst/>
            <a:gdLst/>
            <a:ahLst/>
            <a:cxnLst/>
            <a:rect l="l" t="t" r="r" b="b"/>
            <a:pathLst>
              <a:path w="1310584" h="1463833">
                <a:moveTo>
                  <a:pt x="0" y="1463833"/>
                </a:moveTo>
                <a:lnTo>
                  <a:pt x="1310584" y="1463833"/>
                </a:lnTo>
                <a:lnTo>
                  <a:pt x="1310584" y="0"/>
                </a:lnTo>
                <a:lnTo>
                  <a:pt x="0" y="0"/>
                </a:lnTo>
                <a:lnTo>
                  <a:pt x="0" y="1463833"/>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a:p>
        </p:txBody>
      </p:sp>
      <p:sp>
        <p:nvSpPr>
          <p:cNvPr id="39" name="Freeform 39"/>
          <p:cNvSpPr/>
          <p:nvPr/>
        </p:nvSpPr>
        <p:spPr>
          <a:xfrm>
            <a:off x="8741091" y="7806160"/>
            <a:ext cx="804812" cy="803806"/>
          </a:xfrm>
          <a:custGeom>
            <a:avLst/>
            <a:gdLst/>
            <a:ahLst/>
            <a:cxnLst/>
            <a:rect l="l" t="t" r="r" b="b"/>
            <a:pathLst>
              <a:path w="804812" h="803806">
                <a:moveTo>
                  <a:pt x="0" y="0"/>
                </a:moveTo>
                <a:lnTo>
                  <a:pt x="804812" y="0"/>
                </a:lnTo>
                <a:lnTo>
                  <a:pt x="804812" y="803806"/>
                </a:lnTo>
                <a:lnTo>
                  <a:pt x="0" y="803806"/>
                </a:lnTo>
                <a:lnTo>
                  <a:pt x="0" y="0"/>
                </a:lnTo>
                <a:close/>
              </a:path>
            </a:pathLst>
          </a:custGeom>
          <a:blipFill>
            <a:blip r:embed="rId3"/>
            <a:stretch>
              <a:fillRect/>
            </a:stretch>
          </a:blipFill>
        </p:spPr>
        <p:txBody>
          <a:bodyPr/>
          <a:lstStyle/>
          <a:p>
            <a:endParaRPr/>
          </a:p>
        </p:txBody>
      </p:sp>
      <p:grpSp>
        <p:nvGrpSpPr>
          <p:cNvPr id="40" name="Group 40"/>
          <p:cNvGrpSpPr/>
          <p:nvPr/>
        </p:nvGrpSpPr>
        <p:grpSpPr>
          <a:xfrm>
            <a:off x="8869504" y="7929080"/>
            <a:ext cx="547756" cy="547756"/>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42" name="TextBox 42"/>
            <p:cNvSpPr txBox="1"/>
            <p:nvPr/>
          </p:nvSpPr>
          <p:spPr>
            <a:xfrm>
              <a:off x="76200" y="38100"/>
              <a:ext cx="660400" cy="698500"/>
            </a:xfrm>
            <a:prstGeom prst="rect">
              <a:avLst/>
            </a:prstGeom>
          </p:spPr>
          <p:txBody>
            <a:bodyPr lIns="50800" tIns="50800" rIns="50800" bIns="50800" rtlCol="0" anchor="ctr"/>
            <a:lstStyle/>
            <a:p>
              <a:pPr marL="0" lvl="0" indent="0" algn="ctr">
                <a:lnSpc>
                  <a:spcPts val="2519"/>
                </a:lnSpc>
                <a:spcBef>
                  <a:spcPct val="0"/>
                </a:spcBef>
              </a:pPr>
              <a:r>
                <a:rPr lang="en-US" sz="1799" b="1" dirty="0">
                  <a:solidFill>
                    <a:srgbClr val="000000"/>
                  </a:solidFill>
                  <a:latin typeface="Arial" panose="020B0604020202020204" pitchFamily="34" charset="0"/>
                  <a:ea typeface="DM Sans Bold"/>
                  <a:cs typeface="Arial" panose="020B0604020202020204" pitchFamily="34" charset="0"/>
                  <a:sym typeface="DM Sans Bold"/>
                </a:rPr>
                <a:t>04</a:t>
              </a:r>
            </a:p>
          </p:txBody>
        </p:sp>
      </p:grpSp>
      <p:sp>
        <p:nvSpPr>
          <p:cNvPr id="43" name="TextBox 43"/>
          <p:cNvSpPr txBox="1"/>
          <p:nvPr/>
        </p:nvSpPr>
        <p:spPr>
          <a:xfrm>
            <a:off x="2315682" y="3501912"/>
            <a:ext cx="4774544" cy="340221"/>
          </a:xfrm>
          <a:prstGeom prst="rect">
            <a:avLst/>
          </a:prstGeom>
        </p:spPr>
        <p:txBody>
          <a:bodyPr lIns="0" tIns="0" rIns="0" bIns="0" rtlCol="0" anchor="t">
            <a:spAutoFit/>
          </a:bodyPr>
          <a:lstStyle/>
          <a:p>
            <a:pPr marL="0" lvl="0" indent="0" algn="r">
              <a:lnSpc>
                <a:spcPts val="2940"/>
              </a:lnSpc>
              <a:spcBef>
                <a:spcPct val="0"/>
              </a:spcBef>
            </a:pPr>
            <a:r>
              <a:rPr lang="ar-EG" sz="2100" b="1" dirty="0">
                <a:solidFill>
                  <a:srgbClr val="000000"/>
                </a:solidFill>
                <a:latin typeface="Arial" panose="020B0604020202020204" pitchFamily="34" charset="0"/>
                <a:ea typeface="DM Sans Bold"/>
                <a:cs typeface="Arial" panose="020B0604020202020204" pitchFamily="34" charset="0"/>
                <a:sym typeface="DM Sans Bold"/>
                <a:rtl/>
              </a:rPr>
              <a:t>خدمات موزعة ومنفصلة</a:t>
            </a:r>
          </a:p>
        </p:txBody>
      </p:sp>
      <p:sp>
        <p:nvSpPr>
          <p:cNvPr id="44" name="TextBox 44"/>
          <p:cNvSpPr txBox="1"/>
          <p:nvPr/>
        </p:nvSpPr>
        <p:spPr>
          <a:xfrm>
            <a:off x="10250753" y="3481938"/>
            <a:ext cx="4774544" cy="371897"/>
          </a:xfrm>
          <a:prstGeom prst="rect">
            <a:avLst/>
          </a:prstGeom>
        </p:spPr>
        <p:txBody>
          <a:bodyPr lIns="0" tIns="0" rIns="0" bIns="0" rtlCol="0" anchor="t">
            <a:spAutoFit/>
          </a:bodyPr>
          <a:lstStyle/>
          <a:p>
            <a:pPr marL="0" lvl="0" indent="0" algn="r" rtl="1">
              <a:lnSpc>
                <a:spcPts val="2940"/>
              </a:lnSpc>
              <a:spcBef>
                <a:spcPct val="0"/>
              </a:spcBef>
            </a:pPr>
            <a:r>
              <a:rPr lang="ar-EG" sz="2100" b="1" dirty="0">
                <a:solidFill>
                  <a:srgbClr val="000000"/>
                </a:solidFill>
                <a:latin typeface="Arial" panose="020B0604020202020204" pitchFamily="34" charset="0"/>
                <a:ea typeface="DM Sans Bold"/>
                <a:cs typeface="Arial" panose="020B0604020202020204" pitchFamily="34" charset="0"/>
                <a:sym typeface="DM Sans Bold"/>
                <a:rtl/>
              </a:rPr>
              <a:t>خدمات ضمن رحلة موحدة</a:t>
            </a:r>
          </a:p>
        </p:txBody>
      </p:sp>
      <p:sp>
        <p:nvSpPr>
          <p:cNvPr id="45" name="TextBox 45"/>
          <p:cNvSpPr txBox="1"/>
          <p:nvPr/>
        </p:nvSpPr>
        <p:spPr>
          <a:xfrm>
            <a:off x="2315682" y="5000030"/>
            <a:ext cx="4774544" cy="371897"/>
          </a:xfrm>
          <a:prstGeom prst="rect">
            <a:avLst/>
          </a:prstGeom>
        </p:spPr>
        <p:txBody>
          <a:bodyPr lIns="0" tIns="0" rIns="0" bIns="0" rtlCol="0" anchor="t">
            <a:spAutoFit/>
          </a:bodyPr>
          <a:lstStyle/>
          <a:p>
            <a:pPr marL="0" lvl="0" indent="0" algn="r">
              <a:lnSpc>
                <a:spcPts val="2940"/>
              </a:lnSpc>
              <a:spcBef>
                <a:spcPct val="0"/>
              </a:spcBef>
            </a:pPr>
            <a:r>
              <a:rPr lang="ar-EG" sz="2100" b="1" dirty="0">
                <a:solidFill>
                  <a:srgbClr val="000000"/>
                </a:solidFill>
                <a:latin typeface="Arial" panose="020B0604020202020204" pitchFamily="34" charset="0"/>
                <a:ea typeface="DM Sans Bold"/>
                <a:cs typeface="Arial" panose="020B0604020202020204" pitchFamily="34" charset="0"/>
                <a:sym typeface="DM Sans Bold"/>
                <a:rtl/>
              </a:rPr>
              <a:t>متابعة يدوية</a:t>
            </a:r>
          </a:p>
        </p:txBody>
      </p:sp>
      <p:sp>
        <p:nvSpPr>
          <p:cNvPr id="46" name="TextBox 46"/>
          <p:cNvSpPr txBox="1"/>
          <p:nvPr/>
        </p:nvSpPr>
        <p:spPr>
          <a:xfrm>
            <a:off x="10250753" y="4997988"/>
            <a:ext cx="4774544" cy="371897"/>
          </a:xfrm>
          <a:prstGeom prst="rect">
            <a:avLst/>
          </a:prstGeom>
        </p:spPr>
        <p:txBody>
          <a:bodyPr lIns="0" tIns="0" rIns="0" bIns="0" rtlCol="0" anchor="t">
            <a:spAutoFit/>
          </a:bodyPr>
          <a:lstStyle/>
          <a:p>
            <a:pPr marL="0" lvl="0" indent="0" algn="r" rtl="1">
              <a:lnSpc>
                <a:spcPts val="2940"/>
              </a:lnSpc>
              <a:spcBef>
                <a:spcPct val="0"/>
              </a:spcBef>
            </a:pPr>
            <a:r>
              <a:rPr lang="ar-EG" sz="2100" b="1" dirty="0">
                <a:solidFill>
                  <a:srgbClr val="000000"/>
                </a:solidFill>
                <a:latin typeface="Arial" panose="020B0604020202020204" pitchFamily="34" charset="0"/>
                <a:ea typeface="DM Sans Bold"/>
                <a:cs typeface="Arial" panose="020B0604020202020204" pitchFamily="34" charset="0"/>
                <a:sym typeface="DM Sans Bold"/>
                <a:rtl/>
              </a:rPr>
              <a:t>متابعة واضحة داخل النظام</a:t>
            </a:r>
          </a:p>
        </p:txBody>
      </p:sp>
      <p:sp>
        <p:nvSpPr>
          <p:cNvPr id="47" name="TextBox 47"/>
          <p:cNvSpPr txBox="1"/>
          <p:nvPr/>
        </p:nvSpPr>
        <p:spPr>
          <a:xfrm>
            <a:off x="2315682" y="6498148"/>
            <a:ext cx="4774544" cy="371897"/>
          </a:xfrm>
          <a:prstGeom prst="rect">
            <a:avLst/>
          </a:prstGeom>
        </p:spPr>
        <p:txBody>
          <a:bodyPr lIns="0" tIns="0" rIns="0" bIns="0" rtlCol="0" anchor="t">
            <a:spAutoFit/>
          </a:bodyPr>
          <a:lstStyle/>
          <a:p>
            <a:pPr marL="0" lvl="0" indent="0" algn="r">
              <a:lnSpc>
                <a:spcPts val="2940"/>
              </a:lnSpc>
              <a:spcBef>
                <a:spcPct val="0"/>
              </a:spcBef>
            </a:pPr>
            <a:r>
              <a:rPr lang="ar-EG" sz="2100" b="1" dirty="0">
                <a:solidFill>
                  <a:srgbClr val="000000"/>
                </a:solidFill>
                <a:latin typeface="Arial" panose="020B0604020202020204" pitchFamily="34" charset="0"/>
                <a:ea typeface="DM Sans Bold"/>
                <a:cs typeface="Arial" panose="020B0604020202020204" pitchFamily="34" charset="0"/>
                <a:sym typeface="DM Sans Bold"/>
                <a:rtl/>
              </a:rPr>
              <a:t>صعوبة معرفة حالة الطلب</a:t>
            </a:r>
          </a:p>
        </p:txBody>
      </p:sp>
      <p:sp>
        <p:nvSpPr>
          <p:cNvPr id="48" name="TextBox 48"/>
          <p:cNvSpPr txBox="1"/>
          <p:nvPr/>
        </p:nvSpPr>
        <p:spPr>
          <a:xfrm>
            <a:off x="10250753" y="6498148"/>
            <a:ext cx="4774544" cy="371897"/>
          </a:xfrm>
          <a:prstGeom prst="rect">
            <a:avLst/>
          </a:prstGeom>
        </p:spPr>
        <p:txBody>
          <a:bodyPr lIns="0" tIns="0" rIns="0" bIns="0" rtlCol="0" anchor="t">
            <a:spAutoFit/>
          </a:bodyPr>
          <a:lstStyle/>
          <a:p>
            <a:pPr marL="0" lvl="0" indent="0" algn="r" rtl="1">
              <a:lnSpc>
                <a:spcPts val="2940"/>
              </a:lnSpc>
              <a:spcBef>
                <a:spcPct val="0"/>
              </a:spcBef>
            </a:pPr>
            <a:r>
              <a:rPr lang="ar-EG" sz="2100" b="1" dirty="0">
                <a:solidFill>
                  <a:srgbClr val="000000"/>
                </a:solidFill>
                <a:latin typeface="Arial" panose="020B0604020202020204" pitchFamily="34" charset="0"/>
                <a:ea typeface="DM Sans Bold"/>
                <a:cs typeface="Arial" panose="020B0604020202020204" pitchFamily="34" charset="0"/>
                <a:sym typeface="DM Sans Bold"/>
                <a:rtl/>
              </a:rPr>
              <a:t>معرفة المرحلة والخدمة المتأثرة</a:t>
            </a:r>
          </a:p>
        </p:txBody>
      </p:sp>
      <p:sp>
        <p:nvSpPr>
          <p:cNvPr id="49" name="TextBox 49"/>
          <p:cNvSpPr txBox="1"/>
          <p:nvPr/>
        </p:nvSpPr>
        <p:spPr>
          <a:xfrm>
            <a:off x="2315682" y="7996265"/>
            <a:ext cx="4774544" cy="371897"/>
          </a:xfrm>
          <a:prstGeom prst="rect">
            <a:avLst/>
          </a:prstGeom>
        </p:spPr>
        <p:txBody>
          <a:bodyPr lIns="0" tIns="0" rIns="0" bIns="0" rtlCol="0" anchor="t">
            <a:spAutoFit/>
          </a:bodyPr>
          <a:lstStyle/>
          <a:p>
            <a:pPr marL="0" lvl="0" indent="0" algn="r">
              <a:lnSpc>
                <a:spcPts val="2940"/>
              </a:lnSpc>
              <a:spcBef>
                <a:spcPct val="0"/>
              </a:spcBef>
            </a:pPr>
            <a:r>
              <a:rPr lang="ar-EG" sz="2100" b="1" dirty="0">
                <a:solidFill>
                  <a:srgbClr val="000000"/>
                </a:solidFill>
                <a:latin typeface="Arial" panose="020B0604020202020204" pitchFamily="34" charset="0"/>
                <a:ea typeface="DM Sans Bold"/>
                <a:cs typeface="Arial" panose="020B0604020202020204" pitchFamily="34" charset="0"/>
                <a:sym typeface="DM Sans Bold"/>
                <a:rtl/>
              </a:rPr>
              <a:t>صعوبة المحاسبة والمتابعة</a:t>
            </a:r>
          </a:p>
        </p:txBody>
      </p:sp>
      <p:sp>
        <p:nvSpPr>
          <p:cNvPr id="50" name="TextBox 50"/>
          <p:cNvSpPr txBox="1"/>
          <p:nvPr/>
        </p:nvSpPr>
        <p:spPr>
          <a:xfrm>
            <a:off x="10250753" y="7996265"/>
            <a:ext cx="4774544" cy="371897"/>
          </a:xfrm>
          <a:prstGeom prst="rect">
            <a:avLst/>
          </a:prstGeom>
        </p:spPr>
        <p:txBody>
          <a:bodyPr lIns="0" tIns="0" rIns="0" bIns="0" rtlCol="0" anchor="t">
            <a:spAutoFit/>
          </a:bodyPr>
          <a:lstStyle/>
          <a:p>
            <a:pPr marL="0" lvl="0" indent="0" algn="r" rtl="1">
              <a:lnSpc>
                <a:spcPts val="2940"/>
              </a:lnSpc>
              <a:spcBef>
                <a:spcPct val="0"/>
              </a:spcBef>
            </a:pPr>
            <a:r>
              <a:rPr lang="ar-EG" sz="2100" b="1" dirty="0">
                <a:solidFill>
                  <a:srgbClr val="000000"/>
                </a:solidFill>
                <a:latin typeface="Arial" panose="020B0604020202020204" pitchFamily="34" charset="0"/>
                <a:ea typeface="DM Sans Bold"/>
                <a:cs typeface="Arial" panose="020B0604020202020204" pitchFamily="34" charset="0"/>
                <a:sym typeface="DM Sans Bold"/>
                <a:rtl/>
              </a:rPr>
              <a:t>وضوح أكبر في المسؤوليات والمتابعة</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404165" y="1588132"/>
            <a:ext cx="4930585" cy="564776"/>
          </a:xfrm>
          <a:custGeom>
            <a:avLst/>
            <a:gdLst/>
            <a:ahLst/>
            <a:cxnLst/>
            <a:rect l="l" t="t" r="r" b="b"/>
            <a:pathLst>
              <a:path w="4930585" h="564776">
                <a:moveTo>
                  <a:pt x="0" y="0"/>
                </a:moveTo>
                <a:lnTo>
                  <a:pt x="4930585" y="0"/>
                </a:lnTo>
                <a:lnTo>
                  <a:pt x="4930585" y="564777"/>
                </a:lnTo>
                <a:lnTo>
                  <a:pt x="0" y="564777"/>
                </a:lnTo>
                <a:lnTo>
                  <a:pt x="0" y="0"/>
                </a:lnTo>
                <a:close/>
              </a:path>
            </a:pathLst>
          </a:custGeom>
          <a:blipFill>
            <a:blip r:embed="rId2">
              <a:alphaModFix amt="54000"/>
            </a:blip>
            <a:stretch>
              <a:fillRect/>
            </a:stretch>
          </a:blipFill>
        </p:spPr>
        <p:txBody>
          <a:bodyPr/>
          <a:lstStyle/>
          <a:p>
            <a:endParaRPr/>
          </a:p>
        </p:txBody>
      </p:sp>
      <p:sp>
        <p:nvSpPr>
          <p:cNvPr id="3" name="Freeform 3"/>
          <p:cNvSpPr/>
          <p:nvPr/>
        </p:nvSpPr>
        <p:spPr>
          <a:xfrm>
            <a:off x="6404165" y="3092183"/>
            <a:ext cx="4930585" cy="564776"/>
          </a:xfrm>
          <a:custGeom>
            <a:avLst/>
            <a:gdLst/>
            <a:ahLst/>
            <a:cxnLst/>
            <a:rect l="l" t="t" r="r" b="b"/>
            <a:pathLst>
              <a:path w="4930585" h="564776">
                <a:moveTo>
                  <a:pt x="0" y="0"/>
                </a:moveTo>
                <a:lnTo>
                  <a:pt x="4930585" y="0"/>
                </a:lnTo>
                <a:lnTo>
                  <a:pt x="4930585" y="564776"/>
                </a:lnTo>
                <a:lnTo>
                  <a:pt x="0" y="564776"/>
                </a:lnTo>
                <a:lnTo>
                  <a:pt x="0" y="0"/>
                </a:lnTo>
                <a:close/>
              </a:path>
            </a:pathLst>
          </a:custGeom>
          <a:blipFill>
            <a:blip r:embed="rId2">
              <a:alphaModFix amt="54000"/>
            </a:blip>
            <a:stretch>
              <a:fillRect/>
            </a:stretch>
          </a:blipFill>
        </p:spPr>
        <p:txBody>
          <a:bodyPr/>
          <a:lstStyle/>
          <a:p>
            <a:endParaRPr/>
          </a:p>
        </p:txBody>
      </p:sp>
      <p:sp>
        <p:nvSpPr>
          <p:cNvPr id="4" name="Freeform 4"/>
          <p:cNvSpPr/>
          <p:nvPr/>
        </p:nvSpPr>
        <p:spPr>
          <a:xfrm>
            <a:off x="6404165" y="4593078"/>
            <a:ext cx="4930585" cy="564776"/>
          </a:xfrm>
          <a:custGeom>
            <a:avLst/>
            <a:gdLst/>
            <a:ahLst/>
            <a:cxnLst/>
            <a:rect l="l" t="t" r="r" b="b"/>
            <a:pathLst>
              <a:path w="4930585" h="564776">
                <a:moveTo>
                  <a:pt x="0" y="0"/>
                </a:moveTo>
                <a:lnTo>
                  <a:pt x="4930585" y="0"/>
                </a:lnTo>
                <a:lnTo>
                  <a:pt x="4930585" y="564776"/>
                </a:lnTo>
                <a:lnTo>
                  <a:pt x="0" y="564776"/>
                </a:lnTo>
                <a:lnTo>
                  <a:pt x="0" y="0"/>
                </a:lnTo>
                <a:close/>
              </a:path>
            </a:pathLst>
          </a:custGeom>
          <a:blipFill>
            <a:blip r:embed="rId2">
              <a:alphaModFix amt="54000"/>
            </a:blip>
            <a:stretch>
              <a:fillRect/>
            </a:stretch>
          </a:blipFill>
        </p:spPr>
        <p:txBody>
          <a:bodyPr/>
          <a:lstStyle/>
          <a:p>
            <a:endParaRPr/>
          </a:p>
        </p:txBody>
      </p:sp>
      <p:sp>
        <p:nvSpPr>
          <p:cNvPr id="5" name="Freeform 5"/>
          <p:cNvSpPr/>
          <p:nvPr/>
        </p:nvSpPr>
        <p:spPr>
          <a:xfrm>
            <a:off x="6404165" y="6096000"/>
            <a:ext cx="4930585" cy="564776"/>
          </a:xfrm>
          <a:custGeom>
            <a:avLst/>
            <a:gdLst/>
            <a:ahLst/>
            <a:cxnLst/>
            <a:rect l="l" t="t" r="r" b="b"/>
            <a:pathLst>
              <a:path w="4930585" h="564776">
                <a:moveTo>
                  <a:pt x="0" y="0"/>
                </a:moveTo>
                <a:lnTo>
                  <a:pt x="4930585" y="0"/>
                </a:lnTo>
                <a:lnTo>
                  <a:pt x="4930585" y="564776"/>
                </a:lnTo>
                <a:lnTo>
                  <a:pt x="0" y="564776"/>
                </a:lnTo>
                <a:lnTo>
                  <a:pt x="0" y="0"/>
                </a:lnTo>
                <a:close/>
              </a:path>
            </a:pathLst>
          </a:custGeom>
          <a:blipFill>
            <a:blip r:embed="rId2">
              <a:alphaModFix amt="54000"/>
            </a:blip>
            <a:stretch>
              <a:fillRect/>
            </a:stretch>
          </a:blipFill>
        </p:spPr>
        <p:txBody>
          <a:bodyPr/>
          <a:lstStyle/>
          <a:p>
            <a:endParaRPr/>
          </a:p>
        </p:txBody>
      </p:sp>
      <p:sp>
        <p:nvSpPr>
          <p:cNvPr id="6" name="Freeform 6"/>
          <p:cNvSpPr/>
          <p:nvPr/>
        </p:nvSpPr>
        <p:spPr>
          <a:xfrm>
            <a:off x="6404165" y="7650747"/>
            <a:ext cx="4930585" cy="564776"/>
          </a:xfrm>
          <a:custGeom>
            <a:avLst/>
            <a:gdLst/>
            <a:ahLst/>
            <a:cxnLst/>
            <a:rect l="l" t="t" r="r" b="b"/>
            <a:pathLst>
              <a:path w="4930585" h="564776">
                <a:moveTo>
                  <a:pt x="0" y="0"/>
                </a:moveTo>
                <a:lnTo>
                  <a:pt x="4930585" y="0"/>
                </a:lnTo>
                <a:lnTo>
                  <a:pt x="4930585" y="564776"/>
                </a:lnTo>
                <a:lnTo>
                  <a:pt x="0" y="564776"/>
                </a:lnTo>
                <a:lnTo>
                  <a:pt x="0" y="0"/>
                </a:lnTo>
                <a:close/>
              </a:path>
            </a:pathLst>
          </a:custGeom>
          <a:blipFill>
            <a:blip r:embed="rId2">
              <a:alphaModFix amt="54000"/>
            </a:blip>
            <a:stretch>
              <a:fillRect/>
            </a:stretch>
          </a:blipFill>
        </p:spPr>
        <p:txBody>
          <a:bodyPr/>
          <a:lstStyle/>
          <a:p>
            <a:endParaRPr/>
          </a:p>
        </p:txBody>
      </p:sp>
      <p:sp>
        <p:nvSpPr>
          <p:cNvPr id="7" name="Freeform 7"/>
          <p:cNvSpPr/>
          <p:nvPr/>
        </p:nvSpPr>
        <p:spPr>
          <a:xfrm>
            <a:off x="6404165" y="9098861"/>
            <a:ext cx="4930585" cy="564776"/>
          </a:xfrm>
          <a:custGeom>
            <a:avLst/>
            <a:gdLst/>
            <a:ahLst/>
            <a:cxnLst/>
            <a:rect l="l" t="t" r="r" b="b"/>
            <a:pathLst>
              <a:path w="4930585" h="564776">
                <a:moveTo>
                  <a:pt x="0" y="0"/>
                </a:moveTo>
                <a:lnTo>
                  <a:pt x="4930585" y="0"/>
                </a:lnTo>
                <a:lnTo>
                  <a:pt x="4930585" y="564776"/>
                </a:lnTo>
                <a:lnTo>
                  <a:pt x="0" y="564776"/>
                </a:lnTo>
                <a:lnTo>
                  <a:pt x="0" y="0"/>
                </a:lnTo>
                <a:close/>
              </a:path>
            </a:pathLst>
          </a:custGeom>
          <a:blipFill>
            <a:blip r:embed="rId2">
              <a:alphaModFix amt="54000"/>
            </a:blip>
            <a:stretch>
              <a:fillRect/>
            </a:stretch>
          </a:blipFill>
        </p:spPr>
        <p:txBody>
          <a:bodyPr/>
          <a:lstStyle/>
          <a:p>
            <a:endParaRPr/>
          </a:p>
        </p:txBody>
      </p:sp>
      <p:grpSp>
        <p:nvGrpSpPr>
          <p:cNvPr id="8" name="Group 8"/>
          <p:cNvGrpSpPr/>
          <p:nvPr/>
        </p:nvGrpSpPr>
        <p:grpSpPr>
          <a:xfrm>
            <a:off x="6404165" y="809228"/>
            <a:ext cx="4930585" cy="1164072"/>
            <a:chOff x="0" y="0"/>
            <a:chExt cx="1298590" cy="306587"/>
          </a:xfrm>
        </p:grpSpPr>
        <p:sp>
          <p:nvSpPr>
            <p:cNvPr id="9" name="Freeform 9"/>
            <p:cNvSpPr/>
            <p:nvPr/>
          </p:nvSpPr>
          <p:spPr>
            <a:xfrm>
              <a:off x="0" y="0"/>
              <a:ext cx="1298590" cy="306587"/>
            </a:xfrm>
            <a:custGeom>
              <a:avLst/>
              <a:gdLst/>
              <a:ahLst/>
              <a:cxnLst/>
              <a:rect l="l" t="t" r="r" b="b"/>
              <a:pathLst>
                <a:path w="1298590" h="306587">
                  <a:moveTo>
                    <a:pt x="29833" y="0"/>
                  </a:moveTo>
                  <a:lnTo>
                    <a:pt x="1268757" y="0"/>
                  </a:lnTo>
                  <a:cubicBezTo>
                    <a:pt x="1285233" y="0"/>
                    <a:pt x="1298590" y="13357"/>
                    <a:pt x="1298590" y="29833"/>
                  </a:cubicBezTo>
                  <a:lnTo>
                    <a:pt x="1298590" y="276753"/>
                  </a:lnTo>
                  <a:cubicBezTo>
                    <a:pt x="1298590" y="284666"/>
                    <a:pt x="1295447" y="292254"/>
                    <a:pt x="1289852" y="297849"/>
                  </a:cubicBezTo>
                  <a:cubicBezTo>
                    <a:pt x="1284258" y="303444"/>
                    <a:pt x="1276669" y="306587"/>
                    <a:pt x="1268757" y="306587"/>
                  </a:cubicBezTo>
                  <a:lnTo>
                    <a:pt x="29833" y="306587"/>
                  </a:lnTo>
                  <a:cubicBezTo>
                    <a:pt x="21921" y="306587"/>
                    <a:pt x="14333" y="303444"/>
                    <a:pt x="8738" y="297849"/>
                  </a:cubicBezTo>
                  <a:cubicBezTo>
                    <a:pt x="3143" y="292254"/>
                    <a:pt x="0" y="284666"/>
                    <a:pt x="0" y="276753"/>
                  </a:cubicBezTo>
                  <a:lnTo>
                    <a:pt x="0" y="29833"/>
                  </a:lnTo>
                  <a:cubicBezTo>
                    <a:pt x="0" y="21921"/>
                    <a:pt x="3143" y="14333"/>
                    <a:pt x="8738" y="8738"/>
                  </a:cubicBezTo>
                  <a:cubicBezTo>
                    <a:pt x="14333" y="3143"/>
                    <a:pt x="21921" y="0"/>
                    <a:pt x="29833" y="0"/>
                  </a:cubicBezTo>
                  <a:close/>
                </a:path>
              </a:pathLst>
            </a:custGeom>
            <a:solidFill>
              <a:srgbClr val="FFFFFF"/>
            </a:solidFill>
          </p:spPr>
        </p:sp>
        <p:sp>
          <p:nvSpPr>
            <p:cNvPr id="10" name="TextBox 10"/>
            <p:cNvSpPr txBox="1"/>
            <p:nvPr/>
          </p:nvSpPr>
          <p:spPr>
            <a:xfrm>
              <a:off x="0" y="-38100"/>
              <a:ext cx="1298590" cy="344687"/>
            </a:xfrm>
            <a:prstGeom prst="rect">
              <a:avLst/>
            </a:prstGeom>
          </p:spPr>
          <p:txBody>
            <a:bodyPr lIns="50800" tIns="50800" rIns="50800" bIns="50800" rtlCol="0" anchor="ctr"/>
            <a:lstStyle/>
            <a:p>
              <a:pPr algn="ctr">
                <a:lnSpc>
                  <a:spcPts val="2520"/>
                </a:lnSpc>
              </a:pPr>
              <a:endParaRPr/>
            </a:p>
          </p:txBody>
        </p:sp>
      </p:grpSp>
      <p:sp>
        <p:nvSpPr>
          <p:cNvPr id="11" name="Freeform 11"/>
          <p:cNvSpPr/>
          <p:nvPr/>
        </p:nvSpPr>
        <p:spPr>
          <a:xfrm>
            <a:off x="1403879" y="1588132"/>
            <a:ext cx="4750701" cy="544171"/>
          </a:xfrm>
          <a:custGeom>
            <a:avLst/>
            <a:gdLst/>
            <a:ahLst/>
            <a:cxnLst/>
            <a:rect l="l" t="t" r="r" b="b"/>
            <a:pathLst>
              <a:path w="4750701" h="544171">
                <a:moveTo>
                  <a:pt x="0" y="0"/>
                </a:moveTo>
                <a:lnTo>
                  <a:pt x="4750701" y="0"/>
                </a:lnTo>
                <a:lnTo>
                  <a:pt x="4750701" y="544172"/>
                </a:lnTo>
                <a:lnTo>
                  <a:pt x="0" y="544172"/>
                </a:lnTo>
                <a:lnTo>
                  <a:pt x="0" y="0"/>
                </a:lnTo>
                <a:close/>
              </a:path>
            </a:pathLst>
          </a:custGeom>
          <a:blipFill>
            <a:blip r:embed="rId2">
              <a:alphaModFix amt="28000"/>
            </a:blip>
            <a:stretch>
              <a:fillRect/>
            </a:stretch>
          </a:blipFill>
        </p:spPr>
        <p:txBody>
          <a:bodyPr/>
          <a:lstStyle/>
          <a:p>
            <a:endParaRPr/>
          </a:p>
        </p:txBody>
      </p:sp>
      <p:sp>
        <p:nvSpPr>
          <p:cNvPr id="12" name="Freeform 12"/>
          <p:cNvSpPr/>
          <p:nvPr/>
        </p:nvSpPr>
        <p:spPr>
          <a:xfrm>
            <a:off x="1403879" y="3090278"/>
            <a:ext cx="4750701" cy="544171"/>
          </a:xfrm>
          <a:custGeom>
            <a:avLst/>
            <a:gdLst/>
            <a:ahLst/>
            <a:cxnLst/>
            <a:rect l="l" t="t" r="r" b="b"/>
            <a:pathLst>
              <a:path w="4750701" h="544171">
                <a:moveTo>
                  <a:pt x="0" y="0"/>
                </a:moveTo>
                <a:lnTo>
                  <a:pt x="4750701" y="0"/>
                </a:lnTo>
                <a:lnTo>
                  <a:pt x="4750701" y="544171"/>
                </a:lnTo>
                <a:lnTo>
                  <a:pt x="0" y="544171"/>
                </a:lnTo>
                <a:lnTo>
                  <a:pt x="0" y="0"/>
                </a:lnTo>
                <a:close/>
              </a:path>
            </a:pathLst>
          </a:custGeom>
          <a:blipFill>
            <a:blip r:embed="rId2">
              <a:alphaModFix amt="28000"/>
            </a:blip>
            <a:stretch>
              <a:fillRect/>
            </a:stretch>
          </a:blipFill>
        </p:spPr>
        <p:txBody>
          <a:bodyPr/>
          <a:lstStyle/>
          <a:p>
            <a:endParaRPr/>
          </a:p>
        </p:txBody>
      </p:sp>
      <p:sp>
        <p:nvSpPr>
          <p:cNvPr id="13" name="Freeform 13"/>
          <p:cNvSpPr/>
          <p:nvPr/>
        </p:nvSpPr>
        <p:spPr>
          <a:xfrm>
            <a:off x="1403879" y="4592424"/>
            <a:ext cx="4750701" cy="544171"/>
          </a:xfrm>
          <a:custGeom>
            <a:avLst/>
            <a:gdLst/>
            <a:ahLst/>
            <a:cxnLst/>
            <a:rect l="l" t="t" r="r" b="b"/>
            <a:pathLst>
              <a:path w="4750701" h="544171">
                <a:moveTo>
                  <a:pt x="0" y="0"/>
                </a:moveTo>
                <a:lnTo>
                  <a:pt x="4750701" y="0"/>
                </a:lnTo>
                <a:lnTo>
                  <a:pt x="4750701" y="544171"/>
                </a:lnTo>
                <a:lnTo>
                  <a:pt x="0" y="544171"/>
                </a:lnTo>
                <a:lnTo>
                  <a:pt x="0" y="0"/>
                </a:lnTo>
                <a:close/>
              </a:path>
            </a:pathLst>
          </a:custGeom>
          <a:blipFill>
            <a:blip r:embed="rId2">
              <a:alphaModFix amt="28000"/>
            </a:blip>
            <a:stretch>
              <a:fillRect/>
            </a:stretch>
          </a:blipFill>
        </p:spPr>
        <p:txBody>
          <a:bodyPr/>
          <a:lstStyle/>
          <a:p>
            <a:endParaRPr/>
          </a:p>
        </p:txBody>
      </p:sp>
      <p:sp>
        <p:nvSpPr>
          <p:cNvPr id="14" name="Freeform 14"/>
          <p:cNvSpPr/>
          <p:nvPr/>
        </p:nvSpPr>
        <p:spPr>
          <a:xfrm>
            <a:off x="1403879" y="6094570"/>
            <a:ext cx="4750701" cy="544171"/>
          </a:xfrm>
          <a:custGeom>
            <a:avLst/>
            <a:gdLst/>
            <a:ahLst/>
            <a:cxnLst/>
            <a:rect l="l" t="t" r="r" b="b"/>
            <a:pathLst>
              <a:path w="4750701" h="544171">
                <a:moveTo>
                  <a:pt x="0" y="0"/>
                </a:moveTo>
                <a:lnTo>
                  <a:pt x="4750701" y="0"/>
                </a:lnTo>
                <a:lnTo>
                  <a:pt x="4750701" y="544171"/>
                </a:lnTo>
                <a:lnTo>
                  <a:pt x="0" y="544171"/>
                </a:lnTo>
                <a:lnTo>
                  <a:pt x="0" y="0"/>
                </a:lnTo>
                <a:close/>
              </a:path>
            </a:pathLst>
          </a:custGeom>
          <a:blipFill>
            <a:blip r:embed="rId2">
              <a:alphaModFix amt="28000"/>
            </a:blip>
            <a:stretch>
              <a:fillRect/>
            </a:stretch>
          </a:blipFill>
        </p:spPr>
        <p:txBody>
          <a:bodyPr/>
          <a:lstStyle/>
          <a:p>
            <a:endParaRPr/>
          </a:p>
        </p:txBody>
      </p:sp>
      <p:sp>
        <p:nvSpPr>
          <p:cNvPr id="15" name="Freeform 15"/>
          <p:cNvSpPr/>
          <p:nvPr/>
        </p:nvSpPr>
        <p:spPr>
          <a:xfrm>
            <a:off x="1403879" y="7596716"/>
            <a:ext cx="4750701" cy="544171"/>
          </a:xfrm>
          <a:custGeom>
            <a:avLst/>
            <a:gdLst/>
            <a:ahLst/>
            <a:cxnLst/>
            <a:rect l="l" t="t" r="r" b="b"/>
            <a:pathLst>
              <a:path w="4750701" h="544171">
                <a:moveTo>
                  <a:pt x="0" y="0"/>
                </a:moveTo>
                <a:lnTo>
                  <a:pt x="4750701" y="0"/>
                </a:lnTo>
                <a:lnTo>
                  <a:pt x="4750701" y="544171"/>
                </a:lnTo>
                <a:lnTo>
                  <a:pt x="0" y="544171"/>
                </a:lnTo>
                <a:lnTo>
                  <a:pt x="0" y="0"/>
                </a:lnTo>
                <a:close/>
              </a:path>
            </a:pathLst>
          </a:custGeom>
          <a:blipFill>
            <a:blip r:embed="rId2">
              <a:alphaModFix amt="28000"/>
            </a:blip>
            <a:stretch>
              <a:fillRect/>
            </a:stretch>
          </a:blipFill>
        </p:spPr>
        <p:txBody>
          <a:bodyPr/>
          <a:lstStyle/>
          <a:p>
            <a:endParaRPr/>
          </a:p>
        </p:txBody>
      </p:sp>
      <p:sp>
        <p:nvSpPr>
          <p:cNvPr id="16" name="Freeform 16"/>
          <p:cNvSpPr/>
          <p:nvPr/>
        </p:nvSpPr>
        <p:spPr>
          <a:xfrm>
            <a:off x="1403879" y="9098861"/>
            <a:ext cx="4750701" cy="544171"/>
          </a:xfrm>
          <a:custGeom>
            <a:avLst/>
            <a:gdLst/>
            <a:ahLst/>
            <a:cxnLst/>
            <a:rect l="l" t="t" r="r" b="b"/>
            <a:pathLst>
              <a:path w="4750701" h="544171">
                <a:moveTo>
                  <a:pt x="0" y="0"/>
                </a:moveTo>
                <a:lnTo>
                  <a:pt x="4750701" y="0"/>
                </a:lnTo>
                <a:lnTo>
                  <a:pt x="4750701" y="544171"/>
                </a:lnTo>
                <a:lnTo>
                  <a:pt x="0" y="544171"/>
                </a:lnTo>
                <a:lnTo>
                  <a:pt x="0" y="0"/>
                </a:lnTo>
                <a:close/>
              </a:path>
            </a:pathLst>
          </a:custGeom>
          <a:blipFill>
            <a:blip r:embed="rId2">
              <a:alphaModFix amt="28000"/>
            </a:blip>
            <a:stretch>
              <a:fillRect/>
            </a:stretch>
          </a:blipFill>
        </p:spPr>
        <p:txBody>
          <a:bodyPr/>
          <a:lstStyle/>
          <a:p>
            <a:endParaRPr/>
          </a:p>
        </p:txBody>
      </p:sp>
      <p:sp>
        <p:nvSpPr>
          <p:cNvPr id="17" name="Freeform 17"/>
          <p:cNvSpPr/>
          <p:nvPr/>
        </p:nvSpPr>
        <p:spPr>
          <a:xfrm>
            <a:off x="906716" y="809228"/>
            <a:ext cx="5247864" cy="1164072"/>
          </a:xfrm>
          <a:custGeom>
            <a:avLst/>
            <a:gdLst/>
            <a:ahLst/>
            <a:cxnLst/>
            <a:rect l="l" t="t" r="r" b="b"/>
            <a:pathLst>
              <a:path w="5247864" h="1164072">
                <a:moveTo>
                  <a:pt x="0" y="0"/>
                </a:moveTo>
                <a:lnTo>
                  <a:pt x="5247864" y="0"/>
                </a:lnTo>
                <a:lnTo>
                  <a:pt x="5247864" y="1164071"/>
                </a:lnTo>
                <a:lnTo>
                  <a:pt x="0" y="116407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a:p>
        </p:txBody>
      </p:sp>
      <p:sp>
        <p:nvSpPr>
          <p:cNvPr id="18" name="AutoShape 18"/>
          <p:cNvSpPr/>
          <p:nvPr/>
        </p:nvSpPr>
        <p:spPr>
          <a:xfrm>
            <a:off x="5893504" y="1391264"/>
            <a:ext cx="771736" cy="0"/>
          </a:xfrm>
          <a:prstGeom prst="line">
            <a:avLst/>
          </a:prstGeom>
          <a:ln w="38100" cap="flat">
            <a:solidFill>
              <a:srgbClr val="7678ED"/>
            </a:solidFill>
            <a:prstDash val="solid"/>
            <a:headEnd type="oval" w="lg" len="lg"/>
            <a:tailEnd type="oval" w="lg" len="lg"/>
          </a:ln>
        </p:spPr>
        <p:txBody>
          <a:bodyPr/>
          <a:lstStyle/>
          <a:p>
            <a:endParaRPr/>
          </a:p>
        </p:txBody>
      </p:sp>
      <p:grpSp>
        <p:nvGrpSpPr>
          <p:cNvPr id="19" name="Group 19"/>
          <p:cNvGrpSpPr/>
          <p:nvPr/>
        </p:nvGrpSpPr>
        <p:grpSpPr>
          <a:xfrm>
            <a:off x="6404165" y="2310122"/>
            <a:ext cx="4930585" cy="1164072"/>
            <a:chOff x="0" y="0"/>
            <a:chExt cx="1298590" cy="306587"/>
          </a:xfrm>
        </p:grpSpPr>
        <p:sp>
          <p:nvSpPr>
            <p:cNvPr id="20" name="Freeform 20"/>
            <p:cNvSpPr/>
            <p:nvPr/>
          </p:nvSpPr>
          <p:spPr>
            <a:xfrm>
              <a:off x="0" y="0"/>
              <a:ext cx="1298590" cy="306587"/>
            </a:xfrm>
            <a:custGeom>
              <a:avLst/>
              <a:gdLst/>
              <a:ahLst/>
              <a:cxnLst/>
              <a:rect l="l" t="t" r="r" b="b"/>
              <a:pathLst>
                <a:path w="1298590" h="306587">
                  <a:moveTo>
                    <a:pt x="29833" y="0"/>
                  </a:moveTo>
                  <a:lnTo>
                    <a:pt x="1268757" y="0"/>
                  </a:lnTo>
                  <a:cubicBezTo>
                    <a:pt x="1285233" y="0"/>
                    <a:pt x="1298590" y="13357"/>
                    <a:pt x="1298590" y="29833"/>
                  </a:cubicBezTo>
                  <a:lnTo>
                    <a:pt x="1298590" y="276753"/>
                  </a:lnTo>
                  <a:cubicBezTo>
                    <a:pt x="1298590" y="284666"/>
                    <a:pt x="1295447" y="292254"/>
                    <a:pt x="1289852" y="297849"/>
                  </a:cubicBezTo>
                  <a:cubicBezTo>
                    <a:pt x="1284258" y="303444"/>
                    <a:pt x="1276669" y="306587"/>
                    <a:pt x="1268757" y="306587"/>
                  </a:cubicBezTo>
                  <a:lnTo>
                    <a:pt x="29833" y="306587"/>
                  </a:lnTo>
                  <a:cubicBezTo>
                    <a:pt x="21921" y="306587"/>
                    <a:pt x="14333" y="303444"/>
                    <a:pt x="8738" y="297849"/>
                  </a:cubicBezTo>
                  <a:cubicBezTo>
                    <a:pt x="3143" y="292254"/>
                    <a:pt x="0" y="284666"/>
                    <a:pt x="0" y="276753"/>
                  </a:cubicBezTo>
                  <a:lnTo>
                    <a:pt x="0" y="29833"/>
                  </a:lnTo>
                  <a:cubicBezTo>
                    <a:pt x="0" y="21921"/>
                    <a:pt x="3143" y="14333"/>
                    <a:pt x="8738" y="8738"/>
                  </a:cubicBezTo>
                  <a:cubicBezTo>
                    <a:pt x="14333" y="3143"/>
                    <a:pt x="21921" y="0"/>
                    <a:pt x="29833" y="0"/>
                  </a:cubicBezTo>
                  <a:close/>
                </a:path>
              </a:pathLst>
            </a:custGeom>
            <a:solidFill>
              <a:srgbClr val="FFFFFF"/>
            </a:solidFill>
          </p:spPr>
        </p:sp>
        <p:sp>
          <p:nvSpPr>
            <p:cNvPr id="21" name="TextBox 21"/>
            <p:cNvSpPr txBox="1"/>
            <p:nvPr/>
          </p:nvSpPr>
          <p:spPr>
            <a:xfrm>
              <a:off x="0" y="-38100"/>
              <a:ext cx="1298590" cy="344687"/>
            </a:xfrm>
            <a:prstGeom prst="rect">
              <a:avLst/>
            </a:prstGeom>
          </p:spPr>
          <p:txBody>
            <a:bodyPr lIns="50800" tIns="50800" rIns="50800" bIns="50800" rtlCol="0" anchor="ctr"/>
            <a:lstStyle/>
            <a:p>
              <a:pPr algn="ctr">
                <a:lnSpc>
                  <a:spcPts val="2520"/>
                </a:lnSpc>
              </a:pPr>
              <a:endParaRPr/>
            </a:p>
          </p:txBody>
        </p:sp>
      </p:grpSp>
      <p:sp>
        <p:nvSpPr>
          <p:cNvPr id="22" name="Freeform 22"/>
          <p:cNvSpPr/>
          <p:nvPr/>
        </p:nvSpPr>
        <p:spPr>
          <a:xfrm>
            <a:off x="906716" y="2310122"/>
            <a:ext cx="5247864" cy="1164072"/>
          </a:xfrm>
          <a:custGeom>
            <a:avLst/>
            <a:gdLst/>
            <a:ahLst/>
            <a:cxnLst/>
            <a:rect l="l" t="t" r="r" b="b"/>
            <a:pathLst>
              <a:path w="5247864" h="1164072">
                <a:moveTo>
                  <a:pt x="0" y="0"/>
                </a:moveTo>
                <a:lnTo>
                  <a:pt x="5247864" y="0"/>
                </a:lnTo>
                <a:lnTo>
                  <a:pt x="5247864" y="1164072"/>
                </a:lnTo>
                <a:lnTo>
                  <a:pt x="0" y="116407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a:p>
        </p:txBody>
      </p:sp>
      <p:sp>
        <p:nvSpPr>
          <p:cNvPr id="23" name="AutoShape 23"/>
          <p:cNvSpPr/>
          <p:nvPr/>
        </p:nvSpPr>
        <p:spPr>
          <a:xfrm>
            <a:off x="5893504" y="2892158"/>
            <a:ext cx="771736" cy="0"/>
          </a:xfrm>
          <a:prstGeom prst="line">
            <a:avLst/>
          </a:prstGeom>
          <a:ln w="38100" cap="flat">
            <a:solidFill>
              <a:srgbClr val="538EFA"/>
            </a:solidFill>
            <a:prstDash val="solid"/>
            <a:headEnd type="oval" w="lg" len="lg"/>
            <a:tailEnd type="oval" w="lg" len="lg"/>
          </a:ln>
        </p:spPr>
        <p:txBody>
          <a:bodyPr/>
          <a:lstStyle/>
          <a:p>
            <a:endParaRPr/>
          </a:p>
        </p:txBody>
      </p:sp>
      <p:grpSp>
        <p:nvGrpSpPr>
          <p:cNvPr id="24" name="Group 24"/>
          <p:cNvGrpSpPr/>
          <p:nvPr/>
        </p:nvGrpSpPr>
        <p:grpSpPr>
          <a:xfrm>
            <a:off x="6404165" y="3811017"/>
            <a:ext cx="4930585" cy="1164072"/>
            <a:chOff x="0" y="0"/>
            <a:chExt cx="1298590" cy="306587"/>
          </a:xfrm>
        </p:grpSpPr>
        <p:sp>
          <p:nvSpPr>
            <p:cNvPr id="25" name="Freeform 25"/>
            <p:cNvSpPr/>
            <p:nvPr/>
          </p:nvSpPr>
          <p:spPr>
            <a:xfrm>
              <a:off x="0" y="0"/>
              <a:ext cx="1298590" cy="306587"/>
            </a:xfrm>
            <a:custGeom>
              <a:avLst/>
              <a:gdLst/>
              <a:ahLst/>
              <a:cxnLst/>
              <a:rect l="l" t="t" r="r" b="b"/>
              <a:pathLst>
                <a:path w="1298590" h="306587">
                  <a:moveTo>
                    <a:pt x="29833" y="0"/>
                  </a:moveTo>
                  <a:lnTo>
                    <a:pt x="1268757" y="0"/>
                  </a:lnTo>
                  <a:cubicBezTo>
                    <a:pt x="1285233" y="0"/>
                    <a:pt x="1298590" y="13357"/>
                    <a:pt x="1298590" y="29833"/>
                  </a:cubicBezTo>
                  <a:lnTo>
                    <a:pt x="1298590" y="276753"/>
                  </a:lnTo>
                  <a:cubicBezTo>
                    <a:pt x="1298590" y="284666"/>
                    <a:pt x="1295447" y="292254"/>
                    <a:pt x="1289852" y="297849"/>
                  </a:cubicBezTo>
                  <a:cubicBezTo>
                    <a:pt x="1284258" y="303444"/>
                    <a:pt x="1276669" y="306587"/>
                    <a:pt x="1268757" y="306587"/>
                  </a:cubicBezTo>
                  <a:lnTo>
                    <a:pt x="29833" y="306587"/>
                  </a:lnTo>
                  <a:cubicBezTo>
                    <a:pt x="21921" y="306587"/>
                    <a:pt x="14333" y="303444"/>
                    <a:pt x="8738" y="297849"/>
                  </a:cubicBezTo>
                  <a:cubicBezTo>
                    <a:pt x="3143" y="292254"/>
                    <a:pt x="0" y="284666"/>
                    <a:pt x="0" y="276753"/>
                  </a:cubicBezTo>
                  <a:lnTo>
                    <a:pt x="0" y="29833"/>
                  </a:lnTo>
                  <a:cubicBezTo>
                    <a:pt x="0" y="21921"/>
                    <a:pt x="3143" y="14333"/>
                    <a:pt x="8738" y="8738"/>
                  </a:cubicBezTo>
                  <a:cubicBezTo>
                    <a:pt x="14333" y="3143"/>
                    <a:pt x="21921" y="0"/>
                    <a:pt x="29833" y="0"/>
                  </a:cubicBezTo>
                  <a:close/>
                </a:path>
              </a:pathLst>
            </a:custGeom>
            <a:solidFill>
              <a:srgbClr val="FFFFFF"/>
            </a:solidFill>
          </p:spPr>
        </p:sp>
        <p:sp>
          <p:nvSpPr>
            <p:cNvPr id="26" name="TextBox 26"/>
            <p:cNvSpPr txBox="1"/>
            <p:nvPr/>
          </p:nvSpPr>
          <p:spPr>
            <a:xfrm>
              <a:off x="0" y="-38100"/>
              <a:ext cx="1298590" cy="344687"/>
            </a:xfrm>
            <a:prstGeom prst="rect">
              <a:avLst/>
            </a:prstGeom>
          </p:spPr>
          <p:txBody>
            <a:bodyPr lIns="50800" tIns="50800" rIns="50800" bIns="50800" rtlCol="0" anchor="ctr"/>
            <a:lstStyle/>
            <a:p>
              <a:pPr algn="ctr">
                <a:lnSpc>
                  <a:spcPts val="2520"/>
                </a:lnSpc>
              </a:pPr>
              <a:endParaRPr/>
            </a:p>
          </p:txBody>
        </p:sp>
      </p:grpSp>
      <p:sp>
        <p:nvSpPr>
          <p:cNvPr id="27" name="Freeform 27"/>
          <p:cNvSpPr/>
          <p:nvPr/>
        </p:nvSpPr>
        <p:spPr>
          <a:xfrm>
            <a:off x="906716" y="3811017"/>
            <a:ext cx="5247864" cy="1164072"/>
          </a:xfrm>
          <a:custGeom>
            <a:avLst/>
            <a:gdLst/>
            <a:ahLst/>
            <a:cxnLst/>
            <a:rect l="l" t="t" r="r" b="b"/>
            <a:pathLst>
              <a:path w="5247864" h="1164072">
                <a:moveTo>
                  <a:pt x="0" y="0"/>
                </a:moveTo>
                <a:lnTo>
                  <a:pt x="5247864" y="0"/>
                </a:lnTo>
                <a:lnTo>
                  <a:pt x="5247864" y="1164072"/>
                </a:lnTo>
                <a:lnTo>
                  <a:pt x="0" y="116407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a:p>
        </p:txBody>
      </p:sp>
      <p:sp>
        <p:nvSpPr>
          <p:cNvPr id="28" name="AutoShape 28"/>
          <p:cNvSpPr/>
          <p:nvPr/>
        </p:nvSpPr>
        <p:spPr>
          <a:xfrm>
            <a:off x="5893504" y="4393053"/>
            <a:ext cx="771736" cy="0"/>
          </a:xfrm>
          <a:prstGeom prst="line">
            <a:avLst/>
          </a:prstGeom>
          <a:ln w="38100" cap="flat">
            <a:solidFill>
              <a:srgbClr val="02B2E4"/>
            </a:solidFill>
            <a:prstDash val="solid"/>
            <a:headEnd type="oval" w="lg" len="lg"/>
            <a:tailEnd type="oval" w="lg" len="lg"/>
          </a:ln>
        </p:spPr>
        <p:txBody>
          <a:bodyPr/>
          <a:lstStyle/>
          <a:p>
            <a:endParaRPr/>
          </a:p>
        </p:txBody>
      </p:sp>
      <p:grpSp>
        <p:nvGrpSpPr>
          <p:cNvPr id="29" name="Group 29"/>
          <p:cNvGrpSpPr/>
          <p:nvPr/>
        </p:nvGrpSpPr>
        <p:grpSpPr>
          <a:xfrm>
            <a:off x="6404165" y="5311911"/>
            <a:ext cx="4930585" cy="1164072"/>
            <a:chOff x="0" y="0"/>
            <a:chExt cx="1298590" cy="306587"/>
          </a:xfrm>
        </p:grpSpPr>
        <p:sp>
          <p:nvSpPr>
            <p:cNvPr id="30" name="Freeform 30"/>
            <p:cNvSpPr/>
            <p:nvPr/>
          </p:nvSpPr>
          <p:spPr>
            <a:xfrm>
              <a:off x="0" y="0"/>
              <a:ext cx="1298590" cy="306587"/>
            </a:xfrm>
            <a:custGeom>
              <a:avLst/>
              <a:gdLst/>
              <a:ahLst/>
              <a:cxnLst/>
              <a:rect l="l" t="t" r="r" b="b"/>
              <a:pathLst>
                <a:path w="1298590" h="306587">
                  <a:moveTo>
                    <a:pt x="29833" y="0"/>
                  </a:moveTo>
                  <a:lnTo>
                    <a:pt x="1268757" y="0"/>
                  </a:lnTo>
                  <a:cubicBezTo>
                    <a:pt x="1285233" y="0"/>
                    <a:pt x="1298590" y="13357"/>
                    <a:pt x="1298590" y="29833"/>
                  </a:cubicBezTo>
                  <a:lnTo>
                    <a:pt x="1298590" y="276753"/>
                  </a:lnTo>
                  <a:cubicBezTo>
                    <a:pt x="1298590" y="284666"/>
                    <a:pt x="1295447" y="292254"/>
                    <a:pt x="1289852" y="297849"/>
                  </a:cubicBezTo>
                  <a:cubicBezTo>
                    <a:pt x="1284258" y="303444"/>
                    <a:pt x="1276669" y="306587"/>
                    <a:pt x="1268757" y="306587"/>
                  </a:cubicBezTo>
                  <a:lnTo>
                    <a:pt x="29833" y="306587"/>
                  </a:lnTo>
                  <a:cubicBezTo>
                    <a:pt x="21921" y="306587"/>
                    <a:pt x="14333" y="303444"/>
                    <a:pt x="8738" y="297849"/>
                  </a:cubicBezTo>
                  <a:cubicBezTo>
                    <a:pt x="3143" y="292254"/>
                    <a:pt x="0" y="284666"/>
                    <a:pt x="0" y="276753"/>
                  </a:cubicBezTo>
                  <a:lnTo>
                    <a:pt x="0" y="29833"/>
                  </a:lnTo>
                  <a:cubicBezTo>
                    <a:pt x="0" y="21921"/>
                    <a:pt x="3143" y="14333"/>
                    <a:pt x="8738" y="8738"/>
                  </a:cubicBezTo>
                  <a:cubicBezTo>
                    <a:pt x="14333" y="3143"/>
                    <a:pt x="21921" y="0"/>
                    <a:pt x="29833" y="0"/>
                  </a:cubicBezTo>
                  <a:close/>
                </a:path>
              </a:pathLst>
            </a:custGeom>
            <a:solidFill>
              <a:srgbClr val="FFFFFF"/>
            </a:solidFill>
          </p:spPr>
        </p:sp>
        <p:sp>
          <p:nvSpPr>
            <p:cNvPr id="31" name="TextBox 31"/>
            <p:cNvSpPr txBox="1"/>
            <p:nvPr/>
          </p:nvSpPr>
          <p:spPr>
            <a:xfrm>
              <a:off x="0" y="-38100"/>
              <a:ext cx="1298590" cy="344687"/>
            </a:xfrm>
            <a:prstGeom prst="rect">
              <a:avLst/>
            </a:prstGeom>
          </p:spPr>
          <p:txBody>
            <a:bodyPr lIns="50800" tIns="50800" rIns="50800" bIns="50800" rtlCol="0" anchor="ctr"/>
            <a:lstStyle/>
            <a:p>
              <a:pPr algn="ctr">
                <a:lnSpc>
                  <a:spcPts val="2520"/>
                </a:lnSpc>
              </a:pPr>
              <a:endParaRPr/>
            </a:p>
          </p:txBody>
        </p:sp>
      </p:grpSp>
      <p:sp>
        <p:nvSpPr>
          <p:cNvPr id="32" name="Freeform 32"/>
          <p:cNvSpPr/>
          <p:nvPr/>
        </p:nvSpPr>
        <p:spPr>
          <a:xfrm>
            <a:off x="906716" y="5311911"/>
            <a:ext cx="5247864" cy="1164072"/>
          </a:xfrm>
          <a:custGeom>
            <a:avLst/>
            <a:gdLst/>
            <a:ahLst/>
            <a:cxnLst/>
            <a:rect l="l" t="t" r="r" b="b"/>
            <a:pathLst>
              <a:path w="5247864" h="1164072">
                <a:moveTo>
                  <a:pt x="0" y="0"/>
                </a:moveTo>
                <a:lnTo>
                  <a:pt x="5247864" y="0"/>
                </a:lnTo>
                <a:lnTo>
                  <a:pt x="5247864" y="1164072"/>
                </a:lnTo>
                <a:lnTo>
                  <a:pt x="0" y="116407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a:p>
        </p:txBody>
      </p:sp>
      <p:sp>
        <p:nvSpPr>
          <p:cNvPr id="33" name="AutoShape 33"/>
          <p:cNvSpPr/>
          <p:nvPr/>
        </p:nvSpPr>
        <p:spPr>
          <a:xfrm>
            <a:off x="5893504" y="5893947"/>
            <a:ext cx="771736" cy="0"/>
          </a:xfrm>
          <a:prstGeom prst="line">
            <a:avLst/>
          </a:prstGeom>
          <a:ln w="38100" cap="flat">
            <a:solidFill>
              <a:srgbClr val="00CCBC"/>
            </a:solidFill>
            <a:prstDash val="solid"/>
            <a:headEnd type="oval" w="lg" len="lg"/>
            <a:tailEnd type="oval" w="lg" len="lg"/>
          </a:ln>
        </p:spPr>
        <p:txBody>
          <a:bodyPr/>
          <a:lstStyle/>
          <a:p>
            <a:endParaRPr/>
          </a:p>
        </p:txBody>
      </p:sp>
      <p:grpSp>
        <p:nvGrpSpPr>
          <p:cNvPr id="34" name="Group 34"/>
          <p:cNvGrpSpPr/>
          <p:nvPr/>
        </p:nvGrpSpPr>
        <p:grpSpPr>
          <a:xfrm>
            <a:off x="6404165" y="6812806"/>
            <a:ext cx="4930585" cy="1164072"/>
            <a:chOff x="0" y="0"/>
            <a:chExt cx="1298590" cy="306587"/>
          </a:xfrm>
        </p:grpSpPr>
        <p:sp>
          <p:nvSpPr>
            <p:cNvPr id="35" name="Freeform 35"/>
            <p:cNvSpPr/>
            <p:nvPr/>
          </p:nvSpPr>
          <p:spPr>
            <a:xfrm>
              <a:off x="0" y="0"/>
              <a:ext cx="1298590" cy="306587"/>
            </a:xfrm>
            <a:custGeom>
              <a:avLst/>
              <a:gdLst/>
              <a:ahLst/>
              <a:cxnLst/>
              <a:rect l="l" t="t" r="r" b="b"/>
              <a:pathLst>
                <a:path w="1298590" h="306587">
                  <a:moveTo>
                    <a:pt x="29833" y="0"/>
                  </a:moveTo>
                  <a:lnTo>
                    <a:pt x="1268757" y="0"/>
                  </a:lnTo>
                  <a:cubicBezTo>
                    <a:pt x="1285233" y="0"/>
                    <a:pt x="1298590" y="13357"/>
                    <a:pt x="1298590" y="29833"/>
                  </a:cubicBezTo>
                  <a:lnTo>
                    <a:pt x="1298590" y="276753"/>
                  </a:lnTo>
                  <a:cubicBezTo>
                    <a:pt x="1298590" y="284666"/>
                    <a:pt x="1295447" y="292254"/>
                    <a:pt x="1289852" y="297849"/>
                  </a:cubicBezTo>
                  <a:cubicBezTo>
                    <a:pt x="1284258" y="303444"/>
                    <a:pt x="1276669" y="306587"/>
                    <a:pt x="1268757" y="306587"/>
                  </a:cubicBezTo>
                  <a:lnTo>
                    <a:pt x="29833" y="306587"/>
                  </a:lnTo>
                  <a:cubicBezTo>
                    <a:pt x="21921" y="306587"/>
                    <a:pt x="14333" y="303444"/>
                    <a:pt x="8738" y="297849"/>
                  </a:cubicBezTo>
                  <a:cubicBezTo>
                    <a:pt x="3143" y="292254"/>
                    <a:pt x="0" y="284666"/>
                    <a:pt x="0" y="276753"/>
                  </a:cubicBezTo>
                  <a:lnTo>
                    <a:pt x="0" y="29833"/>
                  </a:lnTo>
                  <a:cubicBezTo>
                    <a:pt x="0" y="21921"/>
                    <a:pt x="3143" y="14333"/>
                    <a:pt x="8738" y="8738"/>
                  </a:cubicBezTo>
                  <a:cubicBezTo>
                    <a:pt x="14333" y="3143"/>
                    <a:pt x="21921" y="0"/>
                    <a:pt x="29833" y="0"/>
                  </a:cubicBezTo>
                  <a:close/>
                </a:path>
              </a:pathLst>
            </a:custGeom>
            <a:solidFill>
              <a:srgbClr val="FFFFFF"/>
            </a:solidFill>
          </p:spPr>
        </p:sp>
        <p:sp>
          <p:nvSpPr>
            <p:cNvPr id="36" name="TextBox 36"/>
            <p:cNvSpPr txBox="1"/>
            <p:nvPr/>
          </p:nvSpPr>
          <p:spPr>
            <a:xfrm>
              <a:off x="0" y="-38100"/>
              <a:ext cx="1298590" cy="344687"/>
            </a:xfrm>
            <a:prstGeom prst="rect">
              <a:avLst/>
            </a:prstGeom>
          </p:spPr>
          <p:txBody>
            <a:bodyPr lIns="50800" tIns="50800" rIns="50800" bIns="50800" rtlCol="0" anchor="ctr"/>
            <a:lstStyle/>
            <a:p>
              <a:pPr algn="ctr">
                <a:lnSpc>
                  <a:spcPts val="2520"/>
                </a:lnSpc>
              </a:pPr>
              <a:endParaRPr/>
            </a:p>
          </p:txBody>
        </p:sp>
      </p:grpSp>
      <p:sp>
        <p:nvSpPr>
          <p:cNvPr id="37" name="Freeform 37"/>
          <p:cNvSpPr/>
          <p:nvPr/>
        </p:nvSpPr>
        <p:spPr>
          <a:xfrm>
            <a:off x="906716" y="6812806"/>
            <a:ext cx="5247864" cy="1164072"/>
          </a:xfrm>
          <a:custGeom>
            <a:avLst/>
            <a:gdLst/>
            <a:ahLst/>
            <a:cxnLst/>
            <a:rect l="l" t="t" r="r" b="b"/>
            <a:pathLst>
              <a:path w="5247864" h="1164072">
                <a:moveTo>
                  <a:pt x="0" y="0"/>
                </a:moveTo>
                <a:lnTo>
                  <a:pt x="5247864" y="0"/>
                </a:lnTo>
                <a:lnTo>
                  <a:pt x="5247864" y="1164072"/>
                </a:lnTo>
                <a:lnTo>
                  <a:pt x="0" y="116407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a:p>
        </p:txBody>
      </p:sp>
      <p:sp>
        <p:nvSpPr>
          <p:cNvPr id="38" name="AutoShape 38"/>
          <p:cNvSpPr/>
          <p:nvPr/>
        </p:nvSpPr>
        <p:spPr>
          <a:xfrm>
            <a:off x="5893504" y="7394842"/>
            <a:ext cx="771736" cy="0"/>
          </a:xfrm>
          <a:prstGeom prst="line">
            <a:avLst/>
          </a:prstGeom>
          <a:ln w="38100" cap="flat">
            <a:solidFill>
              <a:srgbClr val="00D89D"/>
            </a:solidFill>
            <a:prstDash val="solid"/>
            <a:headEnd type="oval" w="lg" len="lg"/>
            <a:tailEnd type="oval" w="lg" len="lg"/>
          </a:ln>
        </p:spPr>
        <p:txBody>
          <a:bodyPr/>
          <a:lstStyle/>
          <a:p>
            <a:endParaRPr/>
          </a:p>
        </p:txBody>
      </p:sp>
      <p:grpSp>
        <p:nvGrpSpPr>
          <p:cNvPr id="39" name="Group 39"/>
          <p:cNvGrpSpPr/>
          <p:nvPr/>
        </p:nvGrpSpPr>
        <p:grpSpPr>
          <a:xfrm>
            <a:off x="6404165" y="8313701"/>
            <a:ext cx="4930585" cy="1164072"/>
            <a:chOff x="0" y="0"/>
            <a:chExt cx="1298590" cy="306587"/>
          </a:xfrm>
        </p:grpSpPr>
        <p:sp>
          <p:nvSpPr>
            <p:cNvPr id="40" name="Freeform 40"/>
            <p:cNvSpPr/>
            <p:nvPr/>
          </p:nvSpPr>
          <p:spPr>
            <a:xfrm>
              <a:off x="0" y="0"/>
              <a:ext cx="1298590" cy="306587"/>
            </a:xfrm>
            <a:custGeom>
              <a:avLst/>
              <a:gdLst/>
              <a:ahLst/>
              <a:cxnLst/>
              <a:rect l="l" t="t" r="r" b="b"/>
              <a:pathLst>
                <a:path w="1298590" h="306587">
                  <a:moveTo>
                    <a:pt x="29833" y="0"/>
                  </a:moveTo>
                  <a:lnTo>
                    <a:pt x="1268757" y="0"/>
                  </a:lnTo>
                  <a:cubicBezTo>
                    <a:pt x="1285233" y="0"/>
                    <a:pt x="1298590" y="13357"/>
                    <a:pt x="1298590" y="29833"/>
                  </a:cubicBezTo>
                  <a:lnTo>
                    <a:pt x="1298590" y="276753"/>
                  </a:lnTo>
                  <a:cubicBezTo>
                    <a:pt x="1298590" y="284666"/>
                    <a:pt x="1295447" y="292254"/>
                    <a:pt x="1289852" y="297849"/>
                  </a:cubicBezTo>
                  <a:cubicBezTo>
                    <a:pt x="1284258" y="303444"/>
                    <a:pt x="1276669" y="306587"/>
                    <a:pt x="1268757" y="306587"/>
                  </a:cubicBezTo>
                  <a:lnTo>
                    <a:pt x="29833" y="306587"/>
                  </a:lnTo>
                  <a:cubicBezTo>
                    <a:pt x="21921" y="306587"/>
                    <a:pt x="14333" y="303444"/>
                    <a:pt x="8738" y="297849"/>
                  </a:cubicBezTo>
                  <a:cubicBezTo>
                    <a:pt x="3143" y="292254"/>
                    <a:pt x="0" y="284666"/>
                    <a:pt x="0" y="276753"/>
                  </a:cubicBezTo>
                  <a:lnTo>
                    <a:pt x="0" y="29833"/>
                  </a:lnTo>
                  <a:cubicBezTo>
                    <a:pt x="0" y="21921"/>
                    <a:pt x="3143" y="14333"/>
                    <a:pt x="8738" y="8738"/>
                  </a:cubicBezTo>
                  <a:cubicBezTo>
                    <a:pt x="14333" y="3143"/>
                    <a:pt x="21921" y="0"/>
                    <a:pt x="29833" y="0"/>
                  </a:cubicBezTo>
                  <a:close/>
                </a:path>
              </a:pathLst>
            </a:custGeom>
            <a:solidFill>
              <a:srgbClr val="FFFFFF"/>
            </a:solidFill>
          </p:spPr>
        </p:sp>
        <p:sp>
          <p:nvSpPr>
            <p:cNvPr id="41" name="TextBox 41"/>
            <p:cNvSpPr txBox="1"/>
            <p:nvPr/>
          </p:nvSpPr>
          <p:spPr>
            <a:xfrm>
              <a:off x="0" y="-38100"/>
              <a:ext cx="1298590" cy="344687"/>
            </a:xfrm>
            <a:prstGeom prst="rect">
              <a:avLst/>
            </a:prstGeom>
          </p:spPr>
          <p:txBody>
            <a:bodyPr lIns="50800" tIns="50800" rIns="50800" bIns="50800" rtlCol="0" anchor="ctr"/>
            <a:lstStyle/>
            <a:p>
              <a:pPr algn="ctr">
                <a:lnSpc>
                  <a:spcPts val="2520"/>
                </a:lnSpc>
              </a:pPr>
              <a:endParaRPr/>
            </a:p>
          </p:txBody>
        </p:sp>
      </p:grpSp>
      <p:sp>
        <p:nvSpPr>
          <p:cNvPr id="42" name="Freeform 42"/>
          <p:cNvSpPr/>
          <p:nvPr/>
        </p:nvSpPr>
        <p:spPr>
          <a:xfrm>
            <a:off x="906716" y="8313701"/>
            <a:ext cx="5247864" cy="1164072"/>
          </a:xfrm>
          <a:custGeom>
            <a:avLst/>
            <a:gdLst/>
            <a:ahLst/>
            <a:cxnLst/>
            <a:rect l="l" t="t" r="r" b="b"/>
            <a:pathLst>
              <a:path w="5247864" h="1164072">
                <a:moveTo>
                  <a:pt x="0" y="0"/>
                </a:moveTo>
                <a:lnTo>
                  <a:pt x="5247864" y="0"/>
                </a:lnTo>
                <a:lnTo>
                  <a:pt x="5247864" y="1164071"/>
                </a:lnTo>
                <a:lnTo>
                  <a:pt x="0" y="1164071"/>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a:p>
        </p:txBody>
      </p:sp>
      <p:sp>
        <p:nvSpPr>
          <p:cNvPr id="43" name="AutoShape 43"/>
          <p:cNvSpPr/>
          <p:nvPr/>
        </p:nvSpPr>
        <p:spPr>
          <a:xfrm>
            <a:off x="5893504" y="8895736"/>
            <a:ext cx="771736" cy="0"/>
          </a:xfrm>
          <a:prstGeom prst="line">
            <a:avLst/>
          </a:prstGeom>
          <a:ln w="38100" cap="flat">
            <a:solidFill>
              <a:srgbClr val="5DDB78"/>
            </a:solidFill>
            <a:prstDash val="solid"/>
            <a:headEnd type="oval" w="lg" len="lg"/>
            <a:tailEnd type="oval" w="lg" len="lg"/>
          </a:ln>
        </p:spPr>
        <p:txBody>
          <a:bodyPr/>
          <a:lstStyle/>
          <a:p>
            <a:endParaRPr/>
          </a:p>
        </p:txBody>
      </p:sp>
      <p:sp>
        <p:nvSpPr>
          <p:cNvPr id="44" name="Freeform 44"/>
          <p:cNvSpPr/>
          <p:nvPr/>
        </p:nvSpPr>
        <p:spPr>
          <a:xfrm>
            <a:off x="1268423" y="1110832"/>
            <a:ext cx="440658" cy="561023"/>
          </a:xfrm>
          <a:custGeom>
            <a:avLst/>
            <a:gdLst/>
            <a:ahLst/>
            <a:cxnLst/>
            <a:rect l="l" t="t" r="r" b="b"/>
            <a:pathLst>
              <a:path w="440658" h="561023">
                <a:moveTo>
                  <a:pt x="0" y="0"/>
                </a:moveTo>
                <a:lnTo>
                  <a:pt x="440657" y="0"/>
                </a:lnTo>
                <a:lnTo>
                  <a:pt x="440657" y="561022"/>
                </a:lnTo>
                <a:lnTo>
                  <a:pt x="0" y="561022"/>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a:p>
        </p:txBody>
      </p:sp>
      <p:sp>
        <p:nvSpPr>
          <p:cNvPr id="45" name="Freeform 45"/>
          <p:cNvSpPr/>
          <p:nvPr/>
        </p:nvSpPr>
        <p:spPr>
          <a:xfrm>
            <a:off x="1208240" y="2611568"/>
            <a:ext cx="561023" cy="561023"/>
          </a:xfrm>
          <a:custGeom>
            <a:avLst/>
            <a:gdLst/>
            <a:ahLst/>
            <a:cxnLst/>
            <a:rect l="l" t="t" r="r" b="b"/>
            <a:pathLst>
              <a:path w="561023" h="561023">
                <a:moveTo>
                  <a:pt x="0" y="0"/>
                </a:moveTo>
                <a:lnTo>
                  <a:pt x="561023" y="0"/>
                </a:lnTo>
                <a:lnTo>
                  <a:pt x="561023" y="561022"/>
                </a:lnTo>
                <a:lnTo>
                  <a:pt x="0" y="561022"/>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a:p>
        </p:txBody>
      </p:sp>
      <p:sp>
        <p:nvSpPr>
          <p:cNvPr id="46" name="Freeform 46"/>
          <p:cNvSpPr/>
          <p:nvPr/>
        </p:nvSpPr>
        <p:spPr>
          <a:xfrm>
            <a:off x="1255162" y="5613515"/>
            <a:ext cx="467179" cy="561023"/>
          </a:xfrm>
          <a:custGeom>
            <a:avLst/>
            <a:gdLst/>
            <a:ahLst/>
            <a:cxnLst/>
            <a:rect l="l" t="t" r="r" b="b"/>
            <a:pathLst>
              <a:path w="467179" h="561023">
                <a:moveTo>
                  <a:pt x="0" y="0"/>
                </a:moveTo>
                <a:lnTo>
                  <a:pt x="467179" y="0"/>
                </a:lnTo>
                <a:lnTo>
                  <a:pt x="467179" y="561023"/>
                </a:lnTo>
                <a:lnTo>
                  <a:pt x="0" y="561023"/>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a:p>
        </p:txBody>
      </p:sp>
      <p:sp>
        <p:nvSpPr>
          <p:cNvPr id="47" name="Freeform 47"/>
          <p:cNvSpPr/>
          <p:nvPr/>
        </p:nvSpPr>
        <p:spPr>
          <a:xfrm>
            <a:off x="1264853" y="4112621"/>
            <a:ext cx="447798" cy="561023"/>
          </a:xfrm>
          <a:custGeom>
            <a:avLst/>
            <a:gdLst/>
            <a:ahLst/>
            <a:cxnLst/>
            <a:rect l="l" t="t" r="r" b="b"/>
            <a:pathLst>
              <a:path w="447798" h="561023">
                <a:moveTo>
                  <a:pt x="0" y="0"/>
                </a:moveTo>
                <a:lnTo>
                  <a:pt x="447798" y="0"/>
                </a:lnTo>
                <a:lnTo>
                  <a:pt x="447798" y="561022"/>
                </a:lnTo>
                <a:lnTo>
                  <a:pt x="0" y="561022"/>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a:p>
        </p:txBody>
      </p:sp>
      <p:sp>
        <p:nvSpPr>
          <p:cNvPr id="48" name="Freeform 48"/>
          <p:cNvSpPr/>
          <p:nvPr/>
        </p:nvSpPr>
        <p:spPr>
          <a:xfrm>
            <a:off x="1224561" y="8615146"/>
            <a:ext cx="528381" cy="561022"/>
          </a:xfrm>
          <a:custGeom>
            <a:avLst/>
            <a:gdLst/>
            <a:ahLst/>
            <a:cxnLst/>
            <a:rect l="l" t="t" r="r" b="b"/>
            <a:pathLst>
              <a:path w="528381" h="561022">
                <a:moveTo>
                  <a:pt x="0" y="0"/>
                </a:moveTo>
                <a:lnTo>
                  <a:pt x="528381" y="0"/>
                </a:lnTo>
                <a:lnTo>
                  <a:pt x="528381" y="561022"/>
                </a:lnTo>
                <a:lnTo>
                  <a:pt x="0" y="561022"/>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a:p>
        </p:txBody>
      </p:sp>
      <p:sp>
        <p:nvSpPr>
          <p:cNvPr id="49" name="Freeform 49"/>
          <p:cNvSpPr/>
          <p:nvPr/>
        </p:nvSpPr>
        <p:spPr>
          <a:xfrm>
            <a:off x="1208240" y="7114410"/>
            <a:ext cx="561023" cy="561022"/>
          </a:xfrm>
          <a:custGeom>
            <a:avLst/>
            <a:gdLst/>
            <a:ahLst/>
            <a:cxnLst/>
            <a:rect l="l" t="t" r="r" b="b"/>
            <a:pathLst>
              <a:path w="561023" h="561022">
                <a:moveTo>
                  <a:pt x="0" y="0"/>
                </a:moveTo>
                <a:lnTo>
                  <a:pt x="561023" y="0"/>
                </a:lnTo>
                <a:lnTo>
                  <a:pt x="561023" y="561022"/>
                </a:lnTo>
                <a:lnTo>
                  <a:pt x="0" y="561022"/>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txBody>
          <a:bodyPr/>
          <a:lstStyle/>
          <a:p>
            <a:endParaRPr/>
          </a:p>
        </p:txBody>
      </p:sp>
      <p:sp>
        <p:nvSpPr>
          <p:cNvPr id="50" name="TextBox 50"/>
          <p:cNvSpPr txBox="1"/>
          <p:nvPr/>
        </p:nvSpPr>
        <p:spPr>
          <a:xfrm>
            <a:off x="12849130" y="8275601"/>
            <a:ext cx="4621078" cy="1731243"/>
          </a:xfrm>
          <a:prstGeom prst="rect">
            <a:avLst/>
          </a:prstGeom>
        </p:spPr>
        <p:txBody>
          <a:bodyPr lIns="0" tIns="0" rIns="0" bIns="0" rtlCol="0" anchor="t">
            <a:spAutoFit/>
          </a:bodyPr>
          <a:lstStyle/>
          <a:p>
            <a:pPr marL="0" lvl="0" indent="0" algn="r" rtl="1">
              <a:lnSpc>
                <a:spcPts val="2659"/>
              </a:lnSpc>
              <a:spcBef>
                <a:spcPct val="0"/>
              </a:spcBef>
            </a:pPr>
            <a:r>
              <a:rPr lang="ar-EG" sz="1899" dirty="0">
                <a:solidFill>
                  <a:srgbClr val="000000"/>
                </a:solidFill>
                <a:latin typeface="Arial" panose="020B0604020202020204" pitchFamily="34" charset="0"/>
                <a:ea typeface="DM Sans"/>
                <a:cs typeface="Arial" panose="020B0604020202020204" pitchFamily="34" charset="0"/>
                <a:sym typeface="DM Sans"/>
                <a:rtl/>
              </a:rPr>
              <a:t>"ساهم</a:t>
            </a:r>
            <a:r>
              <a:rPr lang="ar-EG" sz="1899" u="none" strike="noStrike" dirty="0">
                <a:solidFill>
                  <a:srgbClr val="000000"/>
                </a:solidFill>
                <a:latin typeface="Arial" panose="020B0604020202020204" pitchFamily="34" charset="0"/>
                <a:ea typeface="DM Sans"/>
                <a:cs typeface="Arial" panose="020B0604020202020204" pitchFamily="34" charset="0"/>
                <a:sym typeface="DM Sans"/>
                <a:rtl/>
              </a:rPr>
              <a:t> المشروع في تحسين كفاءة التشغيل، ورفع مستوى المتابعة، وتوحيد طريقة العمل بين الفرق المختلفة ضمن خدمات ما بعد البيع."</a:t>
            </a:r>
          </a:p>
          <a:p>
            <a:pPr marL="0" lvl="0" indent="0" algn="r" rtl="1">
              <a:lnSpc>
                <a:spcPts val="2659"/>
              </a:lnSpc>
              <a:spcBef>
                <a:spcPct val="0"/>
              </a:spcBef>
            </a:pPr>
            <a:endParaRPr lang="ar-EG" sz="1899" u="none" strike="noStrike" dirty="0">
              <a:solidFill>
                <a:srgbClr val="000000"/>
              </a:solidFill>
              <a:latin typeface="Arial" panose="020B0604020202020204" pitchFamily="34" charset="0"/>
              <a:ea typeface="DM Sans"/>
              <a:cs typeface="Arial" panose="020B0604020202020204" pitchFamily="34" charset="0"/>
              <a:sym typeface="DM Sans"/>
              <a:rtl/>
            </a:endParaRPr>
          </a:p>
          <a:p>
            <a:pPr marL="0" lvl="0" indent="0" algn="r" rtl="1">
              <a:lnSpc>
                <a:spcPts val="2659"/>
              </a:lnSpc>
              <a:spcBef>
                <a:spcPct val="0"/>
              </a:spcBef>
            </a:pPr>
            <a:endParaRPr lang="ar-EG" sz="1899" u="none" strike="noStrike" dirty="0">
              <a:solidFill>
                <a:srgbClr val="000000"/>
              </a:solidFill>
              <a:latin typeface="Arial" panose="020B0604020202020204" pitchFamily="34" charset="0"/>
              <a:ea typeface="DM Sans"/>
              <a:cs typeface="Arial" panose="020B0604020202020204" pitchFamily="34" charset="0"/>
              <a:sym typeface="DM Sans"/>
              <a:rtl/>
            </a:endParaRPr>
          </a:p>
        </p:txBody>
      </p:sp>
      <p:sp>
        <p:nvSpPr>
          <p:cNvPr id="51" name="TextBox 51"/>
          <p:cNvSpPr txBox="1"/>
          <p:nvPr/>
        </p:nvSpPr>
        <p:spPr>
          <a:xfrm>
            <a:off x="13083120" y="1104879"/>
            <a:ext cx="4387089" cy="641201"/>
          </a:xfrm>
          <a:prstGeom prst="rect">
            <a:avLst/>
          </a:prstGeom>
        </p:spPr>
        <p:txBody>
          <a:bodyPr lIns="0" tIns="0" rIns="0" bIns="0" rtlCol="0" anchor="t">
            <a:spAutoFit/>
          </a:bodyPr>
          <a:lstStyle/>
          <a:p>
            <a:pPr algn="r" rtl="1">
              <a:lnSpc>
                <a:spcPts val="5039"/>
              </a:lnSpc>
              <a:spcBef>
                <a:spcPct val="0"/>
              </a:spcBef>
            </a:pPr>
            <a:r>
              <a:rPr lang="ar-EG" sz="3599" b="1" dirty="0">
                <a:solidFill>
                  <a:srgbClr val="000000"/>
                </a:solidFill>
                <a:latin typeface="Arial" panose="020B0604020202020204" pitchFamily="34" charset="0"/>
                <a:ea typeface="DM Sans Bold"/>
                <a:cs typeface="Arial" panose="020B0604020202020204" pitchFamily="34" charset="0"/>
                <a:sym typeface="DM Sans Bold"/>
                <a:rtl/>
              </a:rPr>
              <a:t>الفائدة على الشركة</a:t>
            </a:r>
          </a:p>
        </p:txBody>
      </p:sp>
      <p:sp>
        <p:nvSpPr>
          <p:cNvPr id="52" name="TextBox 52"/>
          <p:cNvSpPr txBox="1"/>
          <p:nvPr/>
        </p:nvSpPr>
        <p:spPr>
          <a:xfrm>
            <a:off x="2577873" y="1181079"/>
            <a:ext cx="3115606" cy="374911"/>
          </a:xfrm>
          <a:prstGeom prst="rect">
            <a:avLst/>
          </a:prstGeom>
        </p:spPr>
        <p:txBody>
          <a:bodyPr lIns="0" tIns="0" rIns="0" bIns="0" rtlCol="0" anchor="t">
            <a:spAutoFit/>
          </a:bodyPr>
          <a:lstStyle/>
          <a:p>
            <a:pPr marL="0" lvl="0" indent="0" algn="l">
              <a:lnSpc>
                <a:spcPts val="3220"/>
              </a:lnSpc>
              <a:spcBef>
                <a:spcPct val="0"/>
              </a:spcBef>
            </a:pPr>
            <a:r>
              <a:rPr lang="en-US" sz="2300" b="1" dirty="0">
                <a:solidFill>
                  <a:srgbClr val="000000"/>
                </a:solidFill>
                <a:latin typeface="Arial" panose="020B0604020202020204" pitchFamily="34" charset="0"/>
                <a:ea typeface="DM Sans Bold"/>
                <a:cs typeface="Arial" panose="020B0604020202020204" pitchFamily="34" charset="0"/>
                <a:sym typeface="DM Sans Bold"/>
              </a:rPr>
              <a:t> </a:t>
            </a:r>
            <a:r>
              <a:rPr lang="ar-EG" sz="2300" b="1" dirty="0">
                <a:solidFill>
                  <a:srgbClr val="000000"/>
                </a:solidFill>
                <a:latin typeface="Arial" panose="020B0604020202020204" pitchFamily="34" charset="0"/>
                <a:ea typeface="DM Sans Bold"/>
                <a:cs typeface="Arial" panose="020B0604020202020204" pitchFamily="34" charset="0"/>
                <a:sym typeface="DM Sans Bold"/>
                <a:rtl/>
              </a:rPr>
              <a:t>وضوح أهداف الخدمة</a:t>
            </a:r>
          </a:p>
        </p:txBody>
      </p:sp>
      <p:sp>
        <p:nvSpPr>
          <p:cNvPr id="53" name="TextBox 53"/>
          <p:cNvSpPr txBox="1"/>
          <p:nvPr/>
        </p:nvSpPr>
        <p:spPr>
          <a:xfrm>
            <a:off x="6930780" y="1097259"/>
            <a:ext cx="3877354" cy="621030"/>
          </a:xfrm>
          <a:prstGeom prst="rect">
            <a:avLst/>
          </a:prstGeom>
        </p:spPr>
        <p:txBody>
          <a:bodyPr lIns="0" tIns="0" rIns="0" bIns="0" rtlCol="0" anchor="t">
            <a:spAutoFit/>
          </a:bodyPr>
          <a:lstStyle/>
          <a:p>
            <a:pPr marL="0" lvl="0" indent="0" algn="r" rtl="1">
              <a:lnSpc>
                <a:spcPts val="2519"/>
              </a:lnSpc>
              <a:spcBef>
                <a:spcPct val="0"/>
              </a:spcBef>
            </a:pPr>
            <a:r>
              <a:rPr lang="ar-EG" sz="1799" dirty="0">
                <a:solidFill>
                  <a:srgbClr val="000000"/>
                </a:solidFill>
                <a:latin typeface="Arial" panose="020B0604020202020204" pitchFamily="34" charset="0"/>
                <a:ea typeface="DM Sans"/>
                <a:cs typeface="Arial" panose="020B0604020202020204" pitchFamily="34" charset="0"/>
                <a:sym typeface="DM Sans"/>
                <a:rtl/>
              </a:rPr>
              <a:t>توحيد</a:t>
            </a:r>
            <a:r>
              <a:rPr lang="ar-EG" sz="1799" u="none" strike="noStrike" dirty="0">
                <a:solidFill>
                  <a:srgbClr val="000000"/>
                </a:solidFill>
                <a:latin typeface="Arial" panose="020B0604020202020204" pitchFamily="34" charset="0"/>
                <a:ea typeface="DM Sans"/>
                <a:cs typeface="Arial" panose="020B0604020202020204" pitchFamily="34" charset="0"/>
                <a:sym typeface="DM Sans"/>
                <a:rtl/>
              </a:rPr>
              <a:t> رحلة خدمات ما بعد البيع وتحديد مسار واضح لكل خدمة.</a:t>
            </a:r>
          </a:p>
        </p:txBody>
      </p:sp>
      <p:sp>
        <p:nvSpPr>
          <p:cNvPr id="54" name="TextBox 54"/>
          <p:cNvSpPr txBox="1"/>
          <p:nvPr/>
        </p:nvSpPr>
        <p:spPr>
          <a:xfrm>
            <a:off x="2792219" y="2665463"/>
            <a:ext cx="3115606" cy="436017"/>
          </a:xfrm>
          <a:prstGeom prst="rect">
            <a:avLst/>
          </a:prstGeom>
        </p:spPr>
        <p:txBody>
          <a:bodyPr lIns="0" tIns="0" rIns="0" bIns="0" rtlCol="0" anchor="t">
            <a:spAutoFit/>
          </a:bodyPr>
          <a:lstStyle/>
          <a:p>
            <a:pPr marL="0" lvl="0" indent="0" algn="l">
              <a:lnSpc>
                <a:spcPts val="3359"/>
              </a:lnSpc>
              <a:spcBef>
                <a:spcPct val="0"/>
              </a:spcBef>
            </a:pPr>
            <a:r>
              <a:rPr lang="ar-EG" sz="2400" b="1" dirty="0">
                <a:solidFill>
                  <a:srgbClr val="000000"/>
                </a:solidFill>
                <a:latin typeface="Arial" panose="020B0604020202020204" pitchFamily="34" charset="0"/>
                <a:ea typeface="DM Sans Bold"/>
                <a:cs typeface="Arial" panose="020B0604020202020204" pitchFamily="34" charset="0"/>
                <a:sym typeface="DM Sans Bold"/>
                <a:rtl/>
              </a:rPr>
              <a:t>تنظيم العمليات</a:t>
            </a:r>
          </a:p>
        </p:txBody>
      </p:sp>
      <p:sp>
        <p:nvSpPr>
          <p:cNvPr id="55" name="TextBox 55"/>
          <p:cNvSpPr txBox="1"/>
          <p:nvPr/>
        </p:nvSpPr>
        <p:spPr>
          <a:xfrm>
            <a:off x="6930780" y="2598153"/>
            <a:ext cx="3877354" cy="621030"/>
          </a:xfrm>
          <a:prstGeom prst="rect">
            <a:avLst/>
          </a:prstGeom>
        </p:spPr>
        <p:txBody>
          <a:bodyPr lIns="0" tIns="0" rIns="0" bIns="0" rtlCol="0" anchor="t">
            <a:spAutoFit/>
          </a:bodyPr>
          <a:lstStyle/>
          <a:p>
            <a:pPr marL="0" lvl="0" indent="0" algn="r" rtl="1">
              <a:lnSpc>
                <a:spcPts val="2519"/>
              </a:lnSpc>
              <a:spcBef>
                <a:spcPct val="0"/>
              </a:spcBef>
            </a:pPr>
            <a:r>
              <a:rPr lang="ar-EG" sz="1799" dirty="0">
                <a:solidFill>
                  <a:srgbClr val="000000"/>
                </a:solidFill>
                <a:latin typeface="Arial" panose="020B0604020202020204" pitchFamily="34" charset="0"/>
                <a:ea typeface="DM Sans"/>
                <a:cs typeface="Arial" panose="020B0604020202020204" pitchFamily="34" charset="0"/>
                <a:sym typeface="DM Sans"/>
                <a:rtl/>
              </a:rPr>
              <a:t>تنظيم</a:t>
            </a:r>
            <a:r>
              <a:rPr lang="ar-EG" sz="1799" u="none" strike="noStrike" dirty="0">
                <a:solidFill>
                  <a:srgbClr val="000000"/>
                </a:solidFill>
                <a:latin typeface="Arial" panose="020B0604020202020204" pitchFamily="34" charset="0"/>
                <a:ea typeface="DM Sans"/>
                <a:cs typeface="Arial" panose="020B0604020202020204" pitchFamily="34" charset="0"/>
                <a:sym typeface="DM Sans"/>
                <a:rtl/>
              </a:rPr>
              <a:t> المراحل والإجراءات وتحديد ما يجب تنفيذه في كل خطوة.</a:t>
            </a:r>
          </a:p>
        </p:txBody>
      </p:sp>
      <p:sp>
        <p:nvSpPr>
          <p:cNvPr id="56" name="TextBox 56"/>
          <p:cNvSpPr txBox="1"/>
          <p:nvPr/>
        </p:nvSpPr>
        <p:spPr>
          <a:xfrm>
            <a:off x="2577873" y="4166358"/>
            <a:ext cx="3115606" cy="436017"/>
          </a:xfrm>
          <a:prstGeom prst="rect">
            <a:avLst/>
          </a:prstGeom>
        </p:spPr>
        <p:txBody>
          <a:bodyPr lIns="0" tIns="0" rIns="0" bIns="0" rtlCol="0" anchor="t">
            <a:spAutoFit/>
          </a:bodyPr>
          <a:lstStyle/>
          <a:p>
            <a:pPr marL="0" lvl="0" indent="0" algn="l">
              <a:lnSpc>
                <a:spcPts val="3359"/>
              </a:lnSpc>
              <a:spcBef>
                <a:spcPct val="0"/>
              </a:spcBef>
            </a:pPr>
            <a:r>
              <a:rPr lang="ar-EG" sz="2400" b="1" dirty="0">
                <a:solidFill>
                  <a:srgbClr val="000000"/>
                </a:solidFill>
                <a:latin typeface="Arial" panose="020B0604020202020204" pitchFamily="34" charset="0"/>
                <a:ea typeface="DM Sans Bold"/>
                <a:cs typeface="Arial" panose="020B0604020202020204" pitchFamily="34" charset="0"/>
                <a:sym typeface="DM Sans Bold"/>
                <a:rtl/>
              </a:rPr>
              <a:t>رفع الكفاءة التشغيلية</a:t>
            </a:r>
          </a:p>
        </p:txBody>
      </p:sp>
      <p:sp>
        <p:nvSpPr>
          <p:cNvPr id="57" name="TextBox 57"/>
          <p:cNvSpPr txBox="1"/>
          <p:nvPr/>
        </p:nvSpPr>
        <p:spPr>
          <a:xfrm>
            <a:off x="6930780" y="4099048"/>
            <a:ext cx="3877354" cy="613566"/>
          </a:xfrm>
          <a:prstGeom prst="rect">
            <a:avLst/>
          </a:prstGeom>
        </p:spPr>
        <p:txBody>
          <a:bodyPr lIns="0" tIns="0" rIns="0" bIns="0" rtlCol="0" anchor="t">
            <a:spAutoFit/>
          </a:bodyPr>
          <a:lstStyle/>
          <a:p>
            <a:pPr marL="0" lvl="0" indent="0" algn="r" rtl="1">
              <a:lnSpc>
                <a:spcPts val="2519"/>
              </a:lnSpc>
              <a:spcBef>
                <a:spcPct val="0"/>
              </a:spcBef>
            </a:pPr>
            <a:r>
              <a:rPr lang="ar-EG" sz="1799" dirty="0">
                <a:solidFill>
                  <a:srgbClr val="000000"/>
                </a:solidFill>
                <a:latin typeface="Arial" panose="020B0604020202020204" pitchFamily="34" charset="0"/>
                <a:ea typeface="DM Sans"/>
                <a:cs typeface="Arial" panose="020B0604020202020204" pitchFamily="34" charset="0"/>
                <a:sym typeface="DM Sans"/>
                <a:rtl/>
              </a:rPr>
              <a:t>تقليل</a:t>
            </a:r>
            <a:r>
              <a:rPr lang="ar-EG" sz="1799" u="none" strike="noStrike" dirty="0">
                <a:solidFill>
                  <a:srgbClr val="000000"/>
                </a:solidFill>
                <a:latin typeface="Arial" panose="020B0604020202020204" pitchFamily="34" charset="0"/>
                <a:ea typeface="DM Sans"/>
                <a:cs typeface="Arial" panose="020B0604020202020204" pitchFamily="34" charset="0"/>
                <a:sym typeface="DM Sans"/>
                <a:rtl/>
              </a:rPr>
              <a:t> الهدر والأخطاء وتحسين استخدام الوقت والموارد.</a:t>
            </a:r>
          </a:p>
        </p:txBody>
      </p:sp>
      <p:sp>
        <p:nvSpPr>
          <p:cNvPr id="58" name="TextBox 58"/>
          <p:cNvSpPr txBox="1"/>
          <p:nvPr/>
        </p:nvSpPr>
        <p:spPr>
          <a:xfrm>
            <a:off x="2329958" y="5688805"/>
            <a:ext cx="3466590" cy="397032"/>
          </a:xfrm>
          <a:prstGeom prst="rect">
            <a:avLst/>
          </a:prstGeom>
        </p:spPr>
        <p:txBody>
          <a:bodyPr lIns="0" tIns="0" rIns="0" bIns="0" rtlCol="0" anchor="t">
            <a:spAutoFit/>
          </a:bodyPr>
          <a:lstStyle/>
          <a:p>
            <a:pPr marL="0" lvl="0" indent="0" algn="l">
              <a:lnSpc>
                <a:spcPts val="3359"/>
              </a:lnSpc>
              <a:spcBef>
                <a:spcPct val="0"/>
              </a:spcBef>
            </a:pPr>
            <a:r>
              <a:rPr lang="en-US" sz="2400" b="1" dirty="0">
                <a:solidFill>
                  <a:srgbClr val="000000"/>
                </a:solidFill>
                <a:latin typeface="Arial" panose="020B0604020202020204" pitchFamily="34" charset="0"/>
                <a:ea typeface="DM Sans Bold"/>
                <a:cs typeface="Arial" panose="020B0604020202020204" pitchFamily="34" charset="0"/>
                <a:sym typeface="DM Sans Bold"/>
              </a:rPr>
              <a:t> </a:t>
            </a:r>
            <a:r>
              <a:rPr lang="ar-EG" sz="2400" b="1" dirty="0">
                <a:solidFill>
                  <a:srgbClr val="000000"/>
                </a:solidFill>
                <a:latin typeface="Arial" panose="020B0604020202020204" pitchFamily="34" charset="0"/>
                <a:ea typeface="DM Sans Bold"/>
                <a:cs typeface="Arial" panose="020B0604020202020204" pitchFamily="34" charset="0"/>
                <a:sym typeface="DM Sans Bold"/>
                <a:rtl/>
              </a:rPr>
              <a:t>تحسين الالتزام بالمواعيد</a:t>
            </a:r>
          </a:p>
        </p:txBody>
      </p:sp>
      <p:sp>
        <p:nvSpPr>
          <p:cNvPr id="59" name="TextBox 59"/>
          <p:cNvSpPr txBox="1"/>
          <p:nvPr/>
        </p:nvSpPr>
        <p:spPr>
          <a:xfrm>
            <a:off x="6930780" y="5599942"/>
            <a:ext cx="3877354" cy="613566"/>
          </a:xfrm>
          <a:prstGeom prst="rect">
            <a:avLst/>
          </a:prstGeom>
        </p:spPr>
        <p:txBody>
          <a:bodyPr lIns="0" tIns="0" rIns="0" bIns="0" rtlCol="0" anchor="t">
            <a:spAutoFit/>
          </a:bodyPr>
          <a:lstStyle/>
          <a:p>
            <a:pPr marL="0" lvl="0" indent="0" algn="r" rtl="1">
              <a:lnSpc>
                <a:spcPts val="2519"/>
              </a:lnSpc>
              <a:spcBef>
                <a:spcPct val="0"/>
              </a:spcBef>
            </a:pPr>
            <a:r>
              <a:rPr lang="ar-EG" sz="1799" dirty="0">
                <a:solidFill>
                  <a:srgbClr val="000000"/>
                </a:solidFill>
                <a:latin typeface="Arial" panose="020B0604020202020204" pitchFamily="34" charset="0"/>
                <a:ea typeface="DM Sans"/>
                <a:cs typeface="Arial" panose="020B0604020202020204" pitchFamily="34" charset="0"/>
                <a:sym typeface="DM Sans"/>
                <a:rtl/>
              </a:rPr>
              <a:t>تنظيم</a:t>
            </a:r>
            <a:r>
              <a:rPr lang="ar-EG" sz="1799" u="none" strike="noStrike" dirty="0">
                <a:solidFill>
                  <a:srgbClr val="000000"/>
                </a:solidFill>
                <a:latin typeface="Arial" panose="020B0604020202020204" pitchFamily="34" charset="0"/>
                <a:ea typeface="DM Sans"/>
                <a:cs typeface="Arial" panose="020B0604020202020204" pitchFamily="34" charset="0"/>
                <a:sym typeface="DM Sans"/>
                <a:rtl/>
              </a:rPr>
              <a:t> الجدولة ومتابعة تنفيذ الخدمات في الوقت المحدد.</a:t>
            </a:r>
          </a:p>
        </p:txBody>
      </p:sp>
      <p:sp>
        <p:nvSpPr>
          <p:cNvPr id="60" name="TextBox 60"/>
          <p:cNvSpPr txBox="1"/>
          <p:nvPr/>
        </p:nvSpPr>
        <p:spPr>
          <a:xfrm>
            <a:off x="2577873" y="7168147"/>
            <a:ext cx="3115606" cy="436017"/>
          </a:xfrm>
          <a:prstGeom prst="rect">
            <a:avLst/>
          </a:prstGeom>
        </p:spPr>
        <p:txBody>
          <a:bodyPr lIns="0" tIns="0" rIns="0" bIns="0" rtlCol="0" anchor="t">
            <a:spAutoFit/>
          </a:bodyPr>
          <a:lstStyle/>
          <a:p>
            <a:pPr marL="0" lvl="0" indent="0" algn="l">
              <a:lnSpc>
                <a:spcPts val="3359"/>
              </a:lnSpc>
              <a:spcBef>
                <a:spcPct val="0"/>
              </a:spcBef>
            </a:pPr>
            <a:r>
              <a:rPr lang="ar-EG" sz="2400" b="1" dirty="0">
                <a:solidFill>
                  <a:srgbClr val="000000"/>
                </a:solidFill>
                <a:latin typeface="Arial" panose="020B0604020202020204" pitchFamily="34" charset="0"/>
                <a:ea typeface="DM Sans Bold"/>
                <a:cs typeface="Arial" panose="020B0604020202020204" pitchFamily="34" charset="0"/>
                <a:sym typeface="DM Sans Bold"/>
                <a:rtl/>
              </a:rPr>
              <a:t>وضوح ومتابعة أفضل</a:t>
            </a:r>
          </a:p>
        </p:txBody>
      </p:sp>
      <p:sp>
        <p:nvSpPr>
          <p:cNvPr id="61" name="TextBox 61"/>
          <p:cNvSpPr txBox="1"/>
          <p:nvPr/>
        </p:nvSpPr>
        <p:spPr>
          <a:xfrm>
            <a:off x="6930780" y="7100837"/>
            <a:ext cx="3877354" cy="1282402"/>
          </a:xfrm>
          <a:prstGeom prst="rect">
            <a:avLst/>
          </a:prstGeom>
        </p:spPr>
        <p:txBody>
          <a:bodyPr lIns="0" tIns="0" rIns="0" bIns="0" rtlCol="0" anchor="t">
            <a:spAutoFit/>
          </a:bodyPr>
          <a:lstStyle/>
          <a:p>
            <a:pPr algn="r" rtl="1">
              <a:lnSpc>
                <a:spcPts val="2519"/>
              </a:lnSpc>
            </a:pPr>
            <a:r>
              <a:rPr lang="ar-EG" sz="1799" dirty="0">
                <a:solidFill>
                  <a:srgbClr val="000000"/>
                </a:solidFill>
                <a:latin typeface="Arial" panose="020B0604020202020204" pitchFamily="34" charset="0"/>
                <a:ea typeface="DM Sans"/>
                <a:cs typeface="Arial" panose="020B0604020202020204" pitchFamily="34" charset="0"/>
                <a:sym typeface="DM Sans"/>
                <a:rtl/>
              </a:rPr>
              <a:t>معرفة</a:t>
            </a:r>
            <a:r>
              <a:rPr lang="ar-EG" sz="1799" u="none" strike="noStrike" dirty="0">
                <a:solidFill>
                  <a:srgbClr val="000000"/>
                </a:solidFill>
                <a:latin typeface="Arial" panose="020B0604020202020204" pitchFamily="34" charset="0"/>
                <a:ea typeface="DM Sans"/>
                <a:cs typeface="Arial" panose="020B0604020202020204" pitchFamily="34" charset="0"/>
                <a:sym typeface="DM Sans"/>
                <a:rtl/>
              </a:rPr>
              <a:t> حالة الطلب ومكان توقف الخدمة ومصدر المشكلة بسهولة.</a:t>
            </a:r>
          </a:p>
          <a:p>
            <a:pPr algn="r" rtl="1">
              <a:lnSpc>
                <a:spcPts val="2519"/>
              </a:lnSpc>
            </a:pPr>
            <a:endParaRPr lang="ar-EG" sz="1799" u="none" strike="noStrike" dirty="0">
              <a:solidFill>
                <a:srgbClr val="000000"/>
              </a:solidFill>
              <a:latin typeface="Arial" panose="020B0604020202020204" pitchFamily="34" charset="0"/>
              <a:ea typeface="DM Sans"/>
              <a:cs typeface="Arial" panose="020B0604020202020204" pitchFamily="34" charset="0"/>
              <a:sym typeface="DM Sans"/>
              <a:rtl/>
            </a:endParaRPr>
          </a:p>
          <a:p>
            <a:pPr algn="r" rtl="1">
              <a:lnSpc>
                <a:spcPts val="2519"/>
              </a:lnSpc>
            </a:pPr>
            <a:endParaRPr lang="ar-EG" sz="1799" u="none" strike="noStrike" dirty="0">
              <a:solidFill>
                <a:srgbClr val="000000"/>
              </a:solidFill>
              <a:latin typeface="Arial" panose="020B0604020202020204" pitchFamily="34" charset="0"/>
              <a:ea typeface="DM Sans"/>
              <a:cs typeface="Arial" panose="020B0604020202020204" pitchFamily="34" charset="0"/>
              <a:sym typeface="DM Sans"/>
              <a:rtl/>
            </a:endParaRPr>
          </a:p>
        </p:txBody>
      </p:sp>
      <p:sp>
        <p:nvSpPr>
          <p:cNvPr id="62" name="TextBox 62"/>
          <p:cNvSpPr txBox="1"/>
          <p:nvPr/>
        </p:nvSpPr>
        <p:spPr>
          <a:xfrm>
            <a:off x="2577873" y="8669041"/>
            <a:ext cx="3115606" cy="436017"/>
          </a:xfrm>
          <a:prstGeom prst="rect">
            <a:avLst/>
          </a:prstGeom>
        </p:spPr>
        <p:txBody>
          <a:bodyPr lIns="0" tIns="0" rIns="0" bIns="0" rtlCol="0" anchor="t">
            <a:spAutoFit/>
          </a:bodyPr>
          <a:lstStyle/>
          <a:p>
            <a:pPr marL="0" lvl="0" indent="0" algn="l">
              <a:lnSpc>
                <a:spcPts val="3359"/>
              </a:lnSpc>
              <a:spcBef>
                <a:spcPct val="0"/>
              </a:spcBef>
            </a:pPr>
            <a:r>
              <a:rPr lang="ar-EG" sz="2400" b="1" dirty="0">
                <a:solidFill>
                  <a:srgbClr val="000000"/>
                </a:solidFill>
                <a:latin typeface="Arial" panose="020B0604020202020204" pitchFamily="34" charset="0"/>
                <a:ea typeface="DM Sans Bold"/>
                <a:cs typeface="Arial" panose="020B0604020202020204" pitchFamily="34" charset="0"/>
                <a:sym typeface="DM Sans Bold"/>
                <a:rtl/>
              </a:rPr>
              <a:t>تحسين جودة الخدمة</a:t>
            </a:r>
          </a:p>
        </p:txBody>
      </p:sp>
      <p:sp>
        <p:nvSpPr>
          <p:cNvPr id="63" name="TextBox 63"/>
          <p:cNvSpPr txBox="1"/>
          <p:nvPr/>
        </p:nvSpPr>
        <p:spPr>
          <a:xfrm>
            <a:off x="6930780" y="8601731"/>
            <a:ext cx="3877354" cy="613566"/>
          </a:xfrm>
          <a:prstGeom prst="rect">
            <a:avLst/>
          </a:prstGeom>
        </p:spPr>
        <p:txBody>
          <a:bodyPr lIns="0" tIns="0" rIns="0" bIns="0" rtlCol="0" anchor="t">
            <a:spAutoFit/>
          </a:bodyPr>
          <a:lstStyle/>
          <a:p>
            <a:pPr marL="0" lvl="0" indent="0" algn="r" rtl="1">
              <a:lnSpc>
                <a:spcPts val="2519"/>
              </a:lnSpc>
              <a:spcBef>
                <a:spcPct val="0"/>
              </a:spcBef>
            </a:pPr>
            <a:r>
              <a:rPr lang="ar-EG" sz="1799" dirty="0">
                <a:solidFill>
                  <a:srgbClr val="000000"/>
                </a:solidFill>
                <a:latin typeface="Arial" panose="020B0604020202020204" pitchFamily="34" charset="0"/>
                <a:ea typeface="DM Sans"/>
                <a:cs typeface="Arial" panose="020B0604020202020204" pitchFamily="34" charset="0"/>
                <a:sym typeface="DM Sans"/>
                <a:rtl/>
              </a:rPr>
              <a:t>رفع</a:t>
            </a:r>
            <a:r>
              <a:rPr lang="ar-EG" sz="1799" u="none" strike="noStrike" dirty="0">
                <a:solidFill>
                  <a:srgbClr val="000000"/>
                </a:solidFill>
                <a:latin typeface="Arial" panose="020B0604020202020204" pitchFamily="34" charset="0"/>
                <a:ea typeface="DM Sans"/>
                <a:cs typeface="Arial" panose="020B0604020202020204" pitchFamily="34" charset="0"/>
                <a:sym typeface="DM Sans"/>
                <a:rtl/>
              </a:rPr>
              <a:t> مستوى الالتزام بالإجراءات وتحسين تجربة العميل حتى إغلاق الخدمة.</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52500" y="2356485"/>
            <a:ext cx="3384916" cy="1471493"/>
          </a:xfrm>
          <a:prstGeom prst="rect">
            <a:avLst/>
          </a:prstGeom>
        </p:spPr>
        <p:txBody>
          <a:bodyPr lIns="0" tIns="0" rIns="0" bIns="0" rtlCol="0" anchor="t">
            <a:spAutoFit/>
          </a:bodyPr>
          <a:lstStyle/>
          <a:p>
            <a:pPr marL="0" lvl="0" indent="0" algn="r" rtl="1">
              <a:lnSpc>
                <a:spcPts val="2939"/>
              </a:lnSpc>
              <a:spcBef>
                <a:spcPct val="0"/>
              </a:spcBef>
            </a:pPr>
            <a:r>
              <a:rPr lang="ar-EG" sz="2099" dirty="0">
                <a:solidFill>
                  <a:srgbClr val="000000"/>
                </a:solidFill>
                <a:latin typeface="Arial" panose="020B0604020202020204" pitchFamily="34" charset="0"/>
                <a:ea typeface="DM Sans"/>
                <a:cs typeface="Arial" panose="020B0604020202020204" pitchFamily="34" charset="0"/>
                <a:sym typeface="DM Sans"/>
                <a:rtl/>
              </a:rPr>
              <a:t>بعد تنظيم العمليات وتوحيد رحلة الخدمة،</a:t>
            </a:r>
            <a:r>
              <a:rPr lang="ar-EG" sz="2099" u="none" strike="noStrike" dirty="0">
                <a:solidFill>
                  <a:srgbClr val="000000"/>
                </a:solidFill>
                <a:latin typeface="Arial" panose="020B0604020202020204" pitchFamily="34" charset="0"/>
                <a:ea typeface="DM Sans"/>
                <a:cs typeface="Arial" panose="020B0604020202020204" pitchFamily="34" charset="0"/>
                <a:sym typeface="DM Sans"/>
                <a:rtl/>
              </a:rPr>
              <a:t> تأتي المرحلة التالية للاستفادة من البيانات والذكاء الاصطناعي لرفع الكفاءة ودعم القرار.</a:t>
            </a:r>
          </a:p>
        </p:txBody>
      </p:sp>
      <p:sp>
        <p:nvSpPr>
          <p:cNvPr id="3" name="Freeform 3"/>
          <p:cNvSpPr/>
          <p:nvPr/>
        </p:nvSpPr>
        <p:spPr>
          <a:xfrm>
            <a:off x="4337416" y="2941701"/>
            <a:ext cx="7950801" cy="6259449"/>
          </a:xfrm>
          <a:custGeom>
            <a:avLst/>
            <a:gdLst/>
            <a:ahLst/>
            <a:cxnLst/>
            <a:rect l="l" t="t" r="r" b="b"/>
            <a:pathLst>
              <a:path w="7950801" h="6259449">
                <a:moveTo>
                  <a:pt x="0" y="0"/>
                </a:moveTo>
                <a:lnTo>
                  <a:pt x="7950802" y="0"/>
                </a:lnTo>
                <a:lnTo>
                  <a:pt x="7950802" y="6259449"/>
                </a:lnTo>
                <a:lnTo>
                  <a:pt x="0" y="625944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a:p>
        </p:txBody>
      </p:sp>
      <p:sp>
        <p:nvSpPr>
          <p:cNvPr id="4" name="Freeform 4"/>
          <p:cNvSpPr/>
          <p:nvPr/>
        </p:nvSpPr>
        <p:spPr>
          <a:xfrm>
            <a:off x="8433412" y="3475148"/>
            <a:ext cx="3478743" cy="398474"/>
          </a:xfrm>
          <a:custGeom>
            <a:avLst/>
            <a:gdLst/>
            <a:ahLst/>
            <a:cxnLst/>
            <a:rect l="l" t="t" r="r" b="b"/>
            <a:pathLst>
              <a:path w="3478743" h="398474">
                <a:moveTo>
                  <a:pt x="0" y="0"/>
                </a:moveTo>
                <a:lnTo>
                  <a:pt x="3478742" y="0"/>
                </a:lnTo>
                <a:lnTo>
                  <a:pt x="3478742" y="398474"/>
                </a:lnTo>
                <a:lnTo>
                  <a:pt x="0" y="398474"/>
                </a:lnTo>
                <a:lnTo>
                  <a:pt x="0" y="0"/>
                </a:lnTo>
                <a:close/>
              </a:path>
            </a:pathLst>
          </a:custGeom>
          <a:blipFill>
            <a:blip r:embed="rId4">
              <a:alphaModFix amt="46000"/>
            </a:blip>
            <a:stretch>
              <a:fillRect/>
            </a:stretch>
          </a:blipFill>
        </p:spPr>
        <p:txBody>
          <a:bodyPr/>
          <a:lstStyle/>
          <a:p>
            <a:endParaRPr/>
          </a:p>
        </p:txBody>
      </p:sp>
      <p:grpSp>
        <p:nvGrpSpPr>
          <p:cNvPr id="5" name="Group 5"/>
          <p:cNvGrpSpPr/>
          <p:nvPr/>
        </p:nvGrpSpPr>
        <p:grpSpPr>
          <a:xfrm>
            <a:off x="7231022" y="2609850"/>
            <a:ext cx="596393" cy="59639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B2E4"/>
            </a:solidFill>
          </p:spPr>
        </p:sp>
        <p:sp>
          <p:nvSpPr>
            <p:cNvPr id="7" name="TextBox 7"/>
            <p:cNvSpPr txBox="1"/>
            <p:nvPr/>
          </p:nvSpPr>
          <p:spPr>
            <a:xfrm>
              <a:off x="76200" y="38100"/>
              <a:ext cx="660400" cy="698500"/>
            </a:xfrm>
            <a:prstGeom prst="rect">
              <a:avLst/>
            </a:prstGeom>
          </p:spPr>
          <p:txBody>
            <a:bodyPr lIns="50800" tIns="50800" rIns="50800" bIns="50800" rtlCol="0" anchor="ctr"/>
            <a:lstStyle/>
            <a:p>
              <a:pPr marL="0" lvl="0" indent="0" algn="ctr">
                <a:lnSpc>
                  <a:spcPts val="2520"/>
                </a:lnSpc>
                <a:spcBef>
                  <a:spcPct val="0"/>
                </a:spcBef>
              </a:pPr>
              <a:r>
                <a:rPr lang="en-US" sz="1800" b="1" u="none" strike="noStrike" dirty="0">
                  <a:solidFill>
                    <a:srgbClr val="000000"/>
                  </a:solidFill>
                  <a:latin typeface="Arial" panose="020B0604020202020204" pitchFamily="34" charset="0"/>
                  <a:ea typeface="DM Sans Bold"/>
                  <a:cs typeface="Arial" panose="020B0604020202020204" pitchFamily="34" charset="0"/>
                  <a:sym typeface="DM Sans Bold"/>
                </a:rPr>
                <a:t>01</a:t>
              </a:r>
            </a:p>
          </p:txBody>
        </p:sp>
      </p:grpSp>
      <p:grpSp>
        <p:nvGrpSpPr>
          <p:cNvPr id="8" name="Group 8"/>
          <p:cNvGrpSpPr/>
          <p:nvPr/>
        </p:nvGrpSpPr>
        <p:grpSpPr>
          <a:xfrm>
            <a:off x="6388777" y="3920618"/>
            <a:ext cx="596393" cy="59639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B2E4"/>
            </a:solidFill>
          </p:spPr>
        </p:sp>
        <p:sp>
          <p:nvSpPr>
            <p:cNvPr id="10" name="TextBox 10"/>
            <p:cNvSpPr txBox="1"/>
            <p:nvPr/>
          </p:nvSpPr>
          <p:spPr>
            <a:xfrm>
              <a:off x="76200" y="38100"/>
              <a:ext cx="660400" cy="698500"/>
            </a:xfrm>
            <a:prstGeom prst="rect">
              <a:avLst/>
            </a:prstGeom>
          </p:spPr>
          <p:txBody>
            <a:bodyPr lIns="50800" tIns="50800" rIns="50800" bIns="50800" rtlCol="0" anchor="ctr"/>
            <a:lstStyle/>
            <a:p>
              <a:pPr marL="0" lvl="0" indent="0" algn="ctr">
                <a:lnSpc>
                  <a:spcPts val="2520"/>
                </a:lnSpc>
                <a:spcBef>
                  <a:spcPct val="0"/>
                </a:spcBef>
              </a:pPr>
              <a:r>
                <a:rPr lang="en-US" sz="1800" b="1" dirty="0">
                  <a:solidFill>
                    <a:srgbClr val="000000"/>
                  </a:solidFill>
                  <a:latin typeface="Arial" panose="020B0604020202020204" pitchFamily="34" charset="0"/>
                  <a:ea typeface="DM Sans Bold"/>
                  <a:cs typeface="Arial" panose="020B0604020202020204" pitchFamily="34" charset="0"/>
                  <a:sym typeface="DM Sans Bold"/>
                </a:rPr>
                <a:t>02</a:t>
              </a:r>
            </a:p>
          </p:txBody>
        </p:sp>
      </p:grpSp>
      <p:grpSp>
        <p:nvGrpSpPr>
          <p:cNvPr id="11" name="Group 11"/>
          <p:cNvGrpSpPr/>
          <p:nvPr/>
        </p:nvGrpSpPr>
        <p:grpSpPr>
          <a:xfrm>
            <a:off x="5546532" y="5231386"/>
            <a:ext cx="596393" cy="59639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B2E4"/>
            </a:solidFill>
          </p:spPr>
        </p:sp>
        <p:sp>
          <p:nvSpPr>
            <p:cNvPr id="13" name="TextBox 13"/>
            <p:cNvSpPr txBox="1"/>
            <p:nvPr/>
          </p:nvSpPr>
          <p:spPr>
            <a:xfrm>
              <a:off x="76200" y="38100"/>
              <a:ext cx="660400" cy="698500"/>
            </a:xfrm>
            <a:prstGeom prst="rect">
              <a:avLst/>
            </a:prstGeom>
          </p:spPr>
          <p:txBody>
            <a:bodyPr lIns="50800" tIns="50800" rIns="50800" bIns="50800" rtlCol="0" anchor="ctr"/>
            <a:lstStyle/>
            <a:p>
              <a:pPr marL="0" lvl="0" indent="0" algn="ctr">
                <a:lnSpc>
                  <a:spcPts val="2520"/>
                </a:lnSpc>
                <a:spcBef>
                  <a:spcPct val="0"/>
                </a:spcBef>
              </a:pPr>
              <a:r>
                <a:rPr lang="en-US" sz="1800" b="1" dirty="0">
                  <a:solidFill>
                    <a:srgbClr val="000000"/>
                  </a:solidFill>
                  <a:latin typeface="Arial" panose="020B0604020202020204" pitchFamily="34" charset="0"/>
                  <a:ea typeface="DM Sans Bold"/>
                  <a:cs typeface="Arial" panose="020B0604020202020204" pitchFamily="34" charset="0"/>
                  <a:sym typeface="DM Sans Bold"/>
                </a:rPr>
                <a:t>03</a:t>
              </a:r>
            </a:p>
          </p:txBody>
        </p:sp>
      </p:grpSp>
      <p:grpSp>
        <p:nvGrpSpPr>
          <p:cNvPr id="14" name="Group 14"/>
          <p:cNvGrpSpPr/>
          <p:nvPr/>
        </p:nvGrpSpPr>
        <p:grpSpPr>
          <a:xfrm>
            <a:off x="4704287" y="6542155"/>
            <a:ext cx="596393" cy="59639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B2E4"/>
            </a:solidFill>
          </p:spPr>
        </p:sp>
        <p:sp>
          <p:nvSpPr>
            <p:cNvPr id="16" name="TextBox 16"/>
            <p:cNvSpPr txBox="1"/>
            <p:nvPr/>
          </p:nvSpPr>
          <p:spPr>
            <a:xfrm>
              <a:off x="76200" y="38100"/>
              <a:ext cx="660400" cy="698500"/>
            </a:xfrm>
            <a:prstGeom prst="rect">
              <a:avLst/>
            </a:prstGeom>
          </p:spPr>
          <p:txBody>
            <a:bodyPr lIns="50800" tIns="50800" rIns="50800" bIns="50800" rtlCol="0" anchor="ctr"/>
            <a:lstStyle/>
            <a:p>
              <a:pPr marL="0" lvl="0" indent="0" algn="ctr">
                <a:lnSpc>
                  <a:spcPts val="2520"/>
                </a:lnSpc>
                <a:spcBef>
                  <a:spcPct val="0"/>
                </a:spcBef>
              </a:pPr>
              <a:r>
                <a:rPr lang="en-US" sz="1800" b="1" dirty="0">
                  <a:solidFill>
                    <a:srgbClr val="000000"/>
                  </a:solidFill>
                  <a:latin typeface="Arial" panose="020B0604020202020204" pitchFamily="34" charset="0"/>
                  <a:ea typeface="DM Sans Bold"/>
                  <a:cs typeface="Arial" panose="020B0604020202020204" pitchFamily="34" charset="0"/>
                  <a:sym typeface="DM Sans Bold"/>
                </a:rPr>
                <a:t>04</a:t>
              </a:r>
            </a:p>
          </p:txBody>
        </p:sp>
      </p:grpSp>
      <p:grpSp>
        <p:nvGrpSpPr>
          <p:cNvPr id="17" name="Group 17"/>
          <p:cNvGrpSpPr/>
          <p:nvPr/>
        </p:nvGrpSpPr>
        <p:grpSpPr>
          <a:xfrm>
            <a:off x="8312817" y="3070021"/>
            <a:ext cx="3599338" cy="604364"/>
            <a:chOff x="0" y="0"/>
            <a:chExt cx="2420348" cy="406400"/>
          </a:xfrm>
        </p:grpSpPr>
        <p:sp>
          <p:nvSpPr>
            <p:cNvPr id="18" name="Freeform 18"/>
            <p:cNvSpPr/>
            <p:nvPr/>
          </p:nvSpPr>
          <p:spPr>
            <a:xfrm>
              <a:off x="0" y="0"/>
              <a:ext cx="2420348" cy="406400"/>
            </a:xfrm>
            <a:custGeom>
              <a:avLst/>
              <a:gdLst/>
              <a:ahLst/>
              <a:cxnLst/>
              <a:rect l="l" t="t" r="r" b="b"/>
              <a:pathLst>
                <a:path w="2420348" h="406400">
                  <a:moveTo>
                    <a:pt x="2217148" y="0"/>
                  </a:moveTo>
                  <a:cubicBezTo>
                    <a:pt x="2329372" y="0"/>
                    <a:pt x="2420348" y="90976"/>
                    <a:pt x="2420348" y="203200"/>
                  </a:cubicBezTo>
                  <a:cubicBezTo>
                    <a:pt x="2420348" y="315424"/>
                    <a:pt x="2329372" y="406400"/>
                    <a:pt x="2217148" y="406400"/>
                  </a:cubicBezTo>
                  <a:lnTo>
                    <a:pt x="203200" y="406400"/>
                  </a:lnTo>
                  <a:cubicBezTo>
                    <a:pt x="90976" y="406400"/>
                    <a:pt x="0" y="315424"/>
                    <a:pt x="0" y="203200"/>
                  </a:cubicBezTo>
                  <a:cubicBezTo>
                    <a:pt x="0" y="90976"/>
                    <a:pt x="90976" y="0"/>
                    <a:pt x="203200" y="0"/>
                  </a:cubicBezTo>
                  <a:close/>
                </a:path>
              </a:pathLst>
            </a:custGeom>
            <a:solidFill>
              <a:srgbClr val="FFFFFF"/>
            </a:solidFill>
            <a:ln cap="sq">
              <a:noFill/>
              <a:prstDash val="solid"/>
              <a:miter/>
            </a:ln>
          </p:spPr>
        </p:sp>
        <p:sp>
          <p:nvSpPr>
            <p:cNvPr id="19" name="TextBox 19"/>
            <p:cNvSpPr txBox="1"/>
            <p:nvPr/>
          </p:nvSpPr>
          <p:spPr>
            <a:xfrm>
              <a:off x="0" y="-47625"/>
              <a:ext cx="2420348" cy="454025"/>
            </a:xfrm>
            <a:prstGeom prst="rect">
              <a:avLst/>
            </a:prstGeom>
          </p:spPr>
          <p:txBody>
            <a:bodyPr lIns="50800" tIns="50800" rIns="50800" bIns="50800" rtlCol="0" anchor="ctr"/>
            <a:lstStyle/>
            <a:p>
              <a:pPr marL="0" lvl="0" indent="0" algn="ctr">
                <a:lnSpc>
                  <a:spcPts val="2939"/>
                </a:lnSpc>
                <a:spcBef>
                  <a:spcPct val="0"/>
                </a:spcBef>
              </a:pPr>
              <a:r>
                <a:rPr lang="ar-EG" sz="2099" b="1" dirty="0">
                  <a:solidFill>
                    <a:srgbClr val="000000"/>
                  </a:solidFill>
                  <a:latin typeface="Arial" panose="020B0604020202020204" pitchFamily="34" charset="0"/>
                  <a:ea typeface="DM Sans Bold"/>
                  <a:cs typeface="Arial" panose="020B0604020202020204" pitchFamily="34" charset="0"/>
                  <a:sym typeface="DM Sans Bold"/>
                  <a:rtl/>
                </a:rPr>
                <a:t>تطوير التقارير ومؤشرات</a:t>
              </a:r>
              <a:r>
                <a:rPr lang="ar-EG" sz="2099" b="1" u="none" strike="noStrike" dirty="0">
                  <a:solidFill>
                    <a:srgbClr val="000000"/>
                  </a:solidFill>
                  <a:latin typeface="Arial" panose="020B0604020202020204" pitchFamily="34" charset="0"/>
                  <a:ea typeface="DM Sans Bold"/>
                  <a:cs typeface="Arial" panose="020B0604020202020204" pitchFamily="34" charset="0"/>
                  <a:sym typeface="DM Sans Bold"/>
                  <a:rtl/>
                </a:rPr>
                <a:t> الأداء</a:t>
              </a:r>
            </a:p>
          </p:txBody>
        </p:sp>
      </p:grpSp>
      <p:sp>
        <p:nvSpPr>
          <p:cNvPr id="20" name="Freeform 20"/>
          <p:cNvSpPr/>
          <p:nvPr/>
        </p:nvSpPr>
        <p:spPr>
          <a:xfrm>
            <a:off x="8433412" y="4872030"/>
            <a:ext cx="3478743" cy="398474"/>
          </a:xfrm>
          <a:custGeom>
            <a:avLst/>
            <a:gdLst/>
            <a:ahLst/>
            <a:cxnLst/>
            <a:rect l="l" t="t" r="r" b="b"/>
            <a:pathLst>
              <a:path w="3478743" h="398474">
                <a:moveTo>
                  <a:pt x="0" y="0"/>
                </a:moveTo>
                <a:lnTo>
                  <a:pt x="3478742" y="0"/>
                </a:lnTo>
                <a:lnTo>
                  <a:pt x="3478742" y="398474"/>
                </a:lnTo>
                <a:lnTo>
                  <a:pt x="0" y="398474"/>
                </a:lnTo>
                <a:lnTo>
                  <a:pt x="0" y="0"/>
                </a:lnTo>
                <a:close/>
              </a:path>
            </a:pathLst>
          </a:custGeom>
          <a:blipFill>
            <a:blip r:embed="rId4">
              <a:alphaModFix amt="46000"/>
            </a:blip>
            <a:stretch>
              <a:fillRect/>
            </a:stretch>
          </a:blipFill>
        </p:spPr>
        <p:txBody>
          <a:bodyPr/>
          <a:lstStyle/>
          <a:p>
            <a:endParaRPr/>
          </a:p>
        </p:txBody>
      </p:sp>
      <p:grpSp>
        <p:nvGrpSpPr>
          <p:cNvPr id="21" name="Group 21"/>
          <p:cNvGrpSpPr/>
          <p:nvPr/>
        </p:nvGrpSpPr>
        <p:grpSpPr>
          <a:xfrm>
            <a:off x="8312817" y="4466903"/>
            <a:ext cx="3599338" cy="604364"/>
            <a:chOff x="0" y="0"/>
            <a:chExt cx="2420348" cy="406400"/>
          </a:xfrm>
        </p:grpSpPr>
        <p:sp>
          <p:nvSpPr>
            <p:cNvPr id="22" name="Freeform 22"/>
            <p:cNvSpPr/>
            <p:nvPr/>
          </p:nvSpPr>
          <p:spPr>
            <a:xfrm>
              <a:off x="0" y="0"/>
              <a:ext cx="2420348" cy="406400"/>
            </a:xfrm>
            <a:custGeom>
              <a:avLst/>
              <a:gdLst/>
              <a:ahLst/>
              <a:cxnLst/>
              <a:rect l="l" t="t" r="r" b="b"/>
              <a:pathLst>
                <a:path w="2420348" h="406400">
                  <a:moveTo>
                    <a:pt x="2217148" y="0"/>
                  </a:moveTo>
                  <a:cubicBezTo>
                    <a:pt x="2329372" y="0"/>
                    <a:pt x="2420348" y="90976"/>
                    <a:pt x="2420348" y="203200"/>
                  </a:cubicBezTo>
                  <a:cubicBezTo>
                    <a:pt x="2420348" y="315424"/>
                    <a:pt x="2329372" y="406400"/>
                    <a:pt x="2217148" y="406400"/>
                  </a:cubicBezTo>
                  <a:lnTo>
                    <a:pt x="203200" y="406400"/>
                  </a:lnTo>
                  <a:cubicBezTo>
                    <a:pt x="90976" y="406400"/>
                    <a:pt x="0" y="315424"/>
                    <a:pt x="0" y="203200"/>
                  </a:cubicBezTo>
                  <a:cubicBezTo>
                    <a:pt x="0" y="90976"/>
                    <a:pt x="90976" y="0"/>
                    <a:pt x="203200" y="0"/>
                  </a:cubicBezTo>
                  <a:close/>
                </a:path>
              </a:pathLst>
            </a:custGeom>
            <a:solidFill>
              <a:srgbClr val="FFFFFF"/>
            </a:solidFill>
            <a:ln cap="sq">
              <a:noFill/>
              <a:prstDash val="solid"/>
              <a:miter/>
            </a:ln>
          </p:spPr>
        </p:sp>
        <p:sp>
          <p:nvSpPr>
            <p:cNvPr id="23" name="TextBox 23"/>
            <p:cNvSpPr txBox="1"/>
            <p:nvPr/>
          </p:nvSpPr>
          <p:spPr>
            <a:xfrm>
              <a:off x="0" y="-47625"/>
              <a:ext cx="2420348" cy="454025"/>
            </a:xfrm>
            <a:prstGeom prst="rect">
              <a:avLst/>
            </a:prstGeom>
          </p:spPr>
          <p:txBody>
            <a:bodyPr lIns="50800" tIns="50800" rIns="50800" bIns="50800" rtlCol="0" anchor="ctr"/>
            <a:lstStyle/>
            <a:p>
              <a:pPr marL="0" lvl="0" indent="0" algn="ctr">
                <a:lnSpc>
                  <a:spcPts val="3219"/>
                </a:lnSpc>
                <a:spcBef>
                  <a:spcPct val="0"/>
                </a:spcBef>
              </a:pPr>
              <a:r>
                <a:rPr lang="en-US" sz="2299" b="1" dirty="0">
                  <a:solidFill>
                    <a:srgbClr val="000000"/>
                  </a:solidFill>
                  <a:latin typeface="Arial" panose="020B0604020202020204" pitchFamily="34" charset="0"/>
                  <a:ea typeface="DM Sans Bold"/>
                  <a:cs typeface="Arial" panose="020B0604020202020204" pitchFamily="34" charset="0"/>
                  <a:sym typeface="DM Sans Bold"/>
                </a:rPr>
                <a:t> </a:t>
              </a:r>
              <a:r>
                <a:rPr lang="ar-EG" sz="2299" b="1" dirty="0">
                  <a:solidFill>
                    <a:srgbClr val="000000"/>
                  </a:solidFill>
                  <a:latin typeface="Arial" panose="020B0604020202020204" pitchFamily="34" charset="0"/>
                  <a:ea typeface="DM Sans Bold"/>
                  <a:cs typeface="Arial" panose="020B0604020202020204" pitchFamily="34" charset="0"/>
                  <a:sym typeface="DM Sans Bold"/>
                  <a:rtl/>
                </a:rPr>
                <a:t>أتمتة وتطوير العمليات</a:t>
              </a:r>
            </a:p>
          </p:txBody>
        </p:sp>
      </p:grpSp>
      <p:sp>
        <p:nvSpPr>
          <p:cNvPr id="24" name="Freeform 24"/>
          <p:cNvSpPr/>
          <p:nvPr/>
        </p:nvSpPr>
        <p:spPr>
          <a:xfrm>
            <a:off x="8433412" y="6268912"/>
            <a:ext cx="3478743" cy="398474"/>
          </a:xfrm>
          <a:custGeom>
            <a:avLst/>
            <a:gdLst/>
            <a:ahLst/>
            <a:cxnLst/>
            <a:rect l="l" t="t" r="r" b="b"/>
            <a:pathLst>
              <a:path w="3478743" h="398474">
                <a:moveTo>
                  <a:pt x="0" y="0"/>
                </a:moveTo>
                <a:lnTo>
                  <a:pt x="3478742" y="0"/>
                </a:lnTo>
                <a:lnTo>
                  <a:pt x="3478742" y="398475"/>
                </a:lnTo>
                <a:lnTo>
                  <a:pt x="0" y="398475"/>
                </a:lnTo>
                <a:lnTo>
                  <a:pt x="0" y="0"/>
                </a:lnTo>
                <a:close/>
              </a:path>
            </a:pathLst>
          </a:custGeom>
          <a:blipFill>
            <a:blip r:embed="rId4">
              <a:alphaModFix amt="46000"/>
            </a:blip>
            <a:stretch>
              <a:fillRect/>
            </a:stretch>
          </a:blipFill>
        </p:spPr>
        <p:txBody>
          <a:bodyPr/>
          <a:lstStyle/>
          <a:p>
            <a:endParaRPr/>
          </a:p>
        </p:txBody>
      </p:sp>
      <p:grpSp>
        <p:nvGrpSpPr>
          <p:cNvPr id="25" name="Group 25"/>
          <p:cNvGrpSpPr/>
          <p:nvPr/>
        </p:nvGrpSpPr>
        <p:grpSpPr>
          <a:xfrm>
            <a:off x="8312817" y="5863786"/>
            <a:ext cx="3599338" cy="604364"/>
            <a:chOff x="0" y="0"/>
            <a:chExt cx="2420348" cy="406400"/>
          </a:xfrm>
        </p:grpSpPr>
        <p:sp>
          <p:nvSpPr>
            <p:cNvPr id="26" name="Freeform 26"/>
            <p:cNvSpPr/>
            <p:nvPr/>
          </p:nvSpPr>
          <p:spPr>
            <a:xfrm>
              <a:off x="0" y="0"/>
              <a:ext cx="2420348" cy="406400"/>
            </a:xfrm>
            <a:custGeom>
              <a:avLst/>
              <a:gdLst/>
              <a:ahLst/>
              <a:cxnLst/>
              <a:rect l="l" t="t" r="r" b="b"/>
              <a:pathLst>
                <a:path w="2420348" h="406400">
                  <a:moveTo>
                    <a:pt x="2217148" y="0"/>
                  </a:moveTo>
                  <a:cubicBezTo>
                    <a:pt x="2329372" y="0"/>
                    <a:pt x="2420348" y="90976"/>
                    <a:pt x="2420348" y="203200"/>
                  </a:cubicBezTo>
                  <a:cubicBezTo>
                    <a:pt x="2420348" y="315424"/>
                    <a:pt x="2329372" y="406400"/>
                    <a:pt x="2217148" y="406400"/>
                  </a:cubicBezTo>
                  <a:lnTo>
                    <a:pt x="203200" y="406400"/>
                  </a:lnTo>
                  <a:cubicBezTo>
                    <a:pt x="90976" y="406400"/>
                    <a:pt x="0" y="315424"/>
                    <a:pt x="0" y="203200"/>
                  </a:cubicBezTo>
                  <a:cubicBezTo>
                    <a:pt x="0" y="90976"/>
                    <a:pt x="90976" y="0"/>
                    <a:pt x="203200" y="0"/>
                  </a:cubicBezTo>
                  <a:close/>
                </a:path>
              </a:pathLst>
            </a:custGeom>
            <a:solidFill>
              <a:srgbClr val="FFFFFF"/>
            </a:solidFill>
            <a:ln cap="sq">
              <a:noFill/>
              <a:prstDash val="solid"/>
              <a:miter/>
            </a:ln>
          </p:spPr>
        </p:sp>
        <p:sp>
          <p:nvSpPr>
            <p:cNvPr id="27" name="TextBox 27"/>
            <p:cNvSpPr txBox="1"/>
            <p:nvPr/>
          </p:nvSpPr>
          <p:spPr>
            <a:xfrm>
              <a:off x="0" y="-47625"/>
              <a:ext cx="2420348" cy="454025"/>
            </a:xfrm>
            <a:prstGeom prst="rect">
              <a:avLst/>
            </a:prstGeom>
          </p:spPr>
          <p:txBody>
            <a:bodyPr lIns="50800" tIns="50800" rIns="50800" bIns="50800" rtlCol="0" anchor="ctr"/>
            <a:lstStyle/>
            <a:p>
              <a:pPr marL="0" lvl="0" indent="0" algn="ctr">
                <a:lnSpc>
                  <a:spcPts val="3219"/>
                </a:lnSpc>
                <a:spcBef>
                  <a:spcPct val="0"/>
                </a:spcBef>
              </a:pPr>
              <a:r>
                <a:rPr lang="ar-EG" sz="2299" b="1" dirty="0">
                  <a:solidFill>
                    <a:srgbClr val="000000"/>
                  </a:solidFill>
                  <a:latin typeface="Arial" panose="020B0604020202020204" pitchFamily="34" charset="0"/>
                  <a:ea typeface="DM Sans Bold"/>
                  <a:cs typeface="Arial" panose="020B0604020202020204" pitchFamily="34" charset="0"/>
                  <a:sym typeface="DM Sans Bold"/>
                  <a:rtl/>
                </a:rPr>
                <a:t>تحسين</a:t>
              </a:r>
              <a:r>
                <a:rPr lang="ar-EG" sz="2299" b="1" u="none" strike="noStrike" dirty="0">
                  <a:solidFill>
                    <a:srgbClr val="000000"/>
                  </a:solidFill>
                  <a:latin typeface="Arial" panose="020B0604020202020204" pitchFamily="34" charset="0"/>
                  <a:ea typeface="DM Sans Bold"/>
                  <a:cs typeface="Arial" panose="020B0604020202020204" pitchFamily="34" charset="0"/>
                  <a:sym typeface="DM Sans Bold"/>
                  <a:rtl/>
                </a:rPr>
                <a:t> تجربة العميل</a:t>
              </a:r>
            </a:p>
          </p:txBody>
        </p:sp>
      </p:grpSp>
      <p:sp>
        <p:nvSpPr>
          <p:cNvPr id="28" name="Freeform 28"/>
          <p:cNvSpPr/>
          <p:nvPr/>
        </p:nvSpPr>
        <p:spPr>
          <a:xfrm>
            <a:off x="8433412" y="7665795"/>
            <a:ext cx="3478743" cy="398474"/>
          </a:xfrm>
          <a:custGeom>
            <a:avLst/>
            <a:gdLst/>
            <a:ahLst/>
            <a:cxnLst/>
            <a:rect l="l" t="t" r="r" b="b"/>
            <a:pathLst>
              <a:path w="3478743" h="398474">
                <a:moveTo>
                  <a:pt x="0" y="0"/>
                </a:moveTo>
                <a:lnTo>
                  <a:pt x="3478742" y="0"/>
                </a:lnTo>
                <a:lnTo>
                  <a:pt x="3478742" y="398474"/>
                </a:lnTo>
                <a:lnTo>
                  <a:pt x="0" y="398474"/>
                </a:lnTo>
                <a:lnTo>
                  <a:pt x="0" y="0"/>
                </a:lnTo>
                <a:close/>
              </a:path>
            </a:pathLst>
          </a:custGeom>
          <a:blipFill>
            <a:blip r:embed="rId4">
              <a:alphaModFix amt="46000"/>
            </a:blip>
            <a:stretch>
              <a:fillRect/>
            </a:stretch>
          </a:blipFill>
        </p:spPr>
        <p:txBody>
          <a:bodyPr/>
          <a:lstStyle/>
          <a:p>
            <a:endParaRPr/>
          </a:p>
        </p:txBody>
      </p:sp>
      <p:grpSp>
        <p:nvGrpSpPr>
          <p:cNvPr id="29" name="Group 29"/>
          <p:cNvGrpSpPr/>
          <p:nvPr/>
        </p:nvGrpSpPr>
        <p:grpSpPr>
          <a:xfrm>
            <a:off x="8312817" y="7260668"/>
            <a:ext cx="3599338" cy="604364"/>
            <a:chOff x="0" y="0"/>
            <a:chExt cx="2420348" cy="406400"/>
          </a:xfrm>
        </p:grpSpPr>
        <p:sp>
          <p:nvSpPr>
            <p:cNvPr id="30" name="Freeform 30"/>
            <p:cNvSpPr/>
            <p:nvPr/>
          </p:nvSpPr>
          <p:spPr>
            <a:xfrm>
              <a:off x="0" y="0"/>
              <a:ext cx="2420348" cy="406400"/>
            </a:xfrm>
            <a:custGeom>
              <a:avLst/>
              <a:gdLst/>
              <a:ahLst/>
              <a:cxnLst/>
              <a:rect l="l" t="t" r="r" b="b"/>
              <a:pathLst>
                <a:path w="2420348" h="406400">
                  <a:moveTo>
                    <a:pt x="2217148" y="0"/>
                  </a:moveTo>
                  <a:cubicBezTo>
                    <a:pt x="2329372" y="0"/>
                    <a:pt x="2420348" y="90976"/>
                    <a:pt x="2420348" y="203200"/>
                  </a:cubicBezTo>
                  <a:cubicBezTo>
                    <a:pt x="2420348" y="315424"/>
                    <a:pt x="2329372" y="406400"/>
                    <a:pt x="2217148" y="406400"/>
                  </a:cubicBezTo>
                  <a:lnTo>
                    <a:pt x="203200" y="406400"/>
                  </a:lnTo>
                  <a:cubicBezTo>
                    <a:pt x="90976" y="406400"/>
                    <a:pt x="0" y="315424"/>
                    <a:pt x="0" y="203200"/>
                  </a:cubicBezTo>
                  <a:cubicBezTo>
                    <a:pt x="0" y="90976"/>
                    <a:pt x="90976" y="0"/>
                    <a:pt x="203200" y="0"/>
                  </a:cubicBezTo>
                  <a:close/>
                </a:path>
              </a:pathLst>
            </a:custGeom>
            <a:solidFill>
              <a:srgbClr val="FFFFFF"/>
            </a:solidFill>
            <a:ln cap="sq">
              <a:noFill/>
              <a:prstDash val="solid"/>
              <a:miter/>
            </a:ln>
          </p:spPr>
        </p:sp>
        <p:sp>
          <p:nvSpPr>
            <p:cNvPr id="31" name="TextBox 31"/>
            <p:cNvSpPr txBox="1"/>
            <p:nvPr/>
          </p:nvSpPr>
          <p:spPr>
            <a:xfrm>
              <a:off x="0" y="-38100"/>
              <a:ext cx="2420348" cy="444500"/>
            </a:xfrm>
            <a:prstGeom prst="rect">
              <a:avLst/>
            </a:prstGeom>
          </p:spPr>
          <p:txBody>
            <a:bodyPr lIns="50800" tIns="50800" rIns="50800" bIns="50800" rtlCol="0" anchor="ctr"/>
            <a:lstStyle/>
            <a:p>
              <a:pPr marL="0" lvl="0" indent="0" algn="ctr">
                <a:lnSpc>
                  <a:spcPts val="2659"/>
                </a:lnSpc>
                <a:spcBef>
                  <a:spcPct val="0"/>
                </a:spcBef>
              </a:pPr>
              <a:r>
                <a:rPr lang="ar-EG" sz="1899" b="1" dirty="0">
                  <a:solidFill>
                    <a:srgbClr val="000000"/>
                  </a:solidFill>
                  <a:latin typeface="Arial" panose="020B0604020202020204" pitchFamily="34" charset="0"/>
                  <a:ea typeface="DM Sans Bold"/>
                  <a:cs typeface="Arial" panose="020B0604020202020204" pitchFamily="34" charset="0"/>
                  <a:sym typeface="DM Sans Bold"/>
                  <a:rtl/>
                </a:rPr>
                <a:t>الذكاء الاصطناعي والمساعد</a:t>
              </a:r>
              <a:r>
                <a:rPr lang="ar-EG" sz="1899" b="1" u="none" strike="noStrike" dirty="0">
                  <a:solidFill>
                    <a:srgbClr val="000000"/>
                  </a:solidFill>
                  <a:latin typeface="Arial" panose="020B0604020202020204" pitchFamily="34" charset="0"/>
                  <a:ea typeface="DM Sans Bold"/>
                  <a:cs typeface="Arial" panose="020B0604020202020204" pitchFamily="34" charset="0"/>
                  <a:sym typeface="DM Sans Bold"/>
                  <a:rtl/>
                </a:rPr>
                <a:t> الذكي</a:t>
              </a:r>
            </a:p>
          </p:txBody>
        </p:sp>
      </p:grpSp>
      <p:sp>
        <p:nvSpPr>
          <p:cNvPr id="32" name="TextBox 32"/>
          <p:cNvSpPr txBox="1"/>
          <p:nvPr/>
        </p:nvSpPr>
        <p:spPr>
          <a:xfrm>
            <a:off x="12409456" y="3078198"/>
            <a:ext cx="4327587" cy="621030"/>
          </a:xfrm>
          <a:prstGeom prst="rect">
            <a:avLst/>
          </a:prstGeom>
        </p:spPr>
        <p:txBody>
          <a:bodyPr lIns="0" tIns="0" rIns="0" bIns="0" rtlCol="0" anchor="t">
            <a:spAutoFit/>
          </a:bodyPr>
          <a:lstStyle/>
          <a:p>
            <a:pPr marL="0" lvl="0" indent="0" algn="r" rtl="1">
              <a:lnSpc>
                <a:spcPts val="2519"/>
              </a:lnSpc>
              <a:spcBef>
                <a:spcPct val="0"/>
              </a:spcBef>
            </a:pPr>
            <a:r>
              <a:rPr lang="ar-EG" sz="1799" dirty="0">
                <a:solidFill>
                  <a:srgbClr val="000000"/>
                </a:solidFill>
                <a:latin typeface="Arial" panose="020B0604020202020204" pitchFamily="34" charset="0"/>
                <a:ea typeface="DM Sans"/>
                <a:cs typeface="Arial" panose="020B0604020202020204" pitchFamily="34" charset="0"/>
                <a:sym typeface="DM Sans"/>
                <a:rtl/>
              </a:rPr>
              <a:t>بناء</a:t>
            </a:r>
            <a:r>
              <a:rPr lang="ar-EG" sz="1799" u="none" strike="noStrike" dirty="0">
                <a:solidFill>
                  <a:srgbClr val="000000"/>
                </a:solidFill>
                <a:latin typeface="Arial" panose="020B0604020202020204" pitchFamily="34" charset="0"/>
                <a:ea typeface="DM Sans"/>
                <a:cs typeface="Arial" panose="020B0604020202020204" pitchFamily="34" charset="0"/>
                <a:sym typeface="DM Sans"/>
                <a:rtl/>
              </a:rPr>
              <a:t> تقارير أوضح و</a:t>
            </a:r>
            <a:r>
              <a:rPr lang="en-US" sz="1799" u="none" strike="noStrike" dirty="0">
                <a:solidFill>
                  <a:srgbClr val="000000"/>
                </a:solidFill>
                <a:latin typeface="Arial" panose="020B0604020202020204" pitchFamily="34" charset="0"/>
                <a:ea typeface="DM Sans"/>
                <a:cs typeface="Arial" panose="020B0604020202020204" pitchFamily="34" charset="0"/>
                <a:sym typeface="DM Sans"/>
              </a:rPr>
              <a:t>KPIs</a:t>
            </a:r>
            <a:r>
              <a:rPr lang="ar-EG" sz="1799" u="none" strike="noStrike" dirty="0">
                <a:solidFill>
                  <a:srgbClr val="000000"/>
                </a:solidFill>
                <a:latin typeface="Arial" panose="020B0604020202020204" pitchFamily="34" charset="0"/>
                <a:ea typeface="DM Sans"/>
                <a:cs typeface="Arial" panose="020B0604020202020204" pitchFamily="34" charset="0"/>
                <a:sym typeface="DM Sans"/>
                <a:rtl/>
              </a:rPr>
              <a:t> تساعد الإدارة على متابعة أداء الخدمات والفرق واتخاذ القرار بسرعة أكبر.</a:t>
            </a:r>
          </a:p>
        </p:txBody>
      </p:sp>
      <p:sp>
        <p:nvSpPr>
          <p:cNvPr id="33" name="TextBox 33"/>
          <p:cNvSpPr txBox="1"/>
          <p:nvPr/>
        </p:nvSpPr>
        <p:spPr>
          <a:xfrm>
            <a:off x="12409456" y="4475080"/>
            <a:ext cx="4327587" cy="626967"/>
          </a:xfrm>
          <a:prstGeom prst="rect">
            <a:avLst/>
          </a:prstGeom>
        </p:spPr>
        <p:txBody>
          <a:bodyPr lIns="0" tIns="0" rIns="0" bIns="0" rtlCol="0" anchor="t">
            <a:spAutoFit/>
          </a:bodyPr>
          <a:lstStyle/>
          <a:p>
            <a:pPr marL="0" lvl="0" indent="0" algn="r" rtl="1">
              <a:lnSpc>
                <a:spcPts val="2519"/>
              </a:lnSpc>
              <a:spcBef>
                <a:spcPct val="0"/>
              </a:spcBef>
            </a:pPr>
            <a:r>
              <a:rPr lang="ar-EG" sz="1799" dirty="0">
                <a:solidFill>
                  <a:srgbClr val="000000"/>
                </a:solidFill>
                <a:latin typeface="Arial" panose="020B0604020202020204" pitchFamily="34" charset="0"/>
                <a:ea typeface="DM Sans"/>
                <a:cs typeface="Arial" panose="020B0604020202020204" pitchFamily="34" charset="0"/>
                <a:sym typeface="DM Sans"/>
                <a:rtl/>
              </a:rPr>
              <a:t>أتمتة</a:t>
            </a:r>
            <a:r>
              <a:rPr lang="ar-EG" sz="1799" u="none" strike="noStrike" dirty="0">
                <a:solidFill>
                  <a:srgbClr val="000000"/>
                </a:solidFill>
                <a:latin typeface="Arial" panose="020B0604020202020204" pitchFamily="34" charset="0"/>
                <a:ea typeface="DM Sans"/>
                <a:cs typeface="Arial" panose="020B0604020202020204" pitchFamily="34" charset="0"/>
                <a:sym typeface="DM Sans"/>
                <a:rtl/>
              </a:rPr>
              <a:t> مراحل إضافية، استكمال تطوير باقي خدمات ما بعد البيع، وتحسين متابعة تنفيذ الطلبات.</a:t>
            </a:r>
          </a:p>
        </p:txBody>
      </p:sp>
      <p:sp>
        <p:nvSpPr>
          <p:cNvPr id="34" name="TextBox 34"/>
          <p:cNvSpPr txBox="1"/>
          <p:nvPr/>
        </p:nvSpPr>
        <p:spPr>
          <a:xfrm>
            <a:off x="12409456" y="5871963"/>
            <a:ext cx="4327587" cy="626967"/>
          </a:xfrm>
          <a:prstGeom prst="rect">
            <a:avLst/>
          </a:prstGeom>
        </p:spPr>
        <p:txBody>
          <a:bodyPr lIns="0" tIns="0" rIns="0" bIns="0" rtlCol="0" anchor="t">
            <a:spAutoFit/>
          </a:bodyPr>
          <a:lstStyle/>
          <a:p>
            <a:pPr marL="0" lvl="0" indent="0" algn="r" rtl="1">
              <a:lnSpc>
                <a:spcPts val="2519"/>
              </a:lnSpc>
              <a:spcBef>
                <a:spcPct val="0"/>
              </a:spcBef>
            </a:pPr>
            <a:r>
              <a:rPr lang="ar-EG" sz="1799" dirty="0">
                <a:solidFill>
                  <a:srgbClr val="000000"/>
                </a:solidFill>
                <a:latin typeface="Arial" panose="020B0604020202020204" pitchFamily="34" charset="0"/>
                <a:ea typeface="DM Sans"/>
                <a:cs typeface="Arial" panose="020B0604020202020204" pitchFamily="34" charset="0"/>
                <a:sym typeface="DM Sans"/>
                <a:rtl/>
              </a:rPr>
              <a:t>تطوير</a:t>
            </a:r>
            <a:r>
              <a:rPr lang="ar-EG" sz="1799" u="none" strike="noStrike" dirty="0">
                <a:solidFill>
                  <a:srgbClr val="000000"/>
                </a:solidFill>
                <a:latin typeface="Arial" panose="020B0604020202020204" pitchFamily="34" charset="0"/>
                <a:ea typeface="DM Sans"/>
                <a:cs typeface="Arial" panose="020B0604020202020204" pitchFamily="34" charset="0"/>
                <a:sym typeface="DM Sans"/>
                <a:rtl/>
              </a:rPr>
              <a:t> تقييم العملاء، تحسين تجربة الحجز والمتابعة، والاستفادة من ملاحظات العملاء في تحسين الخدمة.</a:t>
            </a:r>
          </a:p>
        </p:txBody>
      </p:sp>
      <p:sp>
        <p:nvSpPr>
          <p:cNvPr id="35" name="TextBox 35"/>
          <p:cNvSpPr txBox="1"/>
          <p:nvPr/>
        </p:nvSpPr>
        <p:spPr>
          <a:xfrm>
            <a:off x="12409456" y="7268845"/>
            <a:ext cx="4327587" cy="1268168"/>
          </a:xfrm>
          <a:prstGeom prst="rect">
            <a:avLst/>
          </a:prstGeom>
        </p:spPr>
        <p:txBody>
          <a:bodyPr lIns="0" tIns="0" rIns="0" bIns="0" rtlCol="0" anchor="t">
            <a:spAutoFit/>
          </a:bodyPr>
          <a:lstStyle/>
          <a:p>
            <a:pPr marL="0" lvl="0" indent="0" algn="r" rtl="1">
              <a:lnSpc>
                <a:spcPts val="2519"/>
              </a:lnSpc>
              <a:spcBef>
                <a:spcPct val="0"/>
              </a:spcBef>
            </a:pPr>
            <a:r>
              <a:rPr lang="ar-EG" sz="1799" dirty="0">
                <a:solidFill>
                  <a:srgbClr val="000000"/>
                </a:solidFill>
                <a:latin typeface="Arial" panose="020B0604020202020204" pitchFamily="34" charset="0"/>
                <a:ea typeface="DM Sans"/>
                <a:cs typeface="Arial" panose="020B0604020202020204" pitchFamily="34" charset="0"/>
                <a:sym typeface="DM Sans"/>
                <a:rtl/>
              </a:rPr>
              <a:t>توسيع</a:t>
            </a:r>
            <a:r>
              <a:rPr lang="ar-EG" sz="1799" u="none" strike="noStrike" dirty="0">
                <a:solidFill>
                  <a:srgbClr val="000000"/>
                </a:solidFill>
                <a:latin typeface="Arial" panose="020B0604020202020204" pitchFamily="34" charset="0"/>
                <a:ea typeface="DM Sans"/>
                <a:cs typeface="Arial" panose="020B0604020202020204" pitchFamily="34" charset="0"/>
                <a:sym typeface="DM Sans"/>
                <a:rtl/>
              </a:rPr>
              <a:t> المساعد الذكي الحالي ليستفيد من بيانات الخدمات والتذاكر والمحادثات، ويساعد الموظف في معرفة الإجراء المناسب، تلخيص الحالات، واكتشاف الأنماط والمشاكل المتكررة.</a:t>
            </a:r>
          </a:p>
        </p:txBody>
      </p:sp>
      <p:sp>
        <p:nvSpPr>
          <p:cNvPr id="36" name="TextBox 36"/>
          <p:cNvSpPr txBox="1"/>
          <p:nvPr/>
        </p:nvSpPr>
        <p:spPr>
          <a:xfrm>
            <a:off x="13083120" y="688657"/>
            <a:ext cx="4387089" cy="585930"/>
          </a:xfrm>
          <a:prstGeom prst="rect">
            <a:avLst/>
          </a:prstGeom>
        </p:spPr>
        <p:txBody>
          <a:bodyPr lIns="0" tIns="0" rIns="0" bIns="0" rtlCol="0" anchor="t">
            <a:spAutoFit/>
          </a:bodyPr>
          <a:lstStyle/>
          <a:p>
            <a:pPr algn="r" rtl="1">
              <a:lnSpc>
                <a:spcPts val="5039"/>
              </a:lnSpc>
              <a:spcBef>
                <a:spcPct val="0"/>
              </a:spcBef>
            </a:pPr>
            <a:r>
              <a:rPr lang="ar-EG" sz="3599" b="1" dirty="0">
                <a:solidFill>
                  <a:srgbClr val="000000"/>
                </a:solidFill>
                <a:latin typeface="Arial" panose="020B0604020202020204" pitchFamily="34" charset="0"/>
                <a:ea typeface="DM Sans Bold"/>
                <a:cs typeface="Arial" panose="020B0604020202020204" pitchFamily="34" charset="0"/>
                <a:sym typeface="DM Sans Bold"/>
                <a:rtl/>
              </a:rPr>
              <a:t>المرحلة القادمة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170</TotalTime>
  <Words>2204</Words>
  <Application>Microsoft Office PowerPoint</Application>
  <PresentationFormat>Custom</PresentationFormat>
  <Paragraphs>514</Paragraphs>
  <Slides>18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Glacial Indifference</vt:lpstr>
      <vt:lpstr>Poppins</vt:lpstr>
      <vt:lpstr>Public Sans Ultra-Bold</vt:lpstr>
      <vt:lpstr>Arial</vt:lpstr>
      <vt:lpstr>Glacial Indifference Bold</vt:lpstr>
      <vt:lpstr>Poppins Medium</vt:lpstr>
      <vt:lpstr>Poppins Semi-Bold</vt:lpstr>
      <vt:lpstr>Calibri</vt:lpstr>
      <vt:lpstr>Segoe UI Emoji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Modern Company Profile Presentation</dc:title>
  <dc:creator>محمد فادي مهدي</dc:creator>
  <cp:lastModifiedBy>Mohd Fadi Almahdi</cp:lastModifiedBy>
  <cp:revision>27</cp:revision>
  <dcterms:created xsi:type="dcterms:W3CDTF">2006-08-16T00:00:00Z</dcterms:created>
  <dcterms:modified xsi:type="dcterms:W3CDTF">2026-09-27T06:33:46Z</dcterms:modified>
  <dc:identifier>DAHVPV6N8Pk</dc:identifier>
</cp:coreProperties>
</file>