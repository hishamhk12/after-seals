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2" r:id="rId14"/>
    <p:sldId id="260" r:id="rId15"/>
    <p:sldId id="261" r:id="rId16"/>
    <p:sldId id="262" r:id="rId17"/>
  </p:sldIdLst>
  <p:sldSz cx="18288000" cy="10287000"/>
  <p:notesSz cx="6858000" cy="9144000"/>
  <p:embeddedFontLst>
    <p:embeddedFont>
      <p:font typeface="Glacial Indifference" panose="020B0604020202020204" charset="0"/>
      <p:regular r:id="rId18"/>
    </p:embeddedFont>
    <p:embeddedFont>
      <p:font typeface="Poppins Semi-Bold" panose="020B0604020202020204" charset="0"/>
      <p:regular r:id="rId19"/>
    </p:embeddedFont>
    <p:embeddedFont>
      <p:font typeface="DM Sans Bold" panose="020B0604020202020204" charset="0"/>
      <p:regular r:id="rId20"/>
    </p:embeddedFont>
    <p:embeddedFont>
      <p:font typeface="Poppins Medium" panose="020B0604020202020204" charset="0"/>
      <p:regular r:id="rId21"/>
    </p:embeddedFont>
    <p:embeddedFont>
      <p:font typeface="Segoe UI Emoji" panose="020B0502040204020203" pitchFamily="34" charset="0"/>
      <p:regular r:id="rId22"/>
    </p:embeddedFont>
    <p:embeddedFont>
      <p:font typeface="Glacial Indifference Bold" panose="020B0604020202020204" charset="0"/>
      <p:regular r:id="rId23"/>
    </p:embeddedFont>
    <p:embeddedFont>
      <p:font typeface="Segoe UI" panose="020B0502040204020203" pitchFamily="34" charset="0"/>
      <p:regular r:id="rId24"/>
      <p:bold r:id="rId25"/>
      <p:italic r:id="rId26"/>
      <p:boldItalic r:id="rId27"/>
    </p:embeddedFont>
    <p:embeddedFont>
      <p:font typeface="Public Sans Ultra-Bold" panose="020B0604020202020204" charset="0"/>
      <p:regular r:id="rId28"/>
    </p:embeddedFont>
    <p:embeddedFont>
      <p:font typeface="Public Sans" panose="020B0604020202020204" charset="0"/>
      <p:regular r:id="rId29"/>
    </p:embeddedFont>
    <p:embeddedFont>
      <p:font typeface="Poppins" panose="020B0604020202020204" charset="0"/>
      <p:regular r:id="rId30"/>
    </p:embeddedFont>
    <p:embeddedFont>
      <p:font typeface="Public Sans Bold" panose="020B0604020202020204" charset="0"/>
      <p:regular r:id="rId31"/>
    </p:embeddedFont>
    <p:embeddedFont>
      <p:font typeface="Calibri" panose="020F0502020204030204" pitchFamily="34" charset="0"/>
      <p:regular r:id="rId32"/>
      <p:bold r:id="rId33"/>
    </p:embeddedFont>
    <p:embeddedFont>
      <p:font typeface="DM Sans"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4.png"/><Relationship Id="rId18" Type="http://schemas.openxmlformats.org/officeDocument/2006/relationships/image" Target="../media/image30.svg"/><Relationship Id="rId26" Type="http://schemas.openxmlformats.org/officeDocument/2006/relationships/image" Target="../media/image38.svg"/><Relationship Id="rId3" Type="http://schemas.openxmlformats.org/officeDocument/2006/relationships/image" Target="../media/image19.png"/><Relationship Id="rId21" Type="http://schemas.openxmlformats.org/officeDocument/2006/relationships/image" Target="../media/image28.png"/><Relationship Id="rId7" Type="http://schemas.openxmlformats.org/officeDocument/2006/relationships/image" Target="../media/image21.png"/><Relationship Id="rId12" Type="http://schemas.openxmlformats.org/officeDocument/2006/relationships/image" Target="../media/image24.svg"/><Relationship Id="rId17" Type="http://schemas.openxmlformats.org/officeDocument/2006/relationships/image" Target="../media/image26.png"/><Relationship Id="rId25" Type="http://schemas.openxmlformats.org/officeDocument/2006/relationships/image" Target="../media/image30.png"/><Relationship Id="rId2" Type="http://schemas.openxmlformats.org/officeDocument/2006/relationships/image" Target="../media/image16.png"/><Relationship Id="rId16" Type="http://schemas.openxmlformats.org/officeDocument/2006/relationships/image" Target="../media/image28.svg"/><Relationship Id="rId20" Type="http://schemas.openxmlformats.org/officeDocument/2006/relationships/image" Target="../media/image32.svg"/><Relationship Id="rId1" Type="http://schemas.openxmlformats.org/officeDocument/2006/relationships/slideLayout" Target="../slideLayouts/slideLayout7.xml"/><Relationship Id="rId6" Type="http://schemas.openxmlformats.org/officeDocument/2006/relationships/image" Target="../media/image18.svg"/><Relationship Id="rId11" Type="http://schemas.openxmlformats.org/officeDocument/2006/relationships/image" Target="../media/image23.png"/><Relationship Id="rId24" Type="http://schemas.openxmlformats.org/officeDocument/2006/relationships/image" Target="../media/image36.svg"/><Relationship Id="rId5" Type="http://schemas.openxmlformats.org/officeDocument/2006/relationships/image" Target="../media/image20.png"/><Relationship Id="rId15" Type="http://schemas.openxmlformats.org/officeDocument/2006/relationships/image" Target="../media/image25.png"/><Relationship Id="rId23" Type="http://schemas.openxmlformats.org/officeDocument/2006/relationships/image" Target="../media/image29.png"/><Relationship Id="rId10" Type="http://schemas.openxmlformats.org/officeDocument/2006/relationships/image" Target="../media/image22.svg"/><Relationship Id="rId19" Type="http://schemas.openxmlformats.org/officeDocument/2006/relationships/image" Target="../media/image27.png"/><Relationship Id="rId4" Type="http://schemas.openxmlformats.org/officeDocument/2006/relationships/image" Target="../media/image16.svg"/><Relationship Id="rId9" Type="http://schemas.openxmlformats.org/officeDocument/2006/relationships/image" Target="../media/image22.png"/><Relationship Id="rId14" Type="http://schemas.openxmlformats.org/officeDocument/2006/relationships/image" Target="../media/image26.svg"/><Relationship Id="rId22" Type="http://schemas.openxmlformats.org/officeDocument/2006/relationships/image" Target="../media/image34.svg"/></Relationships>
</file>

<file path=ppt/slides/_rels/slide1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31711" y="-290778"/>
            <a:ext cx="2173071" cy="3519029"/>
            <a:chOff x="0" y="0"/>
            <a:chExt cx="1212880" cy="1964114"/>
          </a:xfrm>
        </p:grpSpPr>
        <p:sp>
          <p:nvSpPr>
            <p:cNvPr id="3" name="Freeform 3"/>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4" name="TextBox 4"/>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5" name="Group 5"/>
          <p:cNvGrpSpPr/>
          <p:nvPr/>
        </p:nvGrpSpPr>
        <p:grpSpPr>
          <a:xfrm rot="-5400000">
            <a:off x="15605893" y="1957062"/>
            <a:ext cx="2173071" cy="3997386"/>
            <a:chOff x="0" y="0"/>
            <a:chExt cx="1212880" cy="2231105"/>
          </a:xfrm>
        </p:grpSpPr>
        <p:sp>
          <p:nvSpPr>
            <p:cNvPr id="6" name="Freeform 6"/>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7" name="TextBox 7"/>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8" name="Group 8"/>
          <p:cNvGrpSpPr/>
          <p:nvPr/>
        </p:nvGrpSpPr>
        <p:grpSpPr>
          <a:xfrm>
            <a:off x="13607200" y="-290778"/>
            <a:ext cx="2173071" cy="3519029"/>
            <a:chOff x="0" y="0"/>
            <a:chExt cx="1212880" cy="1964114"/>
          </a:xfrm>
        </p:grpSpPr>
        <p:sp>
          <p:nvSpPr>
            <p:cNvPr id="9" name="Freeform 9"/>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0" name="TextBox 10"/>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11" name="Group 11"/>
          <p:cNvGrpSpPr/>
          <p:nvPr/>
        </p:nvGrpSpPr>
        <p:grpSpPr>
          <a:xfrm rot="-5400000">
            <a:off x="15605893" y="4332552"/>
            <a:ext cx="2173071" cy="3997386"/>
            <a:chOff x="0" y="0"/>
            <a:chExt cx="1212880" cy="2231105"/>
          </a:xfrm>
        </p:grpSpPr>
        <p:sp>
          <p:nvSpPr>
            <p:cNvPr id="12" name="Freeform 12"/>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3" name="TextBox 13"/>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14" name="Group 14"/>
          <p:cNvGrpSpPr/>
          <p:nvPr/>
        </p:nvGrpSpPr>
        <p:grpSpPr>
          <a:xfrm>
            <a:off x="13607200" y="5870843"/>
            <a:ext cx="2173071" cy="4838003"/>
            <a:chOff x="0" y="0"/>
            <a:chExt cx="1212880" cy="2700287"/>
          </a:xfrm>
        </p:grpSpPr>
        <p:sp>
          <p:nvSpPr>
            <p:cNvPr id="15" name="Freeform 15"/>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6" name="TextBox 16"/>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17" name="Group 17"/>
          <p:cNvGrpSpPr/>
          <p:nvPr/>
        </p:nvGrpSpPr>
        <p:grpSpPr>
          <a:xfrm>
            <a:off x="11231711" y="5870843"/>
            <a:ext cx="2173071" cy="4838003"/>
            <a:chOff x="0" y="0"/>
            <a:chExt cx="1212880" cy="2700287"/>
          </a:xfrm>
        </p:grpSpPr>
        <p:sp>
          <p:nvSpPr>
            <p:cNvPr id="18" name="Freeform 18"/>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9" name="TextBox 19"/>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20" name="Group 20"/>
          <p:cNvGrpSpPr/>
          <p:nvPr/>
        </p:nvGrpSpPr>
        <p:grpSpPr>
          <a:xfrm rot="5400000">
            <a:off x="5867450" y="405959"/>
            <a:ext cx="2173071" cy="11850571"/>
            <a:chOff x="0" y="0"/>
            <a:chExt cx="1212880" cy="6614288"/>
          </a:xfrm>
        </p:grpSpPr>
        <p:sp>
          <p:nvSpPr>
            <p:cNvPr id="21" name="Freeform 21"/>
            <p:cNvSpPr/>
            <p:nvPr/>
          </p:nvSpPr>
          <p:spPr>
            <a:xfrm>
              <a:off x="0" y="0"/>
              <a:ext cx="1212880" cy="6614289"/>
            </a:xfrm>
            <a:custGeom>
              <a:avLst/>
              <a:gdLst/>
              <a:ahLst/>
              <a:cxnLst/>
              <a:rect l="l" t="t" r="r" b="b"/>
              <a:pathLst>
                <a:path w="1212880" h="6614289">
                  <a:moveTo>
                    <a:pt x="89067" y="0"/>
                  </a:moveTo>
                  <a:lnTo>
                    <a:pt x="1123813" y="0"/>
                  </a:lnTo>
                  <a:cubicBezTo>
                    <a:pt x="1147435" y="0"/>
                    <a:pt x="1170090" y="9384"/>
                    <a:pt x="1186793" y="26087"/>
                  </a:cubicBezTo>
                  <a:cubicBezTo>
                    <a:pt x="1203496" y="42790"/>
                    <a:pt x="1212880" y="65445"/>
                    <a:pt x="1212880" y="89067"/>
                  </a:cubicBezTo>
                  <a:lnTo>
                    <a:pt x="1212880" y="6525222"/>
                  </a:lnTo>
                  <a:cubicBezTo>
                    <a:pt x="1212880" y="6548844"/>
                    <a:pt x="1203496" y="6571498"/>
                    <a:pt x="1186793" y="6588202"/>
                  </a:cubicBezTo>
                  <a:cubicBezTo>
                    <a:pt x="1170090" y="6604905"/>
                    <a:pt x="1147435" y="6614289"/>
                    <a:pt x="1123813" y="6614289"/>
                  </a:cubicBezTo>
                  <a:lnTo>
                    <a:pt x="89067" y="6614289"/>
                  </a:lnTo>
                  <a:cubicBezTo>
                    <a:pt x="65445" y="6614289"/>
                    <a:pt x="42790" y="6604905"/>
                    <a:pt x="26087" y="6588202"/>
                  </a:cubicBezTo>
                  <a:cubicBezTo>
                    <a:pt x="9384" y="6571498"/>
                    <a:pt x="0" y="6548844"/>
                    <a:pt x="0" y="6525222"/>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22" name="TextBox 22"/>
            <p:cNvSpPr txBox="1"/>
            <p:nvPr/>
          </p:nvSpPr>
          <p:spPr>
            <a:xfrm>
              <a:off x="0" y="-66675"/>
              <a:ext cx="1212880" cy="6680963"/>
            </a:xfrm>
            <a:prstGeom prst="rect">
              <a:avLst/>
            </a:prstGeom>
          </p:spPr>
          <p:txBody>
            <a:bodyPr lIns="50800" tIns="50800" rIns="50800" bIns="50800" rtlCol="0" anchor="ctr"/>
            <a:lstStyle/>
            <a:p>
              <a:pPr algn="ctr">
                <a:lnSpc>
                  <a:spcPts val="3005"/>
                </a:lnSpc>
              </a:pPr>
              <a:endParaRPr/>
            </a:p>
          </p:txBody>
        </p:sp>
      </p:grpSp>
      <p:grpSp>
        <p:nvGrpSpPr>
          <p:cNvPr id="23" name="Group 23"/>
          <p:cNvGrpSpPr/>
          <p:nvPr/>
        </p:nvGrpSpPr>
        <p:grpSpPr>
          <a:xfrm>
            <a:off x="1406422" y="5602925"/>
            <a:ext cx="1456263" cy="1456640"/>
            <a:chOff x="0" y="0"/>
            <a:chExt cx="812800" cy="813010"/>
          </a:xfrm>
        </p:grpSpPr>
        <p:sp>
          <p:nvSpPr>
            <p:cNvPr id="24" name="Freeform 24"/>
            <p:cNvSpPr/>
            <p:nvPr/>
          </p:nvSpPr>
          <p:spPr>
            <a:xfrm>
              <a:off x="0" y="0"/>
              <a:ext cx="812800" cy="813010"/>
            </a:xfrm>
            <a:custGeom>
              <a:avLst/>
              <a:gdLst/>
              <a:ahLst/>
              <a:cxnLst/>
              <a:rect l="l" t="t" r="r" b="b"/>
              <a:pathLst>
                <a:path w="812800" h="813010">
                  <a:moveTo>
                    <a:pt x="132907" y="0"/>
                  </a:moveTo>
                  <a:lnTo>
                    <a:pt x="679893" y="0"/>
                  </a:lnTo>
                  <a:cubicBezTo>
                    <a:pt x="715142" y="0"/>
                    <a:pt x="748947" y="14003"/>
                    <a:pt x="773872" y="38928"/>
                  </a:cubicBezTo>
                  <a:cubicBezTo>
                    <a:pt x="798797" y="63853"/>
                    <a:pt x="812800" y="97658"/>
                    <a:pt x="812800" y="132907"/>
                  </a:cubicBezTo>
                  <a:lnTo>
                    <a:pt x="812800" y="680103"/>
                  </a:lnTo>
                  <a:cubicBezTo>
                    <a:pt x="812800" y="715352"/>
                    <a:pt x="798797" y="749158"/>
                    <a:pt x="773872" y="774083"/>
                  </a:cubicBezTo>
                  <a:cubicBezTo>
                    <a:pt x="748947" y="799008"/>
                    <a:pt x="715142" y="813010"/>
                    <a:pt x="679893" y="813010"/>
                  </a:cubicBezTo>
                  <a:lnTo>
                    <a:pt x="132907" y="813010"/>
                  </a:lnTo>
                  <a:cubicBezTo>
                    <a:pt x="97658" y="813010"/>
                    <a:pt x="63853" y="799008"/>
                    <a:pt x="38928" y="774083"/>
                  </a:cubicBezTo>
                  <a:cubicBezTo>
                    <a:pt x="14003" y="749158"/>
                    <a:pt x="0" y="715352"/>
                    <a:pt x="0" y="680103"/>
                  </a:cubicBezTo>
                  <a:lnTo>
                    <a:pt x="0" y="132907"/>
                  </a:lnTo>
                  <a:cubicBezTo>
                    <a:pt x="0" y="97658"/>
                    <a:pt x="14003" y="63853"/>
                    <a:pt x="38928" y="38928"/>
                  </a:cubicBezTo>
                  <a:cubicBezTo>
                    <a:pt x="63853" y="14003"/>
                    <a:pt x="97658" y="0"/>
                    <a:pt x="132907" y="0"/>
                  </a:cubicBezTo>
                  <a:close/>
                </a:path>
              </a:pathLst>
            </a:custGeom>
            <a:solidFill>
              <a:srgbClr val="FFFFFF"/>
            </a:solidFill>
          </p:spPr>
        </p:sp>
        <p:sp>
          <p:nvSpPr>
            <p:cNvPr id="25" name="TextBox 25"/>
            <p:cNvSpPr txBox="1"/>
            <p:nvPr/>
          </p:nvSpPr>
          <p:spPr>
            <a:xfrm>
              <a:off x="0" y="-66675"/>
              <a:ext cx="812800" cy="879685"/>
            </a:xfrm>
            <a:prstGeom prst="rect">
              <a:avLst/>
            </a:prstGeom>
          </p:spPr>
          <p:txBody>
            <a:bodyPr lIns="50800" tIns="50800" rIns="50800" bIns="50800" rtlCol="0" anchor="ctr"/>
            <a:lstStyle/>
            <a:p>
              <a:pPr algn="ctr">
                <a:lnSpc>
                  <a:spcPts val="3005"/>
                </a:lnSpc>
              </a:pPr>
              <a:endParaRPr/>
            </a:p>
          </p:txBody>
        </p:sp>
      </p:grpSp>
      <p:sp>
        <p:nvSpPr>
          <p:cNvPr id="26" name="Freeform 26"/>
          <p:cNvSpPr/>
          <p:nvPr/>
        </p:nvSpPr>
        <p:spPr>
          <a:xfrm>
            <a:off x="1643704" y="5840396"/>
            <a:ext cx="981698" cy="981698"/>
          </a:xfrm>
          <a:custGeom>
            <a:avLst/>
            <a:gdLst/>
            <a:ahLst/>
            <a:cxnLst/>
            <a:rect l="l" t="t" r="r" b="b"/>
            <a:pathLst>
              <a:path w="981698" h="981698">
                <a:moveTo>
                  <a:pt x="0" y="0"/>
                </a:moveTo>
                <a:lnTo>
                  <a:pt x="981699" y="0"/>
                </a:lnTo>
                <a:lnTo>
                  <a:pt x="981699" y="981698"/>
                </a:lnTo>
                <a:lnTo>
                  <a:pt x="0" y="98169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27" name="Group 27"/>
          <p:cNvGrpSpPr/>
          <p:nvPr/>
        </p:nvGrpSpPr>
        <p:grpSpPr>
          <a:xfrm>
            <a:off x="13607200" y="1022444"/>
            <a:ext cx="3652100" cy="4019847"/>
            <a:chOff x="0" y="0"/>
            <a:chExt cx="565806" cy="622780"/>
          </a:xfrm>
        </p:grpSpPr>
        <p:sp>
          <p:nvSpPr>
            <p:cNvPr id="28" name="Freeform 28"/>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4"/>
              <a:stretch>
                <a:fillRect l="-5034" r="-5034"/>
              </a:stretch>
            </a:blipFill>
          </p:spPr>
        </p:sp>
      </p:grpSp>
      <p:grpSp>
        <p:nvGrpSpPr>
          <p:cNvPr id="29" name="Group 29"/>
          <p:cNvGrpSpPr/>
          <p:nvPr/>
        </p:nvGrpSpPr>
        <p:grpSpPr>
          <a:xfrm>
            <a:off x="9752682" y="1022444"/>
            <a:ext cx="3652100" cy="4019847"/>
            <a:chOff x="0" y="0"/>
            <a:chExt cx="565806" cy="622780"/>
          </a:xfrm>
        </p:grpSpPr>
        <p:sp>
          <p:nvSpPr>
            <p:cNvPr id="30" name="Freeform 30"/>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5"/>
              <a:stretch>
                <a:fillRect l="-5034" r="-5034"/>
              </a:stretch>
            </a:blipFill>
          </p:spPr>
        </p:sp>
      </p:grpSp>
      <p:grpSp>
        <p:nvGrpSpPr>
          <p:cNvPr id="31" name="Group 31"/>
          <p:cNvGrpSpPr/>
          <p:nvPr/>
        </p:nvGrpSpPr>
        <p:grpSpPr>
          <a:xfrm>
            <a:off x="13607200" y="5244709"/>
            <a:ext cx="3652100" cy="4013591"/>
            <a:chOff x="0" y="0"/>
            <a:chExt cx="565806" cy="621810"/>
          </a:xfrm>
        </p:grpSpPr>
        <p:sp>
          <p:nvSpPr>
            <p:cNvPr id="32" name="Freeform 32"/>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6"/>
              <a:stretch>
                <a:fillRect r="-9898"/>
              </a:stretch>
            </a:blipFill>
          </p:spPr>
        </p:sp>
      </p:grpSp>
      <p:grpSp>
        <p:nvGrpSpPr>
          <p:cNvPr id="33" name="Group 33"/>
          <p:cNvGrpSpPr/>
          <p:nvPr/>
        </p:nvGrpSpPr>
        <p:grpSpPr>
          <a:xfrm rot="5400000">
            <a:off x="4950990" y="3880886"/>
            <a:ext cx="1455124" cy="9299704"/>
            <a:chOff x="0" y="0"/>
            <a:chExt cx="392999" cy="2511661"/>
          </a:xfrm>
        </p:grpSpPr>
        <p:sp>
          <p:nvSpPr>
            <p:cNvPr id="34" name="Freeform 34"/>
            <p:cNvSpPr/>
            <p:nvPr/>
          </p:nvSpPr>
          <p:spPr>
            <a:xfrm>
              <a:off x="0" y="0"/>
              <a:ext cx="392999" cy="2511661"/>
            </a:xfrm>
            <a:custGeom>
              <a:avLst/>
              <a:gdLst/>
              <a:ahLst/>
              <a:cxnLst/>
              <a:rect l="l" t="t" r="r" b="b"/>
              <a:pathLst>
                <a:path w="392999" h="2511661">
                  <a:moveTo>
                    <a:pt x="79807" y="0"/>
                  </a:moveTo>
                  <a:lnTo>
                    <a:pt x="313193" y="0"/>
                  </a:lnTo>
                  <a:cubicBezTo>
                    <a:pt x="357269" y="0"/>
                    <a:pt x="392999" y="35731"/>
                    <a:pt x="392999" y="79807"/>
                  </a:cubicBezTo>
                  <a:lnTo>
                    <a:pt x="392999" y="2431854"/>
                  </a:lnTo>
                  <a:cubicBezTo>
                    <a:pt x="392999" y="2453020"/>
                    <a:pt x="384591" y="2473319"/>
                    <a:pt x="369625" y="2488286"/>
                  </a:cubicBezTo>
                  <a:cubicBezTo>
                    <a:pt x="354658" y="2503253"/>
                    <a:pt x="334359" y="2511661"/>
                    <a:pt x="313193" y="2511661"/>
                  </a:cubicBezTo>
                  <a:lnTo>
                    <a:pt x="79807" y="2511661"/>
                  </a:lnTo>
                  <a:cubicBezTo>
                    <a:pt x="35731" y="2511661"/>
                    <a:pt x="0" y="2475930"/>
                    <a:pt x="0" y="2431854"/>
                  </a:cubicBezTo>
                  <a:lnTo>
                    <a:pt x="0" y="79807"/>
                  </a:lnTo>
                  <a:cubicBezTo>
                    <a:pt x="0" y="35731"/>
                    <a:pt x="35731" y="0"/>
                    <a:pt x="79807" y="0"/>
                  </a:cubicBezTo>
                  <a:close/>
                </a:path>
              </a:pathLst>
            </a:custGeom>
            <a:solidFill>
              <a:srgbClr val="E0E0E0"/>
            </a:solidFill>
          </p:spPr>
        </p:sp>
        <p:sp>
          <p:nvSpPr>
            <p:cNvPr id="35" name="TextBox 35"/>
            <p:cNvSpPr txBox="1"/>
            <p:nvPr/>
          </p:nvSpPr>
          <p:spPr>
            <a:xfrm>
              <a:off x="0" y="-57150"/>
              <a:ext cx="392999" cy="2568811"/>
            </a:xfrm>
            <a:prstGeom prst="rect">
              <a:avLst/>
            </a:prstGeom>
          </p:spPr>
          <p:txBody>
            <a:bodyPr lIns="52178" tIns="52178" rIns="52178" bIns="52178" rtlCol="0" anchor="ctr"/>
            <a:lstStyle/>
            <a:p>
              <a:pPr algn="ctr">
                <a:lnSpc>
                  <a:spcPts val="3250"/>
                </a:lnSpc>
              </a:pPr>
              <a:endParaRPr/>
            </a:p>
          </p:txBody>
        </p:sp>
      </p:grpSp>
      <p:grpSp>
        <p:nvGrpSpPr>
          <p:cNvPr id="36" name="Group 36"/>
          <p:cNvGrpSpPr/>
          <p:nvPr/>
        </p:nvGrpSpPr>
        <p:grpSpPr>
          <a:xfrm>
            <a:off x="9752682" y="5244709"/>
            <a:ext cx="3652100" cy="4013591"/>
            <a:chOff x="0" y="0"/>
            <a:chExt cx="565806" cy="621810"/>
          </a:xfrm>
        </p:grpSpPr>
        <p:sp>
          <p:nvSpPr>
            <p:cNvPr id="37" name="Freeform 37"/>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7"/>
              <a:stretch>
                <a:fillRect l="-4949" r="-4949"/>
              </a:stretch>
            </a:blipFill>
          </p:spPr>
        </p:sp>
      </p:grpSp>
      <p:grpSp>
        <p:nvGrpSpPr>
          <p:cNvPr id="38" name="Group 38"/>
          <p:cNvGrpSpPr/>
          <p:nvPr/>
        </p:nvGrpSpPr>
        <p:grpSpPr>
          <a:xfrm>
            <a:off x="11558873" y="3230657"/>
            <a:ext cx="3825685" cy="3825685"/>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3250"/>
                </a:lnSpc>
              </a:pPr>
              <a:endParaRPr/>
            </a:p>
          </p:txBody>
        </p:sp>
      </p:grpSp>
      <p:grpSp>
        <p:nvGrpSpPr>
          <p:cNvPr id="41" name="Group 41"/>
          <p:cNvGrpSpPr/>
          <p:nvPr/>
        </p:nvGrpSpPr>
        <p:grpSpPr>
          <a:xfrm>
            <a:off x="11742743" y="3414528"/>
            <a:ext cx="3457944" cy="3457944"/>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6663" r="-73075"/>
              </a:stretch>
            </a:blipFill>
          </p:spPr>
        </p:sp>
      </p:grpSp>
      <p:sp>
        <p:nvSpPr>
          <p:cNvPr id="43" name="AutoShape 43"/>
          <p:cNvSpPr/>
          <p:nvPr/>
        </p:nvSpPr>
        <p:spPr>
          <a:xfrm flipH="1" flipV="1">
            <a:off x="3874364" y="7930627"/>
            <a:ext cx="0" cy="1200222"/>
          </a:xfrm>
          <a:prstGeom prst="line">
            <a:avLst/>
          </a:prstGeom>
          <a:ln w="19050" cap="flat">
            <a:solidFill>
              <a:srgbClr val="1E1E1E"/>
            </a:solidFill>
            <a:prstDash val="solid"/>
            <a:headEnd type="none" w="sm" len="sm"/>
            <a:tailEnd type="none" w="sm" len="sm"/>
          </a:ln>
        </p:spPr>
      </p:sp>
      <p:sp>
        <p:nvSpPr>
          <p:cNvPr id="44" name="AutoShape 44"/>
          <p:cNvSpPr/>
          <p:nvPr/>
        </p:nvSpPr>
        <p:spPr>
          <a:xfrm flipH="1" flipV="1">
            <a:off x="6631271" y="7930627"/>
            <a:ext cx="0" cy="1200222"/>
          </a:xfrm>
          <a:prstGeom prst="line">
            <a:avLst/>
          </a:prstGeom>
          <a:ln w="19050" cap="flat">
            <a:solidFill>
              <a:srgbClr val="1E1E1E"/>
            </a:solidFill>
            <a:prstDash val="solid"/>
            <a:headEnd type="none" w="sm" len="sm"/>
            <a:tailEnd type="none" w="sm" len="sm"/>
          </a:ln>
        </p:spPr>
      </p:sp>
      <p:sp>
        <p:nvSpPr>
          <p:cNvPr id="45" name="Freeform 45"/>
          <p:cNvSpPr/>
          <p:nvPr/>
        </p:nvSpPr>
        <p:spPr>
          <a:xfrm>
            <a:off x="349660" y="0"/>
            <a:ext cx="2181091" cy="2026597"/>
          </a:xfrm>
          <a:custGeom>
            <a:avLst/>
            <a:gdLst/>
            <a:ahLst/>
            <a:cxnLst/>
            <a:rect l="l" t="t" r="r" b="b"/>
            <a:pathLst>
              <a:path w="2181091" h="2026597">
                <a:moveTo>
                  <a:pt x="0" y="0"/>
                </a:moveTo>
                <a:lnTo>
                  <a:pt x="2181090" y="0"/>
                </a:lnTo>
                <a:lnTo>
                  <a:pt x="2181090" y="2026597"/>
                </a:lnTo>
                <a:lnTo>
                  <a:pt x="0" y="2026597"/>
                </a:lnTo>
                <a:lnTo>
                  <a:pt x="0" y="0"/>
                </a:lnTo>
                <a:close/>
              </a:path>
            </a:pathLst>
          </a:custGeom>
          <a:blipFill>
            <a:blip r:embed="rId9"/>
            <a:stretch>
              <a:fillRect/>
            </a:stretch>
          </a:blipFill>
        </p:spPr>
      </p:sp>
      <p:sp>
        <p:nvSpPr>
          <p:cNvPr id="46" name="TextBox 46"/>
          <p:cNvSpPr txBox="1"/>
          <p:nvPr/>
        </p:nvSpPr>
        <p:spPr>
          <a:xfrm>
            <a:off x="-1287663" y="2264068"/>
            <a:ext cx="10497077" cy="1487587"/>
          </a:xfrm>
          <a:prstGeom prst="rect">
            <a:avLst/>
          </a:prstGeom>
        </p:spPr>
        <p:txBody>
          <a:bodyPr lIns="0" tIns="0" rIns="0" bIns="0" rtlCol="0" anchor="t">
            <a:spAutoFit/>
          </a:bodyPr>
          <a:lstStyle/>
          <a:p>
            <a:pPr algn="r" rtl="1">
              <a:lnSpc>
                <a:spcPts val="11567"/>
              </a:lnSpc>
            </a:pPr>
            <a:r>
              <a:rPr lang="ar-EG" sz="7200" dirty="0">
                <a:solidFill>
                  <a:srgbClr val="1960BD"/>
                </a:solidFill>
                <a:latin typeface="Glacial Indifference"/>
                <a:ea typeface="Glacial Indifference"/>
                <a:sym typeface="Glacial Indifference"/>
                <a:rtl/>
              </a:rPr>
              <a:t>تطوير خدمات ما </a:t>
            </a:r>
            <a:r>
              <a:rPr lang="ar-EG" sz="7200" dirty="0" smtClean="0">
                <a:solidFill>
                  <a:srgbClr val="1960BD"/>
                </a:solidFill>
                <a:latin typeface="Glacial Indifference"/>
                <a:ea typeface="Glacial Indifference"/>
                <a:sym typeface="Glacial Indifference"/>
                <a:rtl/>
              </a:rPr>
              <a:t>بعد البيع</a:t>
            </a:r>
            <a:endParaRPr lang="ar-EG" sz="7200" dirty="0">
              <a:solidFill>
                <a:srgbClr val="1960BD"/>
              </a:solidFill>
              <a:latin typeface="Glacial Indifference"/>
              <a:ea typeface="Glacial Indifference"/>
              <a:sym typeface="Glacial Indifference"/>
              <a:rtl/>
            </a:endParaRPr>
          </a:p>
        </p:txBody>
      </p:sp>
      <p:sp>
        <p:nvSpPr>
          <p:cNvPr id="47" name="TextBox 47"/>
          <p:cNvSpPr txBox="1"/>
          <p:nvPr/>
        </p:nvSpPr>
        <p:spPr>
          <a:xfrm>
            <a:off x="3309284" y="5411203"/>
            <a:ext cx="5996798" cy="2519424"/>
          </a:xfrm>
          <a:prstGeom prst="rect">
            <a:avLst/>
          </a:prstGeom>
        </p:spPr>
        <p:txBody>
          <a:bodyPr lIns="0" tIns="0" rIns="0" bIns="0" rtlCol="0" anchor="t">
            <a:spAutoFit/>
          </a:bodyPr>
          <a:lstStyle/>
          <a:p>
            <a:pPr algn="r">
              <a:lnSpc>
                <a:spcPts val="4984"/>
              </a:lnSpc>
            </a:pPr>
            <a:r>
              <a:rPr lang="ar-EG" sz="3560" b="1" dirty="0">
                <a:solidFill>
                  <a:srgbClr val="FFFFFF"/>
                </a:solidFill>
                <a:latin typeface="Poppins Medium"/>
                <a:ea typeface="Poppins Medium"/>
                <a:sym typeface="Poppins Medium"/>
                <a:rtl/>
              </a:rPr>
              <a:t>تطوير رحلة خدمة متكاملة من طلب العميل حتى إغلاق الخدمة</a:t>
            </a:r>
          </a:p>
          <a:p>
            <a:pPr algn="r">
              <a:lnSpc>
                <a:spcPts val="4984"/>
              </a:lnSpc>
            </a:pPr>
            <a:endParaRPr lang="ar-EG" sz="3560" b="1" dirty="0">
              <a:solidFill>
                <a:srgbClr val="FFFFFF"/>
              </a:solidFill>
              <a:latin typeface="Poppins Medium"/>
              <a:ea typeface="Poppins Medium"/>
              <a:cs typeface="Poppins Medium"/>
              <a:sym typeface="Poppins Medium"/>
              <a:rtl/>
            </a:endParaRPr>
          </a:p>
          <a:p>
            <a:pPr algn="r">
              <a:lnSpc>
                <a:spcPts val="4984"/>
              </a:lnSpc>
            </a:pPr>
            <a:endParaRPr lang="ar-EG" sz="3560" b="1" dirty="0">
              <a:solidFill>
                <a:srgbClr val="FFFFFF"/>
              </a:solidFill>
              <a:latin typeface="Poppins Medium"/>
              <a:ea typeface="Poppins Medium"/>
              <a:cs typeface="Poppins Medium"/>
              <a:sym typeface="Poppins Medium"/>
              <a:rtl/>
            </a:endParaRPr>
          </a:p>
        </p:txBody>
      </p:sp>
      <p:sp>
        <p:nvSpPr>
          <p:cNvPr id="48" name="TextBox 48"/>
          <p:cNvSpPr txBox="1"/>
          <p:nvPr/>
        </p:nvSpPr>
        <p:spPr>
          <a:xfrm>
            <a:off x="1421698" y="8075336"/>
            <a:ext cx="221810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تنظيم </a:t>
            </a:r>
            <a:r>
              <a:rPr lang="ar-EG" sz="1643" b="1" dirty="0" smtClean="0">
                <a:solidFill>
                  <a:srgbClr val="1E1E1E"/>
                </a:solidFill>
                <a:latin typeface="Poppins Medium"/>
                <a:ea typeface="Poppins Medium"/>
                <a:sym typeface="Poppins Medium"/>
                <a:rtl/>
              </a:rPr>
              <a:t>العمليات</a:t>
            </a:r>
            <a:endParaRPr lang="ar-EG" sz="1643" b="1" dirty="0">
              <a:solidFill>
                <a:srgbClr val="1E1E1E"/>
              </a:solidFill>
              <a:latin typeface="Poppins Medium"/>
              <a:ea typeface="Poppins Medium"/>
              <a:sym typeface="Poppins Medium"/>
              <a:rtl/>
            </a:endParaRP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توحيد الإجراءات</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49" name="TextBox 49"/>
          <p:cNvSpPr txBox="1"/>
          <p:nvPr/>
        </p:nvSpPr>
        <p:spPr>
          <a:xfrm>
            <a:off x="4179164" y="8075336"/>
            <a:ext cx="222139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تحسين تجربة العميل</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تسريع تنفيذ الخدمة</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50" name="TextBox 50"/>
          <p:cNvSpPr txBox="1"/>
          <p:nvPr/>
        </p:nvSpPr>
        <p:spPr>
          <a:xfrm>
            <a:off x="6939918" y="8075336"/>
            <a:ext cx="2426456"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رفع كفاءة المتابعة</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وضوح حالة الطلب</a:t>
            </a:r>
          </a:p>
          <a:p>
            <a:pPr algn="r" rtl="1">
              <a:lnSpc>
                <a:spcPts val="2301"/>
              </a:lnSpc>
            </a:pPr>
            <a:endParaRPr lang="ar-EG" sz="1643" b="1" dirty="0">
              <a:solidFill>
                <a:srgbClr val="1E1E1E"/>
              </a:solidFill>
              <a:latin typeface="Poppins Medium"/>
              <a:ea typeface="Poppins Medium"/>
              <a:sym typeface="Poppins Medium"/>
              <a:rt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1000"/>
                                        <p:tgtEl>
                                          <p:spTgt spid="29"/>
                                        </p:tgtEl>
                                      </p:cBhvr>
                                    </p:animEffect>
                                    <p:anim calcmode="lin" valueType="num">
                                      <p:cBhvr>
                                        <p:cTn id="58" dur="1000" fill="hold"/>
                                        <p:tgtEl>
                                          <p:spTgt spid="29"/>
                                        </p:tgtEl>
                                        <p:attrNameLst>
                                          <p:attrName>ppt_x</p:attrName>
                                        </p:attrNameLst>
                                      </p:cBhvr>
                                      <p:tavLst>
                                        <p:tav tm="0">
                                          <p:val>
                                            <p:strVal val="#ppt_x"/>
                                          </p:val>
                                        </p:tav>
                                        <p:tav tm="100000">
                                          <p:val>
                                            <p:strVal val="#ppt_x"/>
                                          </p:val>
                                        </p:tav>
                                      </p:tavLst>
                                    </p:anim>
                                    <p:anim calcmode="lin" valueType="num">
                                      <p:cBhvr>
                                        <p:cTn id="59" dur="1000" fill="hold"/>
                                        <p:tgtEl>
                                          <p:spTgt spid="2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1000"/>
                                        <p:tgtEl>
                                          <p:spTgt spid="33"/>
                                        </p:tgtEl>
                                      </p:cBhvr>
                                    </p:animEffect>
                                    <p:anim calcmode="lin" valueType="num">
                                      <p:cBhvr>
                                        <p:cTn id="68" dur="1000" fill="hold"/>
                                        <p:tgtEl>
                                          <p:spTgt spid="33"/>
                                        </p:tgtEl>
                                        <p:attrNameLst>
                                          <p:attrName>ppt_x</p:attrName>
                                        </p:attrNameLst>
                                      </p:cBhvr>
                                      <p:tavLst>
                                        <p:tav tm="0">
                                          <p:val>
                                            <p:strVal val="#ppt_x"/>
                                          </p:val>
                                        </p:tav>
                                        <p:tav tm="100000">
                                          <p:val>
                                            <p:strVal val="#ppt_x"/>
                                          </p:val>
                                        </p:tav>
                                      </p:tavLst>
                                    </p:anim>
                                    <p:anim calcmode="lin" valueType="num">
                                      <p:cBhvr>
                                        <p:cTn id="69" dur="1000" fill="hold"/>
                                        <p:tgtEl>
                                          <p:spTgt spid="3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1000"/>
                                        <p:tgtEl>
                                          <p:spTgt spid="36"/>
                                        </p:tgtEl>
                                      </p:cBhvr>
                                    </p:animEffect>
                                    <p:anim calcmode="lin" valueType="num">
                                      <p:cBhvr>
                                        <p:cTn id="73" dur="1000" fill="hold"/>
                                        <p:tgtEl>
                                          <p:spTgt spid="36"/>
                                        </p:tgtEl>
                                        <p:attrNameLst>
                                          <p:attrName>ppt_x</p:attrName>
                                        </p:attrNameLst>
                                      </p:cBhvr>
                                      <p:tavLst>
                                        <p:tav tm="0">
                                          <p:val>
                                            <p:strVal val="#ppt_x"/>
                                          </p:val>
                                        </p:tav>
                                        <p:tav tm="100000">
                                          <p:val>
                                            <p:strVal val="#ppt_x"/>
                                          </p:val>
                                        </p:tav>
                                      </p:tavLst>
                                    </p:anim>
                                    <p:anim calcmode="lin" valueType="num">
                                      <p:cBhvr>
                                        <p:cTn id="74" dur="1000" fill="hold"/>
                                        <p:tgtEl>
                                          <p:spTgt spid="3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1000"/>
                                        <p:tgtEl>
                                          <p:spTgt spid="41"/>
                                        </p:tgtEl>
                                      </p:cBhvr>
                                    </p:animEffect>
                                    <p:anim calcmode="lin" valueType="num">
                                      <p:cBhvr>
                                        <p:cTn id="83" dur="1000" fill="hold"/>
                                        <p:tgtEl>
                                          <p:spTgt spid="41"/>
                                        </p:tgtEl>
                                        <p:attrNameLst>
                                          <p:attrName>ppt_x</p:attrName>
                                        </p:attrNameLst>
                                      </p:cBhvr>
                                      <p:tavLst>
                                        <p:tav tm="0">
                                          <p:val>
                                            <p:strVal val="#ppt_x"/>
                                          </p:val>
                                        </p:tav>
                                        <p:tav tm="100000">
                                          <p:val>
                                            <p:strVal val="#ppt_x"/>
                                          </p:val>
                                        </p:tav>
                                      </p:tavLst>
                                    </p:anim>
                                    <p:anim calcmode="lin" valueType="num">
                                      <p:cBhvr>
                                        <p:cTn id="84" dur="1000" fill="hold"/>
                                        <p:tgtEl>
                                          <p:spTgt spid="4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1000"/>
                                        <p:tgtEl>
                                          <p:spTgt spid="43"/>
                                        </p:tgtEl>
                                      </p:cBhvr>
                                    </p:animEffect>
                                    <p:anim calcmode="lin" valueType="num">
                                      <p:cBhvr>
                                        <p:cTn id="88" dur="1000" fill="hold"/>
                                        <p:tgtEl>
                                          <p:spTgt spid="43"/>
                                        </p:tgtEl>
                                        <p:attrNameLst>
                                          <p:attrName>ppt_x</p:attrName>
                                        </p:attrNameLst>
                                      </p:cBhvr>
                                      <p:tavLst>
                                        <p:tav tm="0">
                                          <p:val>
                                            <p:strVal val="#ppt_x"/>
                                          </p:val>
                                        </p:tav>
                                        <p:tav tm="100000">
                                          <p:val>
                                            <p:strVal val="#ppt_x"/>
                                          </p:val>
                                        </p:tav>
                                      </p:tavLst>
                                    </p:anim>
                                    <p:anim calcmode="lin" valueType="num">
                                      <p:cBhvr>
                                        <p:cTn id="89" dur="1000" fill="hold"/>
                                        <p:tgtEl>
                                          <p:spTgt spid="43"/>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1000"/>
                                        <p:tgtEl>
                                          <p:spTgt spid="44"/>
                                        </p:tgtEl>
                                      </p:cBhvr>
                                    </p:animEffect>
                                    <p:anim calcmode="lin" valueType="num">
                                      <p:cBhvr>
                                        <p:cTn id="93" dur="1000" fill="hold"/>
                                        <p:tgtEl>
                                          <p:spTgt spid="44"/>
                                        </p:tgtEl>
                                        <p:attrNameLst>
                                          <p:attrName>ppt_x</p:attrName>
                                        </p:attrNameLst>
                                      </p:cBhvr>
                                      <p:tavLst>
                                        <p:tav tm="0">
                                          <p:val>
                                            <p:strVal val="#ppt_x"/>
                                          </p:val>
                                        </p:tav>
                                        <p:tav tm="100000">
                                          <p:val>
                                            <p:strVal val="#ppt_x"/>
                                          </p:val>
                                        </p:tav>
                                      </p:tavLst>
                                    </p:anim>
                                    <p:anim calcmode="lin" valueType="num">
                                      <p:cBhvr>
                                        <p:cTn id="94" dur="1000" fill="hold"/>
                                        <p:tgtEl>
                                          <p:spTgt spid="44"/>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1000"/>
                                        <p:tgtEl>
                                          <p:spTgt spid="45"/>
                                        </p:tgtEl>
                                      </p:cBhvr>
                                    </p:animEffect>
                                    <p:anim calcmode="lin" valueType="num">
                                      <p:cBhvr>
                                        <p:cTn id="98" dur="1000" fill="hold"/>
                                        <p:tgtEl>
                                          <p:spTgt spid="45"/>
                                        </p:tgtEl>
                                        <p:attrNameLst>
                                          <p:attrName>ppt_x</p:attrName>
                                        </p:attrNameLst>
                                      </p:cBhvr>
                                      <p:tavLst>
                                        <p:tav tm="0">
                                          <p:val>
                                            <p:strVal val="#ppt_x"/>
                                          </p:val>
                                        </p:tav>
                                        <p:tav tm="100000">
                                          <p:val>
                                            <p:strVal val="#ppt_x"/>
                                          </p:val>
                                        </p:tav>
                                      </p:tavLst>
                                    </p:anim>
                                    <p:anim calcmode="lin" valueType="num">
                                      <p:cBhvr>
                                        <p:cTn id="99" dur="1000" fill="hold"/>
                                        <p:tgtEl>
                                          <p:spTgt spid="45"/>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1000"/>
                                        <p:tgtEl>
                                          <p:spTgt spid="46"/>
                                        </p:tgtEl>
                                      </p:cBhvr>
                                    </p:animEffect>
                                    <p:anim calcmode="lin" valueType="num">
                                      <p:cBhvr>
                                        <p:cTn id="103" dur="1000" fill="hold"/>
                                        <p:tgtEl>
                                          <p:spTgt spid="46"/>
                                        </p:tgtEl>
                                        <p:attrNameLst>
                                          <p:attrName>ppt_x</p:attrName>
                                        </p:attrNameLst>
                                      </p:cBhvr>
                                      <p:tavLst>
                                        <p:tav tm="0">
                                          <p:val>
                                            <p:strVal val="#ppt_x"/>
                                          </p:val>
                                        </p:tav>
                                        <p:tav tm="100000">
                                          <p:val>
                                            <p:strVal val="#ppt_x"/>
                                          </p:val>
                                        </p:tav>
                                      </p:tavLst>
                                    </p:anim>
                                    <p:anim calcmode="lin" valueType="num">
                                      <p:cBhvr>
                                        <p:cTn id="104" dur="1000" fill="hold"/>
                                        <p:tgtEl>
                                          <p:spTgt spid="46"/>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1000"/>
                                        <p:tgtEl>
                                          <p:spTgt spid="47"/>
                                        </p:tgtEl>
                                      </p:cBhvr>
                                    </p:animEffect>
                                    <p:anim calcmode="lin" valueType="num">
                                      <p:cBhvr>
                                        <p:cTn id="108" dur="1000" fill="hold"/>
                                        <p:tgtEl>
                                          <p:spTgt spid="47"/>
                                        </p:tgtEl>
                                        <p:attrNameLst>
                                          <p:attrName>ppt_x</p:attrName>
                                        </p:attrNameLst>
                                      </p:cBhvr>
                                      <p:tavLst>
                                        <p:tav tm="0">
                                          <p:val>
                                            <p:strVal val="#ppt_x"/>
                                          </p:val>
                                        </p:tav>
                                        <p:tav tm="100000">
                                          <p:val>
                                            <p:strVal val="#ppt_x"/>
                                          </p:val>
                                        </p:tav>
                                      </p:tavLst>
                                    </p:anim>
                                    <p:anim calcmode="lin" valueType="num">
                                      <p:cBhvr>
                                        <p:cTn id="109" dur="1000" fill="hold"/>
                                        <p:tgtEl>
                                          <p:spTgt spid="47"/>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1000"/>
                                        <p:tgtEl>
                                          <p:spTgt spid="48"/>
                                        </p:tgtEl>
                                      </p:cBhvr>
                                    </p:animEffect>
                                    <p:anim calcmode="lin" valueType="num">
                                      <p:cBhvr>
                                        <p:cTn id="113" dur="1000" fill="hold"/>
                                        <p:tgtEl>
                                          <p:spTgt spid="48"/>
                                        </p:tgtEl>
                                        <p:attrNameLst>
                                          <p:attrName>ppt_x</p:attrName>
                                        </p:attrNameLst>
                                      </p:cBhvr>
                                      <p:tavLst>
                                        <p:tav tm="0">
                                          <p:val>
                                            <p:strVal val="#ppt_x"/>
                                          </p:val>
                                        </p:tav>
                                        <p:tav tm="100000">
                                          <p:val>
                                            <p:strVal val="#ppt_x"/>
                                          </p:val>
                                        </p:tav>
                                      </p:tavLst>
                                    </p:anim>
                                    <p:anim calcmode="lin" valueType="num">
                                      <p:cBhvr>
                                        <p:cTn id="114" dur="1000" fill="hold"/>
                                        <p:tgtEl>
                                          <p:spTgt spid="48"/>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1000"/>
                                        <p:tgtEl>
                                          <p:spTgt spid="49"/>
                                        </p:tgtEl>
                                      </p:cBhvr>
                                    </p:animEffect>
                                    <p:anim calcmode="lin" valueType="num">
                                      <p:cBhvr>
                                        <p:cTn id="118" dur="1000" fill="hold"/>
                                        <p:tgtEl>
                                          <p:spTgt spid="49"/>
                                        </p:tgtEl>
                                        <p:attrNameLst>
                                          <p:attrName>ppt_x</p:attrName>
                                        </p:attrNameLst>
                                      </p:cBhvr>
                                      <p:tavLst>
                                        <p:tav tm="0">
                                          <p:val>
                                            <p:strVal val="#ppt_x"/>
                                          </p:val>
                                        </p:tav>
                                        <p:tav tm="100000">
                                          <p:val>
                                            <p:strVal val="#ppt_x"/>
                                          </p:val>
                                        </p:tav>
                                      </p:tavLst>
                                    </p:anim>
                                    <p:anim calcmode="lin" valueType="num">
                                      <p:cBhvr>
                                        <p:cTn id="119" dur="1000" fill="hold"/>
                                        <p:tgtEl>
                                          <p:spTgt spid="49"/>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fade">
                                      <p:cBhvr>
                                        <p:cTn id="122" dur="1000"/>
                                        <p:tgtEl>
                                          <p:spTgt spid="50"/>
                                        </p:tgtEl>
                                      </p:cBhvr>
                                    </p:animEffect>
                                    <p:anim calcmode="lin" valueType="num">
                                      <p:cBhvr>
                                        <p:cTn id="123" dur="1000" fill="hold"/>
                                        <p:tgtEl>
                                          <p:spTgt spid="50"/>
                                        </p:tgtEl>
                                        <p:attrNameLst>
                                          <p:attrName>ppt_x</p:attrName>
                                        </p:attrNameLst>
                                      </p:cBhvr>
                                      <p:tavLst>
                                        <p:tav tm="0">
                                          <p:val>
                                            <p:strVal val="#ppt_x"/>
                                          </p:val>
                                        </p:tav>
                                        <p:tav tm="100000">
                                          <p:val>
                                            <p:strVal val="#ppt_x"/>
                                          </p:val>
                                        </p:tav>
                                      </p:tavLst>
                                    </p:anim>
                                    <p:anim calcmode="lin" valueType="num">
                                      <p:cBhvr>
                                        <p:cTn id="12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410133" y="-48592"/>
            <a:ext cx="5771875" cy="7926458"/>
            <a:chOff x="0" y="0"/>
            <a:chExt cx="1558866" cy="2140775"/>
          </a:xfrm>
        </p:grpSpPr>
        <p:sp>
          <p:nvSpPr>
            <p:cNvPr id="3" name="Freeform 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4" name="TextBox 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5" name="Group 5"/>
          <p:cNvGrpSpPr/>
          <p:nvPr/>
        </p:nvGrpSpPr>
        <p:grpSpPr>
          <a:xfrm rot="5400000">
            <a:off x="12414537" y="4413537"/>
            <a:ext cx="1918164" cy="7771361"/>
            <a:chOff x="0" y="0"/>
            <a:chExt cx="518057" cy="2098886"/>
          </a:xfrm>
        </p:grpSpPr>
        <p:sp>
          <p:nvSpPr>
            <p:cNvPr id="6" name="Freeform 6"/>
            <p:cNvSpPr/>
            <p:nvPr/>
          </p:nvSpPr>
          <p:spPr>
            <a:xfrm>
              <a:off x="0" y="0"/>
              <a:ext cx="518057" cy="2098886"/>
            </a:xfrm>
            <a:custGeom>
              <a:avLst/>
              <a:gdLst/>
              <a:ahLst/>
              <a:cxnLst/>
              <a:rect l="l" t="t" r="r" b="b"/>
              <a:pathLst>
                <a:path w="518057" h="2098886">
                  <a:moveTo>
                    <a:pt x="121083" y="0"/>
                  </a:moveTo>
                  <a:lnTo>
                    <a:pt x="396974" y="0"/>
                  </a:lnTo>
                  <a:cubicBezTo>
                    <a:pt x="429087" y="0"/>
                    <a:pt x="459885" y="12757"/>
                    <a:pt x="482593" y="35464"/>
                  </a:cubicBezTo>
                  <a:cubicBezTo>
                    <a:pt x="505300" y="58172"/>
                    <a:pt x="518057" y="88970"/>
                    <a:pt x="518057" y="121083"/>
                  </a:cubicBezTo>
                  <a:lnTo>
                    <a:pt x="518057" y="1977803"/>
                  </a:lnTo>
                  <a:cubicBezTo>
                    <a:pt x="518057" y="2009916"/>
                    <a:pt x="505300" y="2040714"/>
                    <a:pt x="482593" y="2063422"/>
                  </a:cubicBezTo>
                  <a:cubicBezTo>
                    <a:pt x="459885" y="2086129"/>
                    <a:pt x="429087" y="2098886"/>
                    <a:pt x="396974" y="2098886"/>
                  </a:cubicBezTo>
                  <a:lnTo>
                    <a:pt x="121083" y="2098886"/>
                  </a:lnTo>
                  <a:cubicBezTo>
                    <a:pt x="88970" y="2098886"/>
                    <a:pt x="58172" y="2086129"/>
                    <a:pt x="35464" y="2063422"/>
                  </a:cubicBezTo>
                  <a:cubicBezTo>
                    <a:pt x="12757" y="2040714"/>
                    <a:pt x="0" y="2009916"/>
                    <a:pt x="0" y="1977803"/>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7" name="TextBox 7"/>
            <p:cNvSpPr txBox="1"/>
            <p:nvPr/>
          </p:nvSpPr>
          <p:spPr>
            <a:xfrm>
              <a:off x="0" y="-57150"/>
              <a:ext cx="518057" cy="2156036"/>
            </a:xfrm>
            <a:prstGeom prst="rect">
              <a:avLst/>
            </a:prstGeom>
          </p:spPr>
          <p:txBody>
            <a:bodyPr lIns="52178" tIns="52178" rIns="52178" bIns="52178" rtlCol="0" anchor="ctr"/>
            <a:lstStyle/>
            <a:p>
              <a:pPr algn="ctr">
                <a:lnSpc>
                  <a:spcPts val="3250"/>
                </a:lnSpc>
              </a:pPr>
              <a:endParaRPr/>
            </a:p>
          </p:txBody>
        </p:sp>
      </p:grpSp>
      <p:grpSp>
        <p:nvGrpSpPr>
          <p:cNvPr id="8" name="Group 8"/>
          <p:cNvGrpSpPr/>
          <p:nvPr/>
        </p:nvGrpSpPr>
        <p:grpSpPr>
          <a:xfrm rot="5400000">
            <a:off x="4032847" y="4335989"/>
            <a:ext cx="1918164" cy="7926458"/>
            <a:chOff x="0" y="0"/>
            <a:chExt cx="518057" cy="2140775"/>
          </a:xfrm>
        </p:grpSpPr>
        <p:sp>
          <p:nvSpPr>
            <p:cNvPr id="9" name="Freeform 9"/>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10" name="TextBox 10"/>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11" name="TextBox 11"/>
          <p:cNvSpPr txBox="1"/>
          <p:nvPr/>
        </p:nvSpPr>
        <p:spPr>
          <a:xfrm>
            <a:off x="10552516" y="1568446"/>
            <a:ext cx="6449936" cy="2131019"/>
          </a:xfrm>
          <a:prstGeom prst="rect">
            <a:avLst/>
          </a:prstGeom>
        </p:spPr>
        <p:txBody>
          <a:bodyPr lIns="0" tIns="0" rIns="0" bIns="0" rtlCol="0" anchor="t">
            <a:spAutoFit/>
          </a:bodyPr>
          <a:lstStyle/>
          <a:p>
            <a:pPr algn="r" rtl="1">
              <a:lnSpc>
                <a:spcPts val="5523"/>
              </a:lnSpc>
            </a:pPr>
            <a:r>
              <a:rPr lang="ar-EG" sz="5523" b="1" dirty="0">
                <a:solidFill>
                  <a:srgbClr val="FFFFFF"/>
                </a:solidFill>
                <a:latin typeface="Glacial Indifference Bold"/>
                <a:ea typeface="Glacial Indifference Bold"/>
                <a:sym typeface="Glacial Indifference Bold"/>
                <a:rtl/>
              </a:rPr>
              <a:t>الوضع قبل المشروع</a:t>
            </a:r>
          </a:p>
          <a:p>
            <a:pPr algn="just" rtl="1">
              <a:lnSpc>
                <a:spcPts val="5523"/>
              </a:lnSpc>
            </a:pPr>
            <a:endParaRPr lang="ar-EG" sz="5523" b="1" dirty="0">
              <a:solidFill>
                <a:srgbClr val="FFFFFF"/>
              </a:solidFill>
              <a:latin typeface="Glacial Indifference Bold"/>
              <a:ea typeface="Glacial Indifference Bold"/>
              <a:sym typeface="Glacial Indifference Bold"/>
              <a:rtl/>
            </a:endParaRPr>
          </a:p>
          <a:p>
            <a:pPr algn="just" rtl="1">
              <a:lnSpc>
                <a:spcPts val="5523"/>
              </a:lnSpc>
            </a:pPr>
            <a:endParaRPr lang="ar-EG" sz="5523" b="1" dirty="0">
              <a:solidFill>
                <a:srgbClr val="FFFFFF"/>
              </a:solidFill>
              <a:latin typeface="Glacial Indifference Bold"/>
              <a:ea typeface="Glacial Indifference Bold"/>
              <a:sym typeface="Glacial Indifference Bold"/>
              <a:rtl/>
            </a:endParaRPr>
          </a:p>
        </p:txBody>
      </p:sp>
      <p:sp>
        <p:nvSpPr>
          <p:cNvPr id="12" name="TextBox 12"/>
          <p:cNvSpPr txBox="1"/>
          <p:nvPr/>
        </p:nvSpPr>
        <p:spPr>
          <a:xfrm>
            <a:off x="10192886" y="3262042"/>
            <a:ext cx="6725241" cy="375103"/>
          </a:xfrm>
          <a:prstGeom prst="rect">
            <a:avLst/>
          </a:prstGeom>
        </p:spPr>
        <p:txBody>
          <a:bodyPr lIns="0" tIns="0" rIns="0" bIns="0" rtlCol="0" anchor="t">
            <a:spAutoFit/>
          </a:bodyPr>
          <a:lstStyle/>
          <a:p>
            <a:pPr algn="just" rtl="1">
              <a:lnSpc>
                <a:spcPts val="3230"/>
              </a:lnSpc>
            </a:pPr>
            <a:r>
              <a:rPr lang="ar-EG" sz="2307" b="1" dirty="0">
                <a:solidFill>
                  <a:srgbClr val="FFFFFF"/>
                </a:solidFill>
                <a:latin typeface="Poppins Medium"/>
                <a:ea typeface="Poppins Medium"/>
                <a:sym typeface="Poppins Medium"/>
                <a:rtl/>
              </a:rPr>
              <a:t>تحديات تشغيلية كانت تؤثر على وضوح رحلة الخدمة وسهولة متابعتها.</a:t>
            </a:r>
          </a:p>
        </p:txBody>
      </p:sp>
      <p:sp>
        <p:nvSpPr>
          <p:cNvPr id="13" name="TextBox 13"/>
          <p:cNvSpPr txBox="1"/>
          <p:nvPr/>
        </p:nvSpPr>
        <p:spPr>
          <a:xfrm>
            <a:off x="9876913" y="7629418"/>
            <a:ext cx="6993414" cy="970202"/>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"عند حدوث تأخير أو مشكلة في الطلب، كان من الصعب تحديد مصدرها بسرعة: هل المشكلة في التوصيل، أو التركيب، أو التحويلات بين المستودعات، مما يؤخر المعالجة واتخاذ القرار."</a:t>
            </a:r>
          </a:p>
          <a:p>
            <a:pPr algn="r" rtl="1">
              <a:lnSpc>
                <a:spcPts val="2558"/>
              </a:lnSpc>
            </a:pPr>
            <a:endParaRPr lang="ar-EG" sz="1827" b="1" dirty="0">
              <a:solidFill>
                <a:srgbClr val="FFFFFF"/>
              </a:solidFill>
              <a:latin typeface="Poppins Medium"/>
              <a:ea typeface="Poppins Medium"/>
              <a:sym typeface="Poppins Medium"/>
              <a:rtl/>
            </a:endParaRPr>
          </a:p>
        </p:txBody>
      </p:sp>
      <p:grpSp>
        <p:nvGrpSpPr>
          <p:cNvPr id="14" name="Group 14"/>
          <p:cNvGrpSpPr/>
          <p:nvPr/>
        </p:nvGrpSpPr>
        <p:grpSpPr>
          <a:xfrm>
            <a:off x="1183797" y="1028700"/>
            <a:ext cx="7771361" cy="5829928"/>
            <a:chOff x="0" y="0"/>
            <a:chExt cx="10361815" cy="7773238"/>
          </a:xfrm>
        </p:grpSpPr>
        <p:grpSp>
          <p:nvGrpSpPr>
            <p:cNvPr id="15" name="Group 15"/>
            <p:cNvGrpSpPr/>
            <p:nvPr/>
          </p:nvGrpSpPr>
          <p:grpSpPr>
            <a:xfrm rot="5400000">
              <a:off x="1980303" y="3328107"/>
              <a:ext cx="1014102" cy="4974707"/>
              <a:chOff x="0" y="0"/>
              <a:chExt cx="205416" cy="1007675"/>
            </a:xfrm>
          </p:grpSpPr>
          <p:sp>
            <p:nvSpPr>
              <p:cNvPr id="16" name="Freeform 16"/>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17" name="TextBox 17"/>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18" name="Group 18"/>
            <p:cNvGrpSpPr/>
            <p:nvPr/>
          </p:nvGrpSpPr>
          <p:grpSpPr>
            <a:xfrm rot="5400000">
              <a:off x="1980303" y="4776936"/>
              <a:ext cx="1014102" cy="4974707"/>
              <a:chOff x="0" y="0"/>
              <a:chExt cx="205416" cy="1007675"/>
            </a:xfrm>
          </p:grpSpPr>
          <p:sp>
            <p:nvSpPr>
              <p:cNvPr id="19" name="Freeform 19"/>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0" name="TextBox 20"/>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1" name="Group 21"/>
            <p:cNvGrpSpPr/>
            <p:nvPr/>
          </p:nvGrpSpPr>
          <p:grpSpPr>
            <a:xfrm rot="5400000">
              <a:off x="7367410" y="3330003"/>
              <a:ext cx="1014102" cy="4974707"/>
              <a:chOff x="0" y="0"/>
              <a:chExt cx="205416" cy="1007675"/>
            </a:xfrm>
          </p:grpSpPr>
          <p:sp>
            <p:nvSpPr>
              <p:cNvPr id="22" name="Freeform 22"/>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3" name="TextBox 23"/>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4" name="Group 24"/>
            <p:cNvGrpSpPr/>
            <p:nvPr/>
          </p:nvGrpSpPr>
          <p:grpSpPr>
            <a:xfrm rot="5400000">
              <a:off x="7367410" y="4778833"/>
              <a:ext cx="1014102" cy="4974707"/>
              <a:chOff x="0" y="0"/>
              <a:chExt cx="205416" cy="1007675"/>
            </a:xfrm>
          </p:grpSpPr>
          <p:sp>
            <p:nvSpPr>
              <p:cNvPr id="25" name="Freeform 25"/>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6" name="TextBox 26"/>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7" name="Group 27"/>
            <p:cNvGrpSpPr/>
            <p:nvPr/>
          </p:nvGrpSpPr>
          <p:grpSpPr>
            <a:xfrm>
              <a:off x="0" y="0"/>
              <a:ext cx="10361815" cy="4660709"/>
              <a:chOff x="0" y="0"/>
              <a:chExt cx="1203987" cy="541549"/>
            </a:xfrm>
          </p:grpSpPr>
          <p:sp>
            <p:nvSpPr>
              <p:cNvPr id="28" name="Freeform 28"/>
              <p:cNvSpPr/>
              <p:nvPr/>
            </p:nvSpPr>
            <p:spPr>
              <a:xfrm>
                <a:off x="0" y="0"/>
                <a:ext cx="1203987" cy="541549"/>
              </a:xfrm>
              <a:custGeom>
                <a:avLst/>
                <a:gdLst/>
                <a:ahLst/>
                <a:cxnLst/>
                <a:rect l="l" t="t" r="r" b="b"/>
                <a:pathLst>
                  <a:path w="1203987" h="541549">
                    <a:moveTo>
                      <a:pt x="29886" y="0"/>
                    </a:moveTo>
                    <a:lnTo>
                      <a:pt x="1174101" y="0"/>
                    </a:lnTo>
                    <a:cubicBezTo>
                      <a:pt x="1182027" y="0"/>
                      <a:pt x="1189629" y="3149"/>
                      <a:pt x="1195234" y="8754"/>
                    </a:cubicBezTo>
                    <a:cubicBezTo>
                      <a:pt x="1200838" y="14358"/>
                      <a:pt x="1203987" y="21960"/>
                      <a:pt x="1203987" y="29886"/>
                    </a:cubicBezTo>
                    <a:lnTo>
                      <a:pt x="1203987" y="511663"/>
                    </a:lnTo>
                    <a:cubicBezTo>
                      <a:pt x="1203987" y="519589"/>
                      <a:pt x="1200838" y="527191"/>
                      <a:pt x="1195234" y="532796"/>
                    </a:cubicBezTo>
                    <a:cubicBezTo>
                      <a:pt x="1189629" y="538401"/>
                      <a:pt x="1182027" y="541549"/>
                      <a:pt x="1174101" y="541549"/>
                    </a:cubicBezTo>
                    <a:lnTo>
                      <a:pt x="29886" y="541549"/>
                    </a:lnTo>
                    <a:cubicBezTo>
                      <a:pt x="21960" y="541549"/>
                      <a:pt x="14358" y="538401"/>
                      <a:pt x="8754" y="532796"/>
                    </a:cubicBezTo>
                    <a:cubicBezTo>
                      <a:pt x="3149" y="527191"/>
                      <a:pt x="0" y="519589"/>
                      <a:pt x="0" y="511663"/>
                    </a:cubicBezTo>
                    <a:lnTo>
                      <a:pt x="0" y="29886"/>
                    </a:lnTo>
                    <a:cubicBezTo>
                      <a:pt x="0" y="21960"/>
                      <a:pt x="3149" y="14358"/>
                      <a:pt x="8754" y="8754"/>
                    </a:cubicBezTo>
                    <a:cubicBezTo>
                      <a:pt x="14358" y="3149"/>
                      <a:pt x="21960" y="0"/>
                      <a:pt x="29886" y="0"/>
                    </a:cubicBezTo>
                    <a:close/>
                  </a:path>
                </a:pathLst>
              </a:custGeom>
              <a:blipFill>
                <a:blip r:embed="rId2"/>
                <a:stretch>
                  <a:fillRect t="-95678" b="-4007"/>
                </a:stretch>
              </a:blipFill>
            </p:spPr>
          </p:sp>
        </p:grpSp>
        <p:sp>
          <p:nvSpPr>
            <p:cNvPr id="29" name="TextBox 29"/>
            <p:cNvSpPr txBox="1"/>
            <p:nvPr/>
          </p:nvSpPr>
          <p:spPr>
            <a:xfrm>
              <a:off x="81705" y="5471555"/>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صعوبة متابعة الطلب</a:t>
              </a:r>
            </a:p>
          </p:txBody>
        </p:sp>
        <p:sp>
          <p:nvSpPr>
            <p:cNvPr id="30" name="TextBox 30"/>
            <p:cNvSpPr txBox="1"/>
            <p:nvPr/>
          </p:nvSpPr>
          <p:spPr>
            <a:xfrm>
              <a:off x="81705" y="6920385"/>
              <a:ext cx="4805421" cy="562889"/>
            </a:xfrm>
            <a:prstGeom prst="rect">
              <a:avLst/>
            </a:prstGeom>
          </p:spPr>
          <p:txBody>
            <a:bodyPr lIns="0" tIns="0" rIns="0" bIns="0" rtlCol="0" anchor="t">
              <a:spAutoFit/>
            </a:bodyPr>
            <a:lstStyle/>
            <a:p>
              <a:pPr algn="ctr">
                <a:lnSpc>
                  <a:spcPts val="3640"/>
                </a:lnSpc>
              </a:pPr>
              <a:r>
                <a:rPr lang="ar-EG" sz="2600" b="1" dirty="0" smtClean="0">
                  <a:solidFill>
                    <a:srgbClr val="1E1E1E"/>
                  </a:solidFill>
                  <a:latin typeface="Poppins Medium"/>
                  <a:ea typeface="Poppins Medium"/>
                  <a:sym typeface="Poppins Medium"/>
                  <a:rtl/>
                </a:rPr>
                <a:t>عدم وضوح الخطوة التالية</a:t>
              </a:r>
              <a:endParaRPr lang="ar-EG" sz="2600" b="1" dirty="0">
                <a:solidFill>
                  <a:srgbClr val="1E1E1E"/>
                </a:solidFill>
                <a:latin typeface="Poppins Medium"/>
                <a:ea typeface="Poppins Medium"/>
                <a:sym typeface="Poppins Medium"/>
                <a:rtl/>
              </a:endParaRPr>
            </a:p>
          </p:txBody>
        </p:sp>
        <p:sp>
          <p:nvSpPr>
            <p:cNvPr id="31" name="TextBox 31"/>
            <p:cNvSpPr txBox="1"/>
            <p:nvPr/>
          </p:nvSpPr>
          <p:spPr>
            <a:xfrm>
              <a:off x="5468814" y="5473452"/>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تشتت خطوات الخدمة</a:t>
              </a:r>
            </a:p>
          </p:txBody>
        </p:sp>
        <p:sp>
          <p:nvSpPr>
            <p:cNvPr id="32" name="TextBox 32"/>
            <p:cNvSpPr txBox="1"/>
            <p:nvPr/>
          </p:nvSpPr>
          <p:spPr>
            <a:xfrm>
              <a:off x="5468814" y="6922281"/>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اعتماد على خبرة الموظف</a:t>
              </a:r>
            </a:p>
          </p:txBody>
        </p:sp>
      </p:grpSp>
      <p:sp>
        <p:nvSpPr>
          <p:cNvPr id="33" name="TextBox 33"/>
          <p:cNvSpPr txBox="1"/>
          <p:nvPr/>
        </p:nvSpPr>
        <p:spPr>
          <a:xfrm>
            <a:off x="1495222" y="7629418"/>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"تعدد طرق العمل وعدم وضوح حالة كل خدمة جعل عملية المحاسبة والمتابعة أكثر صعوبة، سواء في تحديد المسؤول عن التأخير أو معرفة المرحلة التي توقفت عندها الخدمة."</a:t>
            </a:r>
          </a:p>
        </p:txBody>
      </p:sp>
      <p:sp>
        <p:nvSpPr>
          <p:cNvPr id="34" name="TextBox 34"/>
          <p:cNvSpPr txBox="1"/>
          <p:nvPr/>
        </p:nvSpPr>
        <p:spPr>
          <a:xfrm>
            <a:off x="9799364" y="5063339"/>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"لم يكن هناك نظام موحّد يجمع جميع خدمات ما بعد البيع في مكان واحد، حيث كانت كل خدمة تُدار بشكل منفصل وبأساليب مختلفة، مما يصعّب متابعة رحلة العميل بشكل كامل."</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317536"/>
            <a:ext cx="7683712" cy="1597114"/>
            <a:chOff x="0" y="0"/>
            <a:chExt cx="2091853" cy="434807"/>
          </a:xfrm>
        </p:grpSpPr>
        <p:sp>
          <p:nvSpPr>
            <p:cNvPr id="3" name="Freeform 3"/>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4" name="TextBox 4"/>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5" name="Group 5"/>
          <p:cNvGrpSpPr/>
          <p:nvPr/>
        </p:nvGrpSpPr>
        <p:grpSpPr>
          <a:xfrm>
            <a:off x="1028700" y="3432086"/>
            <a:ext cx="7683712" cy="1597114"/>
            <a:chOff x="0" y="0"/>
            <a:chExt cx="2091853" cy="434807"/>
          </a:xfrm>
        </p:grpSpPr>
        <p:sp>
          <p:nvSpPr>
            <p:cNvPr id="6" name="Freeform 6"/>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7" name="TextBox 7"/>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8" name="Group 8"/>
          <p:cNvGrpSpPr/>
          <p:nvPr/>
        </p:nvGrpSpPr>
        <p:grpSpPr>
          <a:xfrm>
            <a:off x="1028700" y="5546636"/>
            <a:ext cx="7683712" cy="1597114"/>
            <a:chOff x="0" y="0"/>
            <a:chExt cx="2091853" cy="434807"/>
          </a:xfrm>
        </p:grpSpPr>
        <p:sp>
          <p:nvSpPr>
            <p:cNvPr id="9" name="Freeform 9"/>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0" name="TextBox 10"/>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1" name="Group 11"/>
          <p:cNvGrpSpPr/>
          <p:nvPr/>
        </p:nvGrpSpPr>
        <p:grpSpPr>
          <a:xfrm>
            <a:off x="1028700" y="7661186"/>
            <a:ext cx="7683712" cy="1597114"/>
            <a:chOff x="0" y="0"/>
            <a:chExt cx="2091853" cy="434807"/>
          </a:xfrm>
        </p:grpSpPr>
        <p:sp>
          <p:nvSpPr>
            <p:cNvPr id="12" name="Freeform 12"/>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3" name="TextBox 13"/>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4" name="Group 14"/>
          <p:cNvGrpSpPr/>
          <p:nvPr/>
        </p:nvGrpSpPr>
        <p:grpSpPr>
          <a:xfrm>
            <a:off x="4478212" y="1028700"/>
            <a:ext cx="4234200" cy="577671"/>
            <a:chOff x="0" y="0"/>
            <a:chExt cx="1948972" cy="265898"/>
          </a:xfrm>
        </p:grpSpPr>
        <p:sp>
          <p:nvSpPr>
            <p:cNvPr id="15" name="Freeform 15"/>
            <p:cNvSpPr/>
            <p:nvPr/>
          </p:nvSpPr>
          <p:spPr>
            <a:xfrm>
              <a:off x="0" y="0"/>
              <a:ext cx="1948972" cy="265898"/>
            </a:xfrm>
            <a:custGeom>
              <a:avLst/>
              <a:gdLst/>
              <a:ahLst/>
              <a:cxnLst/>
              <a:rect l="l" t="t" r="r" b="b"/>
              <a:pathLst>
                <a:path w="1948972" h="265898">
                  <a:moveTo>
                    <a:pt x="36569" y="0"/>
                  </a:moveTo>
                  <a:lnTo>
                    <a:pt x="1912403" y="0"/>
                  </a:lnTo>
                  <a:cubicBezTo>
                    <a:pt x="1922102" y="0"/>
                    <a:pt x="1931403" y="3853"/>
                    <a:pt x="1938261" y="10711"/>
                  </a:cubicBezTo>
                  <a:cubicBezTo>
                    <a:pt x="1945119" y="17569"/>
                    <a:pt x="1948972" y="26870"/>
                    <a:pt x="1948972" y="36569"/>
                  </a:cubicBezTo>
                  <a:lnTo>
                    <a:pt x="1948972" y="229329"/>
                  </a:lnTo>
                  <a:cubicBezTo>
                    <a:pt x="1948972" y="249526"/>
                    <a:pt x="1932599" y="265898"/>
                    <a:pt x="1912403" y="265898"/>
                  </a:cubicBezTo>
                  <a:lnTo>
                    <a:pt x="36569" y="265898"/>
                  </a:lnTo>
                  <a:cubicBezTo>
                    <a:pt x="26870" y="265898"/>
                    <a:pt x="17569" y="262045"/>
                    <a:pt x="10711" y="255187"/>
                  </a:cubicBezTo>
                  <a:cubicBezTo>
                    <a:pt x="3853" y="248329"/>
                    <a:pt x="0" y="239028"/>
                    <a:pt x="0" y="229329"/>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16" name="TextBox 16"/>
            <p:cNvSpPr txBox="1"/>
            <p:nvPr/>
          </p:nvSpPr>
          <p:spPr>
            <a:xfrm>
              <a:off x="0" y="-57150"/>
              <a:ext cx="1948972" cy="323048"/>
            </a:xfrm>
            <a:prstGeom prst="rect">
              <a:avLst/>
            </a:prstGeom>
          </p:spPr>
          <p:txBody>
            <a:bodyPr lIns="50800" tIns="50800" rIns="50800" bIns="50800" rtlCol="0" anchor="ctr"/>
            <a:lstStyle/>
            <a:p>
              <a:pPr algn="l">
                <a:lnSpc>
                  <a:spcPts val="3250"/>
                </a:lnSpc>
              </a:pPr>
              <a:endParaRPr/>
            </a:p>
          </p:txBody>
        </p:sp>
      </p:grpSp>
      <p:sp>
        <p:nvSpPr>
          <p:cNvPr id="17" name="TextBox 17"/>
          <p:cNvSpPr txBox="1"/>
          <p:nvPr/>
        </p:nvSpPr>
        <p:spPr>
          <a:xfrm>
            <a:off x="1379301" y="17042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جمع خدمات ما بعد البيع ضمن نظام واحد بدل إدارتها بشكل منفصل، لتسهيل المتابعة وربط مراحل الخدمة ببعضها.</a:t>
            </a:r>
          </a:p>
        </p:txBody>
      </p:sp>
      <p:sp>
        <p:nvSpPr>
          <p:cNvPr id="18" name="TextBox 18"/>
          <p:cNvSpPr txBox="1"/>
          <p:nvPr/>
        </p:nvSpPr>
        <p:spPr>
          <a:xfrm>
            <a:off x="4478212" y="106157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توحيد الخدمات</a:t>
            </a:r>
          </a:p>
        </p:txBody>
      </p:sp>
      <p:sp>
        <p:nvSpPr>
          <p:cNvPr id="19" name="TextBox 19"/>
          <p:cNvSpPr txBox="1"/>
          <p:nvPr/>
        </p:nvSpPr>
        <p:spPr>
          <a:xfrm>
            <a:off x="1379301" y="38188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مسار واضح لكل خدمة من بداية الطلب حتى الإغلاق، مع معرفة المرحلة الحالية والخطوة التالية.</a:t>
            </a:r>
          </a:p>
        </p:txBody>
      </p:sp>
      <p:sp>
        <p:nvSpPr>
          <p:cNvPr id="20" name="TextBox 20"/>
          <p:cNvSpPr txBox="1"/>
          <p:nvPr/>
        </p:nvSpPr>
        <p:spPr>
          <a:xfrm>
            <a:off x="1379301" y="59333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أتمتة أكبر عدد ممكن من الخطوات وتقليل الاعتماد على المتابعة اليدوية والاجتهاد الشخصي للموظف.</a:t>
            </a:r>
          </a:p>
        </p:txBody>
      </p:sp>
      <p:sp>
        <p:nvSpPr>
          <p:cNvPr id="21" name="TextBox 21"/>
          <p:cNvSpPr txBox="1"/>
          <p:nvPr/>
        </p:nvSpPr>
        <p:spPr>
          <a:xfrm>
            <a:off x="1379301" y="80479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المسؤول عن كل مرحلة وتسهيل معرفة سبب التأخير أو مكان توقف الخدمة عند حدوث مشكلة.</a:t>
            </a:r>
          </a:p>
        </p:txBody>
      </p:sp>
      <p:grpSp>
        <p:nvGrpSpPr>
          <p:cNvPr id="22" name="Group 22"/>
          <p:cNvGrpSpPr/>
          <p:nvPr/>
        </p:nvGrpSpPr>
        <p:grpSpPr>
          <a:xfrm rot="5400000">
            <a:off x="10410133" y="-48592"/>
            <a:ext cx="5771875" cy="7926458"/>
            <a:chOff x="0" y="0"/>
            <a:chExt cx="1558866" cy="2140775"/>
          </a:xfrm>
        </p:grpSpPr>
        <p:sp>
          <p:nvSpPr>
            <p:cNvPr id="23" name="Freeform 2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24" name="TextBox 2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25" name="Group 25"/>
          <p:cNvGrpSpPr/>
          <p:nvPr/>
        </p:nvGrpSpPr>
        <p:grpSpPr>
          <a:xfrm rot="5400000">
            <a:off x="12336989" y="4335989"/>
            <a:ext cx="1918164" cy="7926458"/>
            <a:chOff x="0" y="0"/>
            <a:chExt cx="518057" cy="2140775"/>
          </a:xfrm>
        </p:grpSpPr>
        <p:sp>
          <p:nvSpPr>
            <p:cNvPr id="26" name="Freeform 26"/>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27" name="TextBox 27"/>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28" name="TextBox 28"/>
          <p:cNvSpPr txBox="1"/>
          <p:nvPr/>
        </p:nvSpPr>
        <p:spPr>
          <a:xfrm>
            <a:off x="10599168" y="1720671"/>
            <a:ext cx="6450457" cy="769441"/>
          </a:xfrm>
          <a:prstGeom prst="rect">
            <a:avLst/>
          </a:prstGeom>
        </p:spPr>
        <p:txBody>
          <a:bodyPr lIns="0" tIns="0" rIns="0" bIns="0" rtlCol="0" anchor="t">
            <a:spAutoFit/>
          </a:bodyPr>
          <a:lstStyle/>
          <a:p>
            <a:pPr algn="l">
              <a:lnSpc>
                <a:spcPts val="6023"/>
              </a:lnSpc>
            </a:pPr>
            <a:r>
              <a:rPr lang="ar-EG" sz="6023" b="1" dirty="0">
                <a:solidFill>
                  <a:srgbClr val="FFFFFF"/>
                </a:solidFill>
                <a:latin typeface="Glacial Indifference Bold"/>
                <a:ea typeface="Glacial Indifference Bold"/>
                <a:sym typeface="Glacial Indifference Bold"/>
                <a:rtl/>
              </a:rPr>
              <a:t>الهدف من المشروع</a:t>
            </a:r>
          </a:p>
        </p:txBody>
      </p:sp>
      <p:sp>
        <p:nvSpPr>
          <p:cNvPr id="29" name="TextBox 29"/>
          <p:cNvSpPr txBox="1"/>
          <p:nvPr/>
        </p:nvSpPr>
        <p:spPr>
          <a:xfrm>
            <a:off x="10126852" y="3262042"/>
            <a:ext cx="6725241" cy="785471"/>
          </a:xfrm>
          <a:prstGeom prst="rect">
            <a:avLst/>
          </a:prstGeom>
        </p:spPr>
        <p:txBody>
          <a:bodyPr lIns="0" tIns="0" rIns="0" bIns="0" rtlCol="0" anchor="t">
            <a:spAutoFit/>
          </a:bodyPr>
          <a:lstStyle/>
          <a:p>
            <a:pPr algn="r" rtl="1">
              <a:lnSpc>
                <a:spcPts val="3230"/>
              </a:lnSpc>
            </a:pPr>
            <a:r>
              <a:rPr lang="ar-EG" sz="2307" b="1" dirty="0">
                <a:solidFill>
                  <a:srgbClr val="FFFFFF"/>
                </a:solidFill>
                <a:latin typeface="Poppins Medium"/>
                <a:ea typeface="Poppins Medium"/>
                <a:sym typeface="Poppins Medium"/>
                <a:rtl/>
              </a:rPr>
              <a:t>بناء رحلة موحّدة وواضحة لخدمات ما بعد البيع، يمكن متابعتها وإدارتها من مكان واحد بكفاءة أعلى وأخطاء أقل.</a:t>
            </a:r>
          </a:p>
        </p:txBody>
      </p:sp>
      <p:sp>
        <p:nvSpPr>
          <p:cNvPr id="30" name="TextBox 30"/>
          <p:cNvSpPr txBox="1"/>
          <p:nvPr/>
        </p:nvSpPr>
        <p:spPr>
          <a:xfrm>
            <a:off x="9858680" y="7556298"/>
            <a:ext cx="6993414" cy="636777"/>
          </a:xfrm>
          <a:prstGeom prst="rect">
            <a:avLst/>
          </a:prstGeom>
        </p:spPr>
        <p:txBody>
          <a:bodyPr lIns="0" tIns="0" rIns="0" bIns="0" rtlCol="0" anchor="t">
            <a:spAutoFit/>
          </a:bodyPr>
          <a:lstStyle/>
          <a:p>
            <a:pPr algn="just" rtl="1">
              <a:lnSpc>
                <a:spcPts val="2558"/>
              </a:lnSpc>
            </a:pPr>
            <a:r>
              <a:rPr lang="ar-EG" sz="1827" b="1" dirty="0">
                <a:solidFill>
                  <a:srgbClr val="FFFFFF"/>
                </a:solidFill>
                <a:latin typeface="Poppins Medium"/>
                <a:ea typeface="Poppins Medium"/>
                <a:sym typeface="Poppins Medium"/>
                <a:rtl/>
              </a:rPr>
              <a:t>"تهدف هذه المحاور إلى بناء عملية تشغيلية أكثر وضوحًا وترابطًا، تساعد الموظف على تنفيذ الخدمة بشكل صحيح، وتمنح الإدارة رؤية أفضل على سير الطلبات والخدمات."</a:t>
            </a:r>
          </a:p>
        </p:txBody>
      </p:sp>
      <p:grpSp>
        <p:nvGrpSpPr>
          <p:cNvPr id="31" name="Group 31"/>
          <p:cNvGrpSpPr/>
          <p:nvPr/>
        </p:nvGrpSpPr>
        <p:grpSpPr>
          <a:xfrm>
            <a:off x="4478212" y="3067050"/>
            <a:ext cx="4234200" cy="651479"/>
            <a:chOff x="0" y="0"/>
            <a:chExt cx="1948972" cy="299871"/>
          </a:xfrm>
        </p:grpSpPr>
        <p:sp>
          <p:nvSpPr>
            <p:cNvPr id="32" name="Freeform 32"/>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3" name="TextBox 33"/>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4" name="TextBox 34"/>
          <p:cNvSpPr txBox="1"/>
          <p:nvPr/>
        </p:nvSpPr>
        <p:spPr>
          <a:xfrm>
            <a:off x="4478212" y="309992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تنظيم رحلة الخدمة</a:t>
            </a:r>
          </a:p>
        </p:txBody>
      </p:sp>
      <p:grpSp>
        <p:nvGrpSpPr>
          <p:cNvPr id="35" name="Group 35"/>
          <p:cNvGrpSpPr/>
          <p:nvPr/>
        </p:nvGrpSpPr>
        <p:grpSpPr>
          <a:xfrm>
            <a:off x="4478212" y="5186647"/>
            <a:ext cx="4234200" cy="651479"/>
            <a:chOff x="0" y="0"/>
            <a:chExt cx="1948972" cy="299871"/>
          </a:xfrm>
        </p:grpSpPr>
        <p:sp>
          <p:nvSpPr>
            <p:cNvPr id="36" name="Freeform 36"/>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7" name="TextBox 37"/>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8" name="TextBox 38"/>
          <p:cNvSpPr txBox="1"/>
          <p:nvPr/>
        </p:nvSpPr>
        <p:spPr>
          <a:xfrm>
            <a:off x="4478212" y="5219524"/>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تقليل العمل اليدوي</a:t>
            </a:r>
          </a:p>
        </p:txBody>
      </p:sp>
      <p:grpSp>
        <p:nvGrpSpPr>
          <p:cNvPr id="39" name="Group 39"/>
          <p:cNvGrpSpPr/>
          <p:nvPr/>
        </p:nvGrpSpPr>
        <p:grpSpPr>
          <a:xfrm>
            <a:off x="4478212" y="7325301"/>
            <a:ext cx="4234200" cy="651479"/>
            <a:chOff x="0" y="0"/>
            <a:chExt cx="1948972" cy="299871"/>
          </a:xfrm>
        </p:grpSpPr>
        <p:sp>
          <p:nvSpPr>
            <p:cNvPr id="40" name="Freeform 40"/>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41" name="TextBox 41"/>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42" name="TextBox 42"/>
          <p:cNvSpPr txBox="1"/>
          <p:nvPr/>
        </p:nvSpPr>
        <p:spPr>
          <a:xfrm>
            <a:off x="4478212" y="7358178"/>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وضوح المسؤوليات والمتابعة</a:t>
            </a:r>
          </a:p>
        </p:txBody>
      </p:sp>
      <p:sp>
        <p:nvSpPr>
          <p:cNvPr id="43" name="TextBox 43"/>
          <p:cNvSpPr txBox="1"/>
          <p:nvPr/>
        </p:nvSpPr>
        <p:spPr>
          <a:xfrm>
            <a:off x="9858680" y="4381831"/>
            <a:ext cx="6993414" cy="1637051"/>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"يهدف المشروع إلى بناء منظومة موحدة لخدمات ما بعد البيع تربط مختلف مراحل الخدمة ضمن مسار واضح ومتكامل، بحيث يمكن متابعة الطلب من لحظة إنشائه وحتى إغلاقه، مع تقليل الاعتماد على الإجراءات اليدوية، وتوضيح مسؤوليات كل فريق، وتحسين القدرة على معرفة حالة الطلب ومصدر أي تأخير أو مشكلة. كما يوفّر هذا التنظيم أساسًا يمكن تطويره مستقبلًا لإضافة خدمات جديدة، وتحسين التقارير، ورفع مستوى الرقابة والكفاءة التشغيلية."</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Freeform 46"/>
          <p:cNvSpPr/>
          <p:nvPr/>
        </p:nvSpPr>
        <p:spPr>
          <a:xfrm>
            <a:off x="14317594" y="826639"/>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sp>
      <p:sp>
        <p:nvSpPr>
          <p:cNvPr id="109" name="Freeform 46"/>
          <p:cNvSpPr/>
          <p:nvPr/>
        </p:nvSpPr>
        <p:spPr>
          <a:xfrm>
            <a:off x="8996594" y="2448634"/>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sp>
      <p:sp>
        <p:nvSpPr>
          <p:cNvPr id="108" name="Freeform 44"/>
          <p:cNvSpPr/>
          <p:nvPr/>
        </p:nvSpPr>
        <p:spPr>
          <a:xfrm>
            <a:off x="6346299" y="674272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sp>
      <p:grpSp>
        <p:nvGrpSpPr>
          <p:cNvPr id="2" name="Group 2"/>
          <p:cNvGrpSpPr/>
          <p:nvPr/>
        </p:nvGrpSpPr>
        <p:grpSpPr>
          <a:xfrm>
            <a:off x="177596" y="5578079"/>
            <a:ext cx="2145026" cy="1310525"/>
            <a:chOff x="0" y="0"/>
            <a:chExt cx="598252" cy="365508"/>
          </a:xfrm>
        </p:grpSpPr>
        <p:sp>
          <p:nvSpPr>
            <p:cNvPr id="3" name="Freeform 3"/>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4" name="TextBox 4"/>
            <p:cNvSpPr txBox="1"/>
            <p:nvPr/>
          </p:nvSpPr>
          <p:spPr>
            <a:xfrm>
              <a:off x="0" y="-19050"/>
              <a:ext cx="598252" cy="384558"/>
            </a:xfrm>
            <a:prstGeom prst="rect">
              <a:avLst/>
            </a:prstGeom>
          </p:spPr>
          <p:txBody>
            <a:bodyPr lIns="50800" tIns="50800" rIns="50800" bIns="50800" rtlCol="0" anchor="ctr"/>
            <a:lstStyle/>
            <a:p>
              <a:pPr marL="0" lvl="0" indent="0" algn="ctr">
                <a:lnSpc>
                  <a:spcPts val="2239"/>
                </a:lnSpc>
                <a:spcBef>
                  <a:spcPct val="0"/>
                </a:spcBef>
              </a:pPr>
              <a:endParaRPr/>
            </a:p>
          </p:txBody>
        </p:sp>
      </p:grpSp>
      <p:sp>
        <p:nvSpPr>
          <p:cNvPr id="5" name="Freeform 5"/>
          <p:cNvSpPr/>
          <p:nvPr/>
        </p:nvSpPr>
        <p:spPr>
          <a:xfrm rot="5400000">
            <a:off x="1016521" y="7704930"/>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sp>
      <p:grpSp>
        <p:nvGrpSpPr>
          <p:cNvPr id="6" name="Group 6"/>
          <p:cNvGrpSpPr/>
          <p:nvPr/>
        </p:nvGrpSpPr>
        <p:grpSpPr>
          <a:xfrm>
            <a:off x="177893" y="6566481"/>
            <a:ext cx="2144433" cy="2280178"/>
            <a:chOff x="0" y="0"/>
            <a:chExt cx="434313" cy="461805"/>
          </a:xfrm>
        </p:grpSpPr>
        <p:sp>
          <p:nvSpPr>
            <p:cNvPr id="7" name="Freeform 7"/>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38100" cap="sq">
              <a:solidFill>
                <a:srgbClr val="1960BD"/>
              </a:solidFill>
              <a:prstDash val="solid"/>
              <a:miter/>
            </a:ln>
          </p:spPr>
        </p:sp>
        <p:sp>
          <p:nvSpPr>
            <p:cNvPr id="8" name="TextBox 8"/>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9" name="Freeform 9"/>
          <p:cNvSpPr/>
          <p:nvPr/>
        </p:nvSpPr>
        <p:spPr>
          <a:xfrm rot="5400000">
            <a:off x="8792638" y="5606923"/>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sp>
      <p:grpSp>
        <p:nvGrpSpPr>
          <p:cNvPr id="10" name="Group 10"/>
          <p:cNvGrpSpPr/>
          <p:nvPr/>
        </p:nvGrpSpPr>
        <p:grpSpPr>
          <a:xfrm rot="-10800000">
            <a:off x="7958638" y="5438128"/>
            <a:ext cx="2145026" cy="1310525"/>
            <a:chOff x="0" y="0"/>
            <a:chExt cx="598252" cy="365508"/>
          </a:xfrm>
        </p:grpSpPr>
        <p:sp>
          <p:nvSpPr>
            <p:cNvPr id="11" name="Freeform 11"/>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2" name="TextBox 12"/>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3" name="Group 13"/>
          <p:cNvGrpSpPr/>
          <p:nvPr/>
        </p:nvGrpSpPr>
        <p:grpSpPr>
          <a:xfrm rot="-10800000">
            <a:off x="7958935" y="3480072"/>
            <a:ext cx="2144433" cy="2280178"/>
            <a:chOff x="0" y="0"/>
            <a:chExt cx="434313" cy="461805"/>
          </a:xfrm>
        </p:grpSpPr>
        <p:sp>
          <p:nvSpPr>
            <p:cNvPr id="14" name="Freeform 14"/>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15" name="TextBox 15"/>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5367943" y="3866622"/>
            <a:ext cx="2145026" cy="1310525"/>
            <a:chOff x="0" y="0"/>
            <a:chExt cx="598252" cy="365508"/>
          </a:xfrm>
        </p:grpSpPr>
        <p:sp>
          <p:nvSpPr>
            <p:cNvPr id="17" name="Freeform 17"/>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8" name="TextBox 18"/>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9" name="Freeform 19"/>
          <p:cNvSpPr/>
          <p:nvPr/>
        </p:nvSpPr>
        <p:spPr>
          <a:xfrm rot="5400000">
            <a:off x="6206868" y="5993472"/>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sp>
      <p:grpSp>
        <p:nvGrpSpPr>
          <p:cNvPr id="20" name="Group 20"/>
          <p:cNvGrpSpPr/>
          <p:nvPr/>
        </p:nvGrpSpPr>
        <p:grpSpPr>
          <a:xfrm>
            <a:off x="5368239" y="4855024"/>
            <a:ext cx="2144433" cy="2280178"/>
            <a:chOff x="0" y="0"/>
            <a:chExt cx="434313" cy="461805"/>
          </a:xfrm>
        </p:grpSpPr>
        <p:sp>
          <p:nvSpPr>
            <p:cNvPr id="21" name="Freeform 21"/>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2" name="TextBox 22"/>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23" name="Freeform 23"/>
          <p:cNvSpPr/>
          <p:nvPr/>
        </p:nvSpPr>
        <p:spPr>
          <a:xfrm rot="5400000">
            <a:off x="14073462" y="3895466"/>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sp>
      <p:grpSp>
        <p:nvGrpSpPr>
          <p:cNvPr id="24" name="Group 24"/>
          <p:cNvGrpSpPr/>
          <p:nvPr/>
        </p:nvGrpSpPr>
        <p:grpSpPr>
          <a:xfrm rot="-10800000">
            <a:off x="13239462" y="3726671"/>
            <a:ext cx="2145026" cy="1310525"/>
            <a:chOff x="0" y="0"/>
            <a:chExt cx="598252" cy="365508"/>
          </a:xfrm>
        </p:grpSpPr>
        <p:sp>
          <p:nvSpPr>
            <p:cNvPr id="25" name="Freeform 25"/>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26" name="TextBox 26"/>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27" name="Group 27"/>
          <p:cNvGrpSpPr/>
          <p:nvPr/>
        </p:nvGrpSpPr>
        <p:grpSpPr>
          <a:xfrm rot="-10800000">
            <a:off x="13239759" y="1768615"/>
            <a:ext cx="2144433" cy="2280178"/>
            <a:chOff x="0" y="0"/>
            <a:chExt cx="434313" cy="461805"/>
          </a:xfrm>
        </p:grpSpPr>
        <p:sp>
          <p:nvSpPr>
            <p:cNvPr id="28" name="Freeform 28"/>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9" name="TextBox 29"/>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30" name="Freeform 30"/>
          <p:cNvSpPr/>
          <p:nvPr/>
        </p:nvSpPr>
        <p:spPr>
          <a:xfrm rot="5400000">
            <a:off x="3604530" y="7318380"/>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sp>
      <p:grpSp>
        <p:nvGrpSpPr>
          <p:cNvPr id="31" name="Group 31"/>
          <p:cNvGrpSpPr/>
          <p:nvPr/>
        </p:nvGrpSpPr>
        <p:grpSpPr>
          <a:xfrm rot="-10800000">
            <a:off x="2770531" y="7149585"/>
            <a:ext cx="2145026" cy="1310525"/>
            <a:chOff x="0" y="0"/>
            <a:chExt cx="598252" cy="365508"/>
          </a:xfrm>
        </p:grpSpPr>
        <p:sp>
          <p:nvSpPr>
            <p:cNvPr id="32" name="Freeform 32"/>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3" name="TextBox 33"/>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34" name="Group 34"/>
          <p:cNvGrpSpPr/>
          <p:nvPr/>
        </p:nvGrpSpPr>
        <p:grpSpPr>
          <a:xfrm rot="-10800000">
            <a:off x="2770827" y="5191530"/>
            <a:ext cx="2144433" cy="2280178"/>
            <a:chOff x="0" y="0"/>
            <a:chExt cx="434313" cy="461805"/>
          </a:xfrm>
        </p:grpSpPr>
        <p:sp>
          <p:nvSpPr>
            <p:cNvPr id="35" name="Freeform 35"/>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36" name="TextBox 36"/>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37" name="Group 37"/>
          <p:cNvGrpSpPr/>
          <p:nvPr/>
        </p:nvGrpSpPr>
        <p:grpSpPr>
          <a:xfrm>
            <a:off x="10556051" y="2155165"/>
            <a:ext cx="2145026" cy="1310525"/>
            <a:chOff x="0" y="0"/>
            <a:chExt cx="598252" cy="365508"/>
          </a:xfrm>
        </p:grpSpPr>
        <p:sp>
          <p:nvSpPr>
            <p:cNvPr id="38" name="Freeform 38"/>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9" name="TextBox 39"/>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40" name="Freeform 40"/>
          <p:cNvSpPr/>
          <p:nvPr/>
        </p:nvSpPr>
        <p:spPr>
          <a:xfrm rot="5400000">
            <a:off x="11394976" y="4282015"/>
            <a:ext cx="477027" cy="2134582"/>
          </a:xfrm>
          <a:custGeom>
            <a:avLst/>
            <a:gdLst/>
            <a:ahLst/>
            <a:cxnLst/>
            <a:rect l="l" t="t" r="r" b="b"/>
            <a:pathLst>
              <a:path w="477027" h="2134582">
                <a:moveTo>
                  <a:pt x="0" y="0"/>
                </a:moveTo>
                <a:lnTo>
                  <a:pt x="477026" y="0"/>
                </a:lnTo>
                <a:lnTo>
                  <a:pt x="477026" y="2134583"/>
                </a:lnTo>
                <a:lnTo>
                  <a:pt x="0" y="2134583"/>
                </a:lnTo>
                <a:lnTo>
                  <a:pt x="0" y="0"/>
                </a:lnTo>
                <a:close/>
              </a:path>
            </a:pathLst>
          </a:custGeom>
          <a:blipFill>
            <a:blip r:embed="rId2"/>
            <a:stretch>
              <a:fillRect l="-345849"/>
            </a:stretch>
          </a:blipFill>
        </p:spPr>
      </p:sp>
      <p:grpSp>
        <p:nvGrpSpPr>
          <p:cNvPr id="41" name="Group 41"/>
          <p:cNvGrpSpPr/>
          <p:nvPr/>
        </p:nvGrpSpPr>
        <p:grpSpPr>
          <a:xfrm>
            <a:off x="10556347" y="3143567"/>
            <a:ext cx="2144433" cy="2280178"/>
            <a:chOff x="0" y="0"/>
            <a:chExt cx="434313" cy="461805"/>
          </a:xfrm>
        </p:grpSpPr>
        <p:sp>
          <p:nvSpPr>
            <p:cNvPr id="42" name="Freeform 42"/>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43" name="TextBox 43"/>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44" name="Freeform 44"/>
          <p:cNvSpPr/>
          <p:nvPr/>
        </p:nvSpPr>
        <p:spPr>
          <a:xfrm>
            <a:off x="1250109" y="8460110"/>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sp>
      <p:sp>
        <p:nvSpPr>
          <p:cNvPr id="45" name="Freeform 45"/>
          <p:cNvSpPr/>
          <p:nvPr/>
        </p:nvSpPr>
        <p:spPr>
          <a:xfrm>
            <a:off x="3843044" y="4521884"/>
            <a:ext cx="1524899" cy="669646"/>
          </a:xfrm>
          <a:custGeom>
            <a:avLst/>
            <a:gdLst/>
            <a:ahLst/>
            <a:cxnLst/>
            <a:rect l="l" t="t" r="r" b="b"/>
            <a:pathLst>
              <a:path w="1524899" h="669646">
                <a:moveTo>
                  <a:pt x="0" y="669646"/>
                </a:moveTo>
                <a:lnTo>
                  <a:pt x="0" y="219075"/>
                </a:lnTo>
                <a:cubicBezTo>
                  <a:pt x="0" y="98083"/>
                  <a:pt x="98083" y="0"/>
                  <a:pt x="219075" y="0"/>
                </a:cubicBezTo>
                <a:lnTo>
                  <a:pt x="1524899" y="0"/>
                </a:lnTo>
              </a:path>
            </a:pathLst>
          </a:custGeom>
          <a:ln w="38100" cap="rnd">
            <a:solidFill>
              <a:srgbClr val="1960BD"/>
            </a:solidFill>
            <a:prstDash val="sysDot"/>
            <a:headEnd type="none" w="sm" len="sm"/>
            <a:tailEnd type="none" w="sm" len="sm"/>
          </a:ln>
        </p:spPr>
      </p:sp>
      <p:grpSp>
        <p:nvGrpSpPr>
          <p:cNvPr id="49" name="Group 49"/>
          <p:cNvGrpSpPr/>
          <p:nvPr/>
        </p:nvGrpSpPr>
        <p:grpSpPr>
          <a:xfrm rot="-5400000">
            <a:off x="2452196" y="9127939"/>
            <a:ext cx="345126" cy="301986"/>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1" name="TextBox 51"/>
            <p:cNvSpPr txBox="1"/>
            <p:nvPr/>
          </p:nvSpPr>
          <p:spPr>
            <a:xfrm>
              <a:off x="127000" y="41275"/>
              <a:ext cx="558800" cy="339725"/>
            </a:xfrm>
            <a:prstGeom prst="rect">
              <a:avLst/>
            </a:prstGeom>
          </p:spPr>
          <p:txBody>
            <a:bodyPr lIns="50800" tIns="50800" rIns="50800" bIns="50800" rtlCol="0" anchor="ctr"/>
            <a:lstStyle/>
            <a:p>
              <a:pPr algn="ctr">
                <a:lnSpc>
                  <a:spcPts val="1919"/>
                </a:lnSpc>
              </a:pPr>
              <a:endParaRPr/>
            </a:p>
          </p:txBody>
        </p:sp>
      </p:grpSp>
      <p:grpSp>
        <p:nvGrpSpPr>
          <p:cNvPr id="52" name="Group 52"/>
          <p:cNvGrpSpPr/>
          <p:nvPr/>
        </p:nvGrpSpPr>
        <p:grpSpPr>
          <a:xfrm rot="-5400000">
            <a:off x="4347282" y="4370891"/>
            <a:ext cx="345126" cy="301986"/>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4" name="TextBox 54"/>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61" name="TextBox 61"/>
          <p:cNvSpPr txBox="1"/>
          <p:nvPr/>
        </p:nvSpPr>
        <p:spPr>
          <a:xfrm>
            <a:off x="482216" y="5753510"/>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فاتورة من </a:t>
            </a:r>
            <a:r>
              <a:rPr lang="en-US" sz="1819" b="1">
                <a:solidFill>
                  <a:srgbClr val="000000"/>
                </a:solidFill>
                <a:latin typeface="Arial" panose="020B0604020202020204" pitchFamily="34" charset="0"/>
                <a:ea typeface="Public Sans Bold"/>
                <a:cs typeface="Arial" panose="020B0604020202020204" pitchFamily="34" charset="0"/>
                <a:sym typeface="Public Sans Bold"/>
              </a:rPr>
              <a:t>SAP</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قسم المبيعات</a:t>
            </a:r>
          </a:p>
        </p:txBody>
      </p:sp>
      <p:sp>
        <p:nvSpPr>
          <p:cNvPr id="62" name="TextBox 62"/>
          <p:cNvSpPr txBox="1"/>
          <p:nvPr/>
        </p:nvSpPr>
        <p:spPr>
          <a:xfrm>
            <a:off x="435808" y="7027991"/>
            <a:ext cx="1628602" cy="1590179"/>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وصول الفاتورة إلى نظام خدمات ما بعد البيع وبدء رحلة الخدمة.</a:t>
            </a: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3" name="TextBox 63"/>
          <p:cNvSpPr txBox="1"/>
          <p:nvPr/>
        </p:nvSpPr>
        <p:spPr>
          <a:xfrm>
            <a:off x="3028743" y="5653039"/>
            <a:ext cx="1628602" cy="1692771"/>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أخذ القياسات المطلوبة من موقع العميل وتجهيز البيانات للخدمات التالية.</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4" name="TextBox 64"/>
          <p:cNvSpPr txBox="1"/>
          <p:nvPr/>
        </p:nvSpPr>
        <p:spPr>
          <a:xfrm>
            <a:off x="5626155" y="5316534"/>
            <a:ext cx="1628602" cy="1410643"/>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إعداد التصميم بناءً على القياسات ومتطلبات العميل.</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5" name="TextBox 65"/>
          <p:cNvSpPr txBox="1"/>
          <p:nvPr/>
        </p:nvSpPr>
        <p:spPr>
          <a:xfrm>
            <a:off x="8216850" y="3941582"/>
            <a:ext cx="1628602" cy="846386"/>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تصنيع وتجهيز الطلب حسب التصميم والمواصفات المعتمدة.</a:t>
            </a:r>
          </a:p>
        </p:txBody>
      </p:sp>
      <p:sp>
        <p:nvSpPr>
          <p:cNvPr id="66" name="TextBox 66"/>
          <p:cNvSpPr txBox="1"/>
          <p:nvPr/>
        </p:nvSpPr>
        <p:spPr>
          <a:xfrm>
            <a:off x="10814263" y="3595552"/>
            <a:ext cx="1628602" cy="46166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تجهيز الطلب وتسليمه للعميل في الموعد المحدد.</a:t>
            </a:r>
          </a:p>
        </p:txBody>
      </p:sp>
      <p:sp>
        <p:nvSpPr>
          <p:cNvPr id="67" name="TextBox 67"/>
          <p:cNvSpPr txBox="1"/>
          <p:nvPr/>
        </p:nvSpPr>
        <p:spPr>
          <a:xfrm>
            <a:off x="13497675" y="2220600"/>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تنفيذ أعمال التركيب في موقع العميل وإكمال الخدمة.</a:t>
            </a:r>
          </a:p>
        </p:txBody>
      </p:sp>
      <p:sp>
        <p:nvSpPr>
          <p:cNvPr id="68" name="TextBox 68"/>
          <p:cNvSpPr txBox="1"/>
          <p:nvPr/>
        </p:nvSpPr>
        <p:spPr>
          <a:xfrm>
            <a:off x="8263084" y="5979126"/>
            <a:ext cx="1536136" cy="564257"/>
          </a:xfrm>
          <a:prstGeom prst="rect">
            <a:avLst/>
          </a:prstGeom>
        </p:spPr>
        <p:txBody>
          <a:bodyPr lIns="0" tIns="0" rIns="0" bIns="0" rtlCol="0" anchor="t">
            <a:spAutoFit/>
          </a:bodyPr>
          <a:lstStyle/>
          <a:p>
            <a:pPr marL="0" lvl="0" indent="0"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69" name="TextBox 69"/>
          <p:cNvSpPr txBox="1"/>
          <p:nvPr/>
        </p:nvSpPr>
        <p:spPr>
          <a:xfrm>
            <a:off x="5672388" y="4083699"/>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التصميم</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التصميم</a:t>
            </a:r>
          </a:p>
        </p:txBody>
      </p:sp>
      <p:sp>
        <p:nvSpPr>
          <p:cNvPr id="70" name="TextBox 70"/>
          <p:cNvSpPr txBox="1"/>
          <p:nvPr/>
        </p:nvSpPr>
        <p:spPr>
          <a:xfrm>
            <a:off x="13543908" y="4267668"/>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71" name="TextBox 71"/>
          <p:cNvSpPr txBox="1"/>
          <p:nvPr/>
        </p:nvSpPr>
        <p:spPr>
          <a:xfrm>
            <a:off x="3074976" y="7690583"/>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رفع المقاسات</a:t>
            </a:r>
          </a:p>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p>
        </p:txBody>
      </p:sp>
      <p:sp>
        <p:nvSpPr>
          <p:cNvPr id="72" name="TextBox 72"/>
          <p:cNvSpPr txBox="1"/>
          <p:nvPr/>
        </p:nvSpPr>
        <p:spPr>
          <a:xfrm>
            <a:off x="10860496" y="2234129"/>
            <a:ext cx="1536136" cy="846386"/>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التوصيل</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التوصيل والمستودعات</a:t>
            </a:r>
          </a:p>
        </p:txBody>
      </p:sp>
      <p:grpSp>
        <p:nvGrpSpPr>
          <p:cNvPr id="76" name="Group 76"/>
          <p:cNvGrpSpPr/>
          <p:nvPr/>
        </p:nvGrpSpPr>
        <p:grpSpPr>
          <a:xfrm>
            <a:off x="9845452" y="7907357"/>
            <a:ext cx="8216607" cy="1455743"/>
            <a:chOff x="-223647" y="170472"/>
            <a:chExt cx="10955475" cy="1940991"/>
          </a:xfrm>
        </p:grpSpPr>
        <p:sp>
          <p:nvSpPr>
            <p:cNvPr id="77" name="TextBox 77"/>
            <p:cNvSpPr txBox="1"/>
            <p:nvPr/>
          </p:nvSpPr>
          <p:spPr>
            <a:xfrm>
              <a:off x="-163662" y="170472"/>
              <a:ext cx="10895490" cy="770809"/>
            </a:xfrm>
            <a:prstGeom prst="rect">
              <a:avLst/>
            </a:prstGeom>
          </p:spPr>
          <p:txBody>
            <a:bodyPr lIns="0" tIns="0" rIns="0" bIns="0" rtlCol="0" anchor="t">
              <a:spAutoFit/>
            </a:bodyPr>
            <a:lstStyle/>
            <a:p>
              <a:pPr algn="r" rtl="1">
                <a:lnSpc>
                  <a:spcPts val="4787"/>
                </a:lnSpc>
              </a:pPr>
              <a:r>
                <a:rPr lang="ar-EG" sz="3989" b="1">
                  <a:solidFill>
                    <a:srgbClr val="000000"/>
                  </a:solidFill>
                  <a:latin typeface="Arial" panose="020B0604020202020204" pitchFamily="34" charset="0"/>
                  <a:ea typeface="Public Sans Ultra-Bold"/>
                  <a:cs typeface="Arial" panose="020B0604020202020204" pitchFamily="34" charset="0"/>
                  <a:sym typeface="Public Sans Ultra-Bold"/>
                  <a:rtl/>
                </a:rPr>
                <a:t> رحلة الخدمة الجديدة</a:t>
              </a:r>
            </a:p>
          </p:txBody>
        </p:sp>
        <p:sp>
          <p:nvSpPr>
            <p:cNvPr id="78" name="TextBox 78"/>
            <p:cNvSpPr txBox="1"/>
            <p:nvPr/>
          </p:nvSpPr>
          <p:spPr>
            <a:xfrm>
              <a:off x="-223647" y="1720587"/>
              <a:ext cx="10895490" cy="390876"/>
            </a:xfrm>
            <a:prstGeom prst="rect">
              <a:avLst/>
            </a:prstGeom>
          </p:spPr>
          <p:txBody>
            <a:bodyPr lIns="0" tIns="0" rIns="0" bIns="0" rtlCol="0" anchor="t">
              <a:spAutoFit/>
            </a:bodyPr>
            <a:lstStyle/>
            <a:p>
              <a:pPr algn="r" rtl="1">
                <a:lnSpc>
                  <a:spcPts val="2526"/>
                </a:lnSpc>
                <a:spcBef>
                  <a:spcPct val="0"/>
                </a:spcBef>
              </a:pPr>
              <a:r>
                <a:rPr lang="ar-EG" sz="1804">
                  <a:solidFill>
                    <a:srgbClr val="1E1E1E"/>
                  </a:solidFill>
                  <a:latin typeface="Arial" panose="020B0604020202020204" pitchFamily="34" charset="0"/>
                  <a:ea typeface="Public Sans"/>
                  <a:cs typeface="Arial" panose="020B0604020202020204" pitchFamily="34" charset="0"/>
                  <a:sym typeface="Public Sans"/>
                  <a:rtl/>
                </a:rPr>
                <a:t>رحلة مترابطة تبدأ من الفاتورة وتنتقل بين الخدمات حسب احتياج العميل حتى إتمام الخدمة وتقييم </a:t>
              </a:r>
              <a:r>
                <a:rPr lang="ar-EG" sz="1804" smtClean="0">
                  <a:solidFill>
                    <a:srgbClr val="1E1E1E"/>
                  </a:solidFill>
                  <a:latin typeface="Arial" panose="020B0604020202020204" pitchFamily="34" charset="0"/>
                  <a:ea typeface="Public Sans"/>
                  <a:cs typeface="Arial" panose="020B0604020202020204" pitchFamily="34" charset="0"/>
                  <a:sym typeface="Public Sans"/>
                  <a:rtl/>
                </a:rPr>
                <a:t>التجرب</a:t>
              </a:r>
              <a:r>
                <a:rPr lang="ar-SY" sz="1804" smtClean="0">
                  <a:solidFill>
                    <a:srgbClr val="1E1E1E"/>
                  </a:solidFill>
                  <a:latin typeface="Arial" panose="020B0604020202020204" pitchFamily="34" charset="0"/>
                  <a:ea typeface="Public Sans"/>
                  <a:cs typeface="Arial" panose="020B0604020202020204" pitchFamily="34" charset="0"/>
                  <a:sym typeface="Public Sans"/>
                  <a:rtl/>
                </a:rPr>
                <a:t>ة</a:t>
              </a:r>
              <a:endParaRPr lang="ar-EG" sz="1804">
                <a:solidFill>
                  <a:srgbClr val="1E1E1E"/>
                </a:solidFill>
                <a:latin typeface="Arial" panose="020B0604020202020204" pitchFamily="34" charset="0"/>
                <a:ea typeface="Public Sans"/>
                <a:cs typeface="Arial" panose="020B0604020202020204" pitchFamily="34" charset="0"/>
                <a:sym typeface="Public Sans"/>
                <a:rtl/>
              </a:endParaRPr>
            </a:p>
          </p:txBody>
        </p:sp>
      </p:grpSp>
      <p:grpSp>
        <p:nvGrpSpPr>
          <p:cNvPr id="79" name="Group 79"/>
          <p:cNvGrpSpPr/>
          <p:nvPr/>
        </p:nvGrpSpPr>
        <p:grpSpPr>
          <a:xfrm>
            <a:off x="15855523" y="458091"/>
            <a:ext cx="2145026" cy="1310525"/>
            <a:chOff x="0" y="0"/>
            <a:chExt cx="598252" cy="365508"/>
          </a:xfrm>
        </p:grpSpPr>
        <p:sp>
          <p:nvSpPr>
            <p:cNvPr id="80" name="Freeform 80"/>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81" name="TextBox 81"/>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2" name="Group 82"/>
          <p:cNvGrpSpPr/>
          <p:nvPr/>
        </p:nvGrpSpPr>
        <p:grpSpPr>
          <a:xfrm>
            <a:off x="15855820" y="1446493"/>
            <a:ext cx="2144433" cy="2280178"/>
            <a:chOff x="0" y="0"/>
            <a:chExt cx="434313" cy="461805"/>
          </a:xfrm>
        </p:grpSpPr>
        <p:sp>
          <p:nvSpPr>
            <p:cNvPr id="83" name="Freeform 83"/>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84" name="TextBox 84"/>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89" name="TextBox 89"/>
          <p:cNvSpPr txBox="1"/>
          <p:nvPr/>
        </p:nvSpPr>
        <p:spPr>
          <a:xfrm>
            <a:off x="16159968" y="813280"/>
            <a:ext cx="1536136" cy="564257"/>
          </a:xfrm>
          <a:prstGeom prst="rect">
            <a:avLst/>
          </a:prstGeom>
        </p:spPr>
        <p:txBody>
          <a:bodyPr lIns="0" tIns="0" rIns="0" bIns="0" rtlCol="0" anchor="t">
            <a:spAutoFit/>
          </a:bodyPr>
          <a:lstStyle/>
          <a:p>
            <a:pPr algn="ctr">
              <a:lnSpc>
                <a:spcPts val="2183"/>
              </a:lnSpc>
            </a:pPr>
            <a:r>
              <a:rPr lang="ar-EG" sz="1819" b="1" dirty="0">
                <a:solidFill>
                  <a:srgbClr val="000000"/>
                </a:solidFill>
                <a:latin typeface="Arial" panose="020B0604020202020204" pitchFamily="34" charset="0"/>
                <a:ea typeface="Public Sans Bold"/>
                <a:cs typeface="Arial" panose="020B0604020202020204" pitchFamily="34" charset="0"/>
                <a:sym typeface="Public Sans Bold"/>
                <a:rtl/>
              </a:rPr>
              <a:t>تقييم </a:t>
            </a:r>
            <a:r>
              <a:rPr lang="ar-EG" sz="1819" b="1" dirty="0" smtClean="0">
                <a:solidFill>
                  <a:srgbClr val="000000"/>
                </a:solidFill>
                <a:latin typeface="Arial" panose="020B0604020202020204" pitchFamily="34" charset="0"/>
                <a:ea typeface="Public Sans Bold"/>
                <a:cs typeface="Arial" panose="020B0604020202020204" pitchFamily="34" charset="0"/>
                <a:sym typeface="Public Sans Bold"/>
                <a:rtl/>
              </a:rPr>
              <a:t>العميل</a:t>
            </a:r>
            <a:endParaRPr lang="en-US" sz="1819" b="1" dirty="0" smtClean="0">
              <a:solidFill>
                <a:srgbClr val="000000"/>
              </a:solidFill>
              <a:latin typeface="Arial" panose="020B0604020202020204" pitchFamily="34" charset="0"/>
              <a:ea typeface="Public Sans Bold"/>
              <a:cs typeface="Arial" panose="020B0604020202020204" pitchFamily="34" charset="0"/>
              <a:sym typeface="Public Sans Bold"/>
              <a:rtl/>
            </a:endParaRPr>
          </a:p>
          <a:p>
            <a:pPr algn="ctr">
              <a:lnSpc>
                <a:spcPts val="2183"/>
              </a:lnSpc>
            </a:pPr>
            <a:r>
              <a:rPr lang="ar-SY" sz="1819" b="1" dirty="0" smtClean="0">
                <a:solidFill>
                  <a:srgbClr val="000000"/>
                </a:solidFill>
                <a:latin typeface="Arial" panose="020B0604020202020204" pitchFamily="34" charset="0"/>
                <a:ea typeface="Public Sans Bold"/>
                <a:cs typeface="Arial" panose="020B0604020202020204" pitchFamily="34" charset="0"/>
                <a:sym typeface="Public Sans Bold"/>
                <a:rtl/>
              </a:rPr>
              <a:t>خدمة العملاء</a:t>
            </a:r>
            <a:endParaRPr lang="ar-EG" sz="1819" b="1" dirty="0">
              <a:solidFill>
                <a:srgbClr val="000000"/>
              </a:solidFill>
              <a:latin typeface="Arial" panose="020B0604020202020204" pitchFamily="34" charset="0"/>
              <a:ea typeface="Public Sans Bold"/>
              <a:cs typeface="Arial" panose="020B0604020202020204" pitchFamily="34" charset="0"/>
              <a:sym typeface="Public Sans Bold"/>
              <a:rtl/>
            </a:endParaRPr>
          </a:p>
        </p:txBody>
      </p:sp>
      <p:sp>
        <p:nvSpPr>
          <p:cNvPr id="90" name="TextBox 90"/>
          <p:cNvSpPr txBox="1"/>
          <p:nvPr/>
        </p:nvSpPr>
        <p:spPr>
          <a:xfrm>
            <a:off x="16184292" y="1953142"/>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توثيق تجربة العميل وقياس مستوى رضاه بعد اكتمال الخدمة.</a:t>
            </a:r>
          </a:p>
        </p:txBody>
      </p:sp>
      <p:grpSp>
        <p:nvGrpSpPr>
          <p:cNvPr id="103" name="Group 55"/>
          <p:cNvGrpSpPr/>
          <p:nvPr/>
        </p:nvGrpSpPr>
        <p:grpSpPr>
          <a:xfrm rot="-5400000">
            <a:off x="7619937" y="7412572"/>
            <a:ext cx="345126" cy="301986"/>
            <a:chOff x="0" y="0"/>
            <a:chExt cx="812800" cy="711200"/>
          </a:xfrm>
        </p:grpSpPr>
        <p:sp>
          <p:nvSpPr>
            <p:cNvPr id="104"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05"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0" name="Group 55"/>
          <p:cNvGrpSpPr/>
          <p:nvPr/>
        </p:nvGrpSpPr>
        <p:grpSpPr>
          <a:xfrm rot="-5400000">
            <a:off x="9566885" y="2295159"/>
            <a:ext cx="345126" cy="301986"/>
            <a:chOff x="0" y="0"/>
            <a:chExt cx="812800" cy="711200"/>
          </a:xfrm>
        </p:grpSpPr>
        <p:sp>
          <p:nvSpPr>
            <p:cNvPr id="111"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2"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13" name="Freeform 44"/>
          <p:cNvSpPr/>
          <p:nvPr/>
        </p:nvSpPr>
        <p:spPr>
          <a:xfrm>
            <a:off x="11673654" y="507946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sp>
      <p:grpSp>
        <p:nvGrpSpPr>
          <p:cNvPr id="114" name="Group 55"/>
          <p:cNvGrpSpPr/>
          <p:nvPr/>
        </p:nvGrpSpPr>
        <p:grpSpPr>
          <a:xfrm rot="-5400000">
            <a:off x="12871412" y="5749312"/>
            <a:ext cx="345126" cy="301986"/>
            <a:chOff x="0" y="0"/>
            <a:chExt cx="812800" cy="711200"/>
          </a:xfrm>
        </p:grpSpPr>
        <p:sp>
          <p:nvSpPr>
            <p:cNvPr id="115"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6"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8" name="Group 55"/>
          <p:cNvGrpSpPr/>
          <p:nvPr/>
        </p:nvGrpSpPr>
        <p:grpSpPr>
          <a:xfrm rot="-5400000">
            <a:off x="14953714" y="702026"/>
            <a:ext cx="345126" cy="301986"/>
            <a:chOff x="0" y="0"/>
            <a:chExt cx="812800" cy="711200"/>
          </a:xfrm>
        </p:grpSpPr>
        <p:sp>
          <p:nvSpPr>
            <p:cNvPr id="119"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20"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26034" y="380701"/>
            <a:ext cx="267541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التوصيل</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62766" y="1419353"/>
            <a:ext cx="360194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 / التوصيل</a:t>
            </a:r>
          </a:p>
        </p:txBody>
      </p:sp>
      <p:pic>
        <p:nvPicPr>
          <p:cNvPr id="6" name="Picture 5" descr="3.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634278"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17"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575561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5744006"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13" name="TextBox 12"/>
          <p:cNvSpPr txBox="1"/>
          <p:nvPr/>
        </p:nvSpPr>
        <p:spPr>
          <a:xfrm>
            <a:off x="1532292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3108575"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455071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73313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3229911"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3218303"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توصيل</a:t>
            </a:r>
          </a:p>
        </p:txBody>
      </p:sp>
      <p:sp>
        <p:nvSpPr>
          <p:cNvPr id="19" name="TextBox 18"/>
          <p:cNvSpPr txBox="1"/>
          <p:nvPr/>
        </p:nvSpPr>
        <p:spPr>
          <a:xfrm>
            <a:off x="12797218"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10582872"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2025011"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220742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1070420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10692600"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التوصيل</a:t>
            </a:r>
          </a:p>
        </p:txBody>
      </p:sp>
      <p:sp>
        <p:nvSpPr>
          <p:cNvPr id="25" name="TextBox 24"/>
          <p:cNvSpPr txBox="1"/>
          <p:nvPr/>
        </p:nvSpPr>
        <p:spPr>
          <a:xfrm>
            <a:off x="1027151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8057169"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949930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968172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8178505"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8166897"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ربط الخدمة بالسائق</a:t>
            </a:r>
          </a:p>
        </p:txBody>
      </p:sp>
      <p:sp>
        <p:nvSpPr>
          <p:cNvPr id="31" name="TextBox 30"/>
          <p:cNvSpPr txBox="1"/>
          <p:nvPr/>
        </p:nvSpPr>
        <p:spPr>
          <a:xfrm>
            <a:off x="7745812"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5531466"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6973605"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715602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565280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5641194"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ملء النموذج</a:t>
            </a:r>
          </a:p>
        </p:txBody>
      </p:sp>
      <p:sp>
        <p:nvSpPr>
          <p:cNvPr id="37" name="TextBox 36"/>
          <p:cNvSpPr txBox="1"/>
          <p:nvPr/>
        </p:nvSpPr>
        <p:spPr>
          <a:xfrm>
            <a:off x="522010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8" name="Rounded Rectangle 37"/>
          <p:cNvSpPr/>
          <p:nvPr/>
        </p:nvSpPr>
        <p:spPr>
          <a:xfrm>
            <a:off x="3005763"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44790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630321"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41" name="TextBox 40"/>
          <p:cNvSpPr txBox="1"/>
          <p:nvPr/>
        </p:nvSpPr>
        <p:spPr>
          <a:xfrm>
            <a:off x="3127099"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2" name="TextBox 41"/>
          <p:cNvSpPr txBox="1"/>
          <p:nvPr/>
        </p:nvSpPr>
        <p:spPr>
          <a:xfrm>
            <a:off x="3115491" y="3814850"/>
            <a:ext cx="1949631" cy="270715"/>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التوصيل</a:t>
            </a:r>
          </a:p>
        </p:txBody>
      </p:sp>
      <p:sp>
        <p:nvSpPr>
          <p:cNvPr id="43" name="TextBox 42"/>
          <p:cNvSpPr txBox="1"/>
          <p:nvPr/>
        </p:nvSpPr>
        <p:spPr>
          <a:xfrm>
            <a:off x="2694406"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44" name="Rounded Rectangle 43"/>
          <p:cNvSpPr/>
          <p:nvPr/>
        </p:nvSpPr>
        <p:spPr>
          <a:xfrm>
            <a:off x="480060"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922199"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210461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47" name="TextBox 46"/>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8" name="TextBox 47"/>
          <p:cNvSpPr txBox="1"/>
          <p:nvPr/>
        </p:nvSpPr>
        <p:spPr>
          <a:xfrm>
            <a:off x="589788"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استلام الخدمة</a:t>
            </a:r>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التوصيل.</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التوصيل داخل نظام خدمات ما 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جدولة التوصيل، وإرسال رابط الحجز للعميل لتحديد الموعد وموقع التسليم.</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ربط الخدمة بالسائق المسؤول عن التنفيذ.</a:t>
            </a:r>
          </a:p>
        </p:txBody>
      </p:sp>
      <p:sp>
        <p:nvSpPr>
          <p:cNvPr id="72" name="Rounded Rectangle 71"/>
          <p:cNvSpPr/>
          <p:nvPr/>
        </p:nvSpPr>
        <p:spPr>
          <a:xfrm>
            <a:off x="617220"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1"/>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مسؤول التحميل / إدارة المستودعات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تعبئة نموذج سند التحميل وتجهيز بيانات الرحلة.</a:t>
            </a:r>
          </a:p>
        </p:txBody>
      </p:sp>
      <p:sp>
        <p:nvSpPr>
          <p:cNvPr id="78" name="Rounded Rectangle 77"/>
          <p:cNvSpPr/>
          <p:nvPr/>
        </p:nvSpPr>
        <p:spPr>
          <a:xfrm>
            <a:off x="13794867"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7"/>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مسؤول التحميل / إدارة المستودعات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رحلة التوصيل وتوثيق تنفيذ الخدمة.</a:t>
            </a:r>
          </a:p>
        </p:txBody>
      </p:sp>
      <p:sp>
        <p:nvSpPr>
          <p:cNvPr id="84" name="Rounded Rectangle 83"/>
          <p:cNvSpPr/>
          <p:nvPr/>
        </p:nvSpPr>
        <p:spPr>
          <a:xfrm>
            <a:off x="9402318"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السائق / إدارة المستودعات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استلام العميل للخدمة وإغلاق دورة التوصيل.</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Tree>
    <p:extLst>
      <p:ext uri="{BB962C8B-B14F-4D97-AF65-F5344CB8AC3E}">
        <p14:creationId xmlns:p14="http://schemas.microsoft.com/office/powerpoint/2010/main" val="27371587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6875068" y="380701"/>
            <a:ext cx="4533292"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التحويلات الداخلية</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7751911" y="1419353"/>
            <a:ext cx="277960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a:t>
            </a:r>
          </a:p>
        </p:txBody>
      </p:sp>
      <p:sp>
        <p:nvSpPr>
          <p:cNvPr id="6" name="Rounded Rectangle 5"/>
          <p:cNvSpPr/>
          <p:nvPr/>
        </p:nvSpPr>
        <p:spPr>
          <a:xfrm>
            <a:off x="15213330"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Oval 6"/>
          <p:cNvSpPr/>
          <p:nvPr/>
        </p:nvSpPr>
        <p:spPr>
          <a:xfrm>
            <a:off x="17076420"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25883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 name="TextBox 8"/>
          <p:cNvSpPr txBox="1"/>
          <p:nvPr/>
        </p:nvSpPr>
        <p:spPr>
          <a:xfrm>
            <a:off x="1533466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0" name="TextBox 9"/>
          <p:cNvSpPr txBox="1"/>
          <p:nvPr/>
        </p:nvSpPr>
        <p:spPr>
          <a:xfrm>
            <a:off x="15323058"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استلام طلب التحويل</a:t>
            </a:r>
          </a:p>
        </p:txBody>
      </p:sp>
      <p:sp>
        <p:nvSpPr>
          <p:cNvPr id="11" name="TextBox 10"/>
          <p:cNvSpPr txBox="1"/>
          <p:nvPr/>
        </p:nvSpPr>
        <p:spPr>
          <a:xfrm>
            <a:off x="14901973"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2" name="Rounded Rectangle 11"/>
          <p:cNvSpPr/>
          <p:nvPr/>
        </p:nvSpPr>
        <p:spPr>
          <a:xfrm>
            <a:off x="12266676"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14129766"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431218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5" name="TextBox 14"/>
          <p:cNvSpPr txBox="1"/>
          <p:nvPr/>
        </p:nvSpPr>
        <p:spPr>
          <a:xfrm>
            <a:off x="1238801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6" name="TextBox 15"/>
          <p:cNvSpPr txBox="1"/>
          <p:nvPr/>
        </p:nvSpPr>
        <p:spPr>
          <a:xfrm>
            <a:off x="12376404"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تحويل داخلي</a:t>
            </a:r>
          </a:p>
        </p:txBody>
      </p:sp>
      <p:sp>
        <p:nvSpPr>
          <p:cNvPr id="17" name="TextBox 16"/>
          <p:cNvSpPr txBox="1"/>
          <p:nvPr/>
        </p:nvSpPr>
        <p:spPr>
          <a:xfrm>
            <a:off x="1195531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8" name="Rounded Rectangle 17"/>
          <p:cNvSpPr/>
          <p:nvPr/>
        </p:nvSpPr>
        <p:spPr>
          <a:xfrm>
            <a:off x="9320022"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1118311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11365530"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1" name="TextBox 20"/>
          <p:cNvSpPr txBox="1"/>
          <p:nvPr/>
        </p:nvSpPr>
        <p:spPr>
          <a:xfrm>
            <a:off x="944135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2" name="TextBox 21"/>
          <p:cNvSpPr txBox="1"/>
          <p:nvPr/>
        </p:nvSpPr>
        <p:spPr>
          <a:xfrm>
            <a:off x="9429750"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النقل</a:t>
            </a:r>
          </a:p>
        </p:txBody>
      </p:sp>
      <p:sp>
        <p:nvSpPr>
          <p:cNvPr id="23" name="TextBox 22"/>
          <p:cNvSpPr txBox="1"/>
          <p:nvPr/>
        </p:nvSpPr>
        <p:spPr>
          <a:xfrm>
            <a:off x="900866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4" name="Rounded Rectangle 23"/>
          <p:cNvSpPr/>
          <p:nvPr/>
        </p:nvSpPr>
        <p:spPr>
          <a:xfrm>
            <a:off x="6373368"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823645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841887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7" name="TextBox 26"/>
          <p:cNvSpPr txBox="1"/>
          <p:nvPr/>
        </p:nvSpPr>
        <p:spPr>
          <a:xfrm>
            <a:off x="649470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8" name="TextBox 27"/>
          <p:cNvSpPr txBox="1"/>
          <p:nvPr/>
        </p:nvSpPr>
        <p:spPr>
          <a:xfrm>
            <a:off x="6483096" y="3659359"/>
            <a:ext cx="2370582" cy="581698"/>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التحقق من الجاهزية وحجز الموعد</a:t>
            </a:r>
          </a:p>
        </p:txBody>
      </p:sp>
      <p:sp>
        <p:nvSpPr>
          <p:cNvPr id="29" name="TextBox 28"/>
          <p:cNvSpPr txBox="1"/>
          <p:nvPr/>
        </p:nvSpPr>
        <p:spPr>
          <a:xfrm>
            <a:off x="606201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0" name="Rounded Rectangle 29"/>
          <p:cNvSpPr/>
          <p:nvPr/>
        </p:nvSpPr>
        <p:spPr>
          <a:xfrm>
            <a:off x="3426714"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528980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5472223"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3" name="TextBox 32"/>
          <p:cNvSpPr txBox="1"/>
          <p:nvPr/>
        </p:nvSpPr>
        <p:spPr>
          <a:xfrm>
            <a:off x="3548050"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4" name="TextBox 33"/>
          <p:cNvSpPr txBox="1"/>
          <p:nvPr/>
        </p:nvSpPr>
        <p:spPr>
          <a:xfrm>
            <a:off x="3536442"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تسجيل النقل</a:t>
            </a:r>
          </a:p>
        </p:txBody>
      </p:sp>
      <p:sp>
        <p:nvSpPr>
          <p:cNvPr id="35" name="TextBox 34"/>
          <p:cNvSpPr txBox="1"/>
          <p:nvPr/>
        </p:nvSpPr>
        <p:spPr>
          <a:xfrm>
            <a:off x="3115357"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6" name="Rounded Rectangle 35"/>
          <p:cNvSpPr/>
          <p:nvPr/>
        </p:nvSpPr>
        <p:spPr>
          <a:xfrm>
            <a:off x="480060"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2343150"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252556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39" name="TextBox 38"/>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0" name="TextBox 39"/>
          <p:cNvSpPr txBox="1"/>
          <p:nvPr/>
        </p:nvSpPr>
        <p:spPr>
          <a:xfrm>
            <a:off x="589788"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تأكيد الاستلام</a:t>
            </a:r>
          </a:p>
        </p:txBody>
      </p:sp>
      <p:sp>
        <p:nvSpPr>
          <p:cNvPr id="41" name="TextBox 40"/>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42" name="Rounded Rectangle 41"/>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419088"/>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نشوء الحاجة لنقل بضاعة بين المستودعات، وفتح طلب استلام التحويل لدعم تنفيذ الخدمة.</a:t>
            </a:r>
          </a:p>
        </p:txBody>
      </p:sp>
      <p:sp>
        <p:nvSpPr>
          <p:cNvPr id="46" name="Rounded Rectangle 45"/>
          <p:cNvSpPr/>
          <p:nvPr/>
        </p:nvSpPr>
        <p:spPr>
          <a:xfrm>
            <a:off x="12330684"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
        <p:nvSpPr>
          <p:cNvPr id="48" name="Rounded Rectangle 47"/>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فتح طلب تحويل داخلي ضمن مرحلة «طلب تحويل».</a:t>
            </a:r>
          </a:p>
        </p:txBody>
      </p:sp>
      <p:sp>
        <p:nvSpPr>
          <p:cNvPr id="52" name="Rounded Rectangle 51"/>
          <p:cNvSpPr/>
          <p:nvPr/>
        </p:nvSpPr>
        <p:spPr>
          <a:xfrm>
            <a:off x="6473952"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
        <p:nvSpPr>
          <p:cNvPr id="54" name="Rounded Rectangle 53"/>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699516" y="6419088"/>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«جاري النقل»، ونقل البضاعة إلى مستودع التجمع أثناء تحركها.</a:t>
            </a:r>
          </a:p>
        </p:txBody>
      </p:sp>
      <p:sp>
        <p:nvSpPr>
          <p:cNvPr id="58" name="Rounded Rectangle 57"/>
          <p:cNvSpPr/>
          <p:nvPr/>
        </p:nvSpPr>
        <p:spPr>
          <a:xfrm>
            <a:off x="617220"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
        <p:nvSpPr>
          <p:cNvPr id="60" name="Rounded Rectangle 59"/>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63" name="TextBox 62"/>
          <p:cNvSpPr txBox="1"/>
          <p:nvPr/>
        </p:nvSpPr>
        <p:spPr>
          <a:xfrm>
            <a:off x="12412980" y="8833105"/>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التحقق من جاهزية البضاعة وحجز الموعد المناسب.</a:t>
            </a:r>
          </a:p>
        </p:txBody>
      </p:sp>
      <p:sp>
        <p:nvSpPr>
          <p:cNvPr id="64" name="Rounded Rectangle 63"/>
          <p:cNvSpPr/>
          <p:nvPr/>
        </p:nvSpPr>
        <p:spPr>
          <a:xfrm>
            <a:off x="12330684" y="9381744"/>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
        <p:nvSpPr>
          <p:cNvPr id="66" name="Rounded Rectangle 65"/>
          <p:cNvSpPr/>
          <p:nvPr/>
        </p:nvSpPr>
        <p:spPr>
          <a:xfrm>
            <a:off x="6336792"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6"/>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7"/>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9" name="TextBox 68"/>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عملية النقل عبر خطوة Record Transfer.</a:t>
            </a:r>
          </a:p>
        </p:txBody>
      </p:sp>
      <p:sp>
        <p:nvSpPr>
          <p:cNvPr id="70" name="Rounded Rectangle 69"/>
          <p:cNvSpPr/>
          <p:nvPr/>
        </p:nvSpPr>
        <p:spPr>
          <a:xfrm>
            <a:off x="6473952" y="9381744"/>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
        <p:nvSpPr>
          <p:cNvPr id="72" name="Rounded Rectangle 71"/>
          <p:cNvSpPr/>
          <p:nvPr/>
        </p:nvSpPr>
        <p:spPr>
          <a:xfrm>
            <a:off x="480060"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Oval 72"/>
          <p:cNvSpPr/>
          <p:nvPr/>
        </p:nvSpPr>
        <p:spPr>
          <a:xfrm>
            <a:off x="5321808"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5467888"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75" name="TextBox 74"/>
          <p:cNvSpPr txBox="1"/>
          <p:nvPr/>
        </p:nvSpPr>
        <p:spPr>
          <a:xfrm>
            <a:off x="699516" y="8833104"/>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تأكيد الاستلام (Confirm Receipt) عند وصول البضاعة وإغلاق دورة التحويل الداخلي.</a:t>
            </a:r>
          </a:p>
        </p:txBody>
      </p:sp>
      <p:sp>
        <p:nvSpPr>
          <p:cNvPr id="76" name="Rounded Rectangle 75"/>
          <p:cNvSpPr/>
          <p:nvPr/>
        </p:nvSpPr>
        <p:spPr>
          <a:xfrm>
            <a:off x="617220" y="9381744"/>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699516" y="9529106"/>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المستودعات</a:t>
            </a:r>
          </a:p>
        </p:txBody>
      </p:sp>
    </p:spTree>
    <p:extLst>
      <p:ext uri="{BB962C8B-B14F-4D97-AF65-F5344CB8AC3E}">
        <p14:creationId xmlns:p14="http://schemas.microsoft.com/office/powerpoint/2010/main" val="31408453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225897" y="380701"/>
            <a:ext cx="367568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رفع المقاسات</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44331" y="1419353"/>
            <a:ext cx="363881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فريق رفع المقاسات / الفنيون</a:t>
            </a:r>
          </a:p>
        </p:txBody>
      </p:sp>
      <p:pic>
        <p:nvPicPr>
          <p:cNvPr id="6" name="Picture 5" descr="2.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634278"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17"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575561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5744006"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13" name="TextBox 12"/>
          <p:cNvSpPr txBox="1"/>
          <p:nvPr/>
        </p:nvSpPr>
        <p:spPr>
          <a:xfrm>
            <a:off x="1532292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3108575"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455071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73313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3229911"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3218303"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رفع مقاسات</a:t>
            </a:r>
          </a:p>
        </p:txBody>
      </p:sp>
      <p:sp>
        <p:nvSpPr>
          <p:cNvPr id="19" name="TextBox 18"/>
          <p:cNvSpPr txBox="1"/>
          <p:nvPr/>
        </p:nvSpPr>
        <p:spPr>
          <a:xfrm>
            <a:off x="12797218"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10582872"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2025011"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220742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1070420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10692600" y="3659360"/>
            <a:ext cx="1949631" cy="581698"/>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التحقق من الجاهزية وحجز الموعد</a:t>
            </a:r>
          </a:p>
        </p:txBody>
      </p:sp>
      <p:sp>
        <p:nvSpPr>
          <p:cNvPr id="25" name="TextBox 24"/>
          <p:cNvSpPr txBox="1"/>
          <p:nvPr/>
        </p:nvSpPr>
        <p:spPr>
          <a:xfrm>
            <a:off x="1027151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8057169"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949930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968172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8178505"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8166897"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 تعيين الفني</a:t>
            </a:r>
          </a:p>
        </p:txBody>
      </p:sp>
      <p:sp>
        <p:nvSpPr>
          <p:cNvPr id="31" name="TextBox 30"/>
          <p:cNvSpPr txBox="1"/>
          <p:nvPr/>
        </p:nvSpPr>
        <p:spPr>
          <a:xfrm>
            <a:off x="7745812"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5531466"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6973605"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715602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565280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5641194"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37" name="TextBox 36"/>
          <p:cNvSpPr txBox="1"/>
          <p:nvPr/>
        </p:nvSpPr>
        <p:spPr>
          <a:xfrm>
            <a:off x="522010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8" name="Rounded Rectangle 37"/>
          <p:cNvSpPr/>
          <p:nvPr/>
        </p:nvSpPr>
        <p:spPr>
          <a:xfrm>
            <a:off x="3005763"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44790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630321"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41" name="TextBox 40"/>
          <p:cNvSpPr txBox="1"/>
          <p:nvPr/>
        </p:nvSpPr>
        <p:spPr>
          <a:xfrm>
            <a:off x="3127099"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2" name="TextBox 41"/>
          <p:cNvSpPr txBox="1"/>
          <p:nvPr/>
        </p:nvSpPr>
        <p:spPr>
          <a:xfrm>
            <a:off x="3115491"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رفع القياسات</a:t>
            </a:r>
          </a:p>
        </p:txBody>
      </p:sp>
      <p:sp>
        <p:nvSpPr>
          <p:cNvPr id="43" name="TextBox 42"/>
          <p:cNvSpPr txBox="1"/>
          <p:nvPr/>
        </p:nvSpPr>
        <p:spPr>
          <a:xfrm>
            <a:off x="2694406"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44" name="Rounded Rectangle 43"/>
          <p:cNvSpPr/>
          <p:nvPr/>
        </p:nvSpPr>
        <p:spPr>
          <a:xfrm>
            <a:off x="480060"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922199"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210461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47" name="TextBox 46"/>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8" name="TextBox 47"/>
          <p:cNvSpPr txBox="1"/>
          <p:nvPr/>
        </p:nvSpPr>
        <p:spPr>
          <a:xfrm>
            <a:off x="589788"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تمت الخدمة</a:t>
            </a:r>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رفع المقاسات.</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رفع مقاسات داخل نظام خدمات ما بعد البيع.</a:t>
            </a:r>
          </a:p>
        </p:txBody>
      </p:sp>
      <p:sp>
        <p:nvSpPr>
          <p:cNvPr id="60" name="Rounded Rectangle 59"/>
          <p:cNvSpPr/>
          <p:nvPr/>
        </p:nvSpPr>
        <p:spPr>
          <a:xfrm>
            <a:off x="9402318"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خدمة العملاء</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التحقق من الجاهزية وحجز الموعد وإرسال رابط الحجز للعميل.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الزيارة.</a:t>
            </a:r>
          </a:p>
        </p:txBody>
      </p:sp>
      <p:sp>
        <p:nvSpPr>
          <p:cNvPr id="72" name="Rounded Rectangle 71"/>
          <p:cNvSpPr/>
          <p:nvPr/>
        </p:nvSpPr>
        <p:spPr>
          <a:xfrm>
            <a:off x="617220"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a:t>
            </a:r>
            <a:r>
              <a:rPr lang="en-US" sz="1650" b="1">
                <a:solidFill>
                  <a:srgbClr val="FFFFFF"/>
                </a:solidFill>
                <a:latin typeface="Arial" panose="020B0604020202020204" pitchFamily="34" charset="0"/>
              </a:rPr>
              <a:t>/ </a:t>
            </a:r>
            <a:r>
              <a:rPr sz="1650" b="1">
                <a:solidFill>
                  <a:srgbClr val="FFFFFF"/>
                </a:solidFill>
                <a:latin typeface="Arial" panose="020B0604020202020204" pitchFamily="34" charset="0"/>
              </a:rPr>
              <a:t>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فتح نموذج رفع المقاسات وبدء تنفيذ الخدمة في موقع العميل.</a:t>
            </a:r>
          </a:p>
        </p:txBody>
      </p:sp>
      <p:sp>
        <p:nvSpPr>
          <p:cNvPr id="78" name="Rounded Rectangle 77"/>
          <p:cNvSpPr/>
          <p:nvPr/>
        </p:nvSpPr>
        <p:spPr>
          <a:xfrm>
            <a:off x="13794867"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الفني / إدارة التركيبات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الغرف والمقاسات ورفع الصور والملاحظات المطلوبة.</a:t>
            </a:r>
          </a:p>
        </p:txBody>
      </p:sp>
      <p:sp>
        <p:nvSpPr>
          <p:cNvPr id="84" name="Rounded Rectangle 83"/>
          <p:cNvSpPr/>
          <p:nvPr/>
        </p:nvSpPr>
        <p:spPr>
          <a:xfrm>
            <a:off x="9402318"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توثيق استلام العميل للخدمة واعتماد التنفيذ، وانتقال المهمة إلى مرحلة تمت الخدمة.</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Tree>
    <p:extLst>
      <p:ext uri="{BB962C8B-B14F-4D97-AF65-F5344CB8AC3E}">
        <p14:creationId xmlns:p14="http://schemas.microsoft.com/office/powerpoint/2010/main" val="40321607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91757" y="380701"/>
            <a:ext cx="254396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التركيب</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27876" y="1419353"/>
            <a:ext cx="327172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التركيبات / الفنيون</a:t>
            </a:r>
          </a:p>
        </p:txBody>
      </p:sp>
      <p:pic>
        <p:nvPicPr>
          <p:cNvPr id="6" name="Picture 5" descr="4.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634278"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17"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575561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5744006"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13" name="TextBox 12"/>
          <p:cNvSpPr txBox="1"/>
          <p:nvPr/>
        </p:nvSpPr>
        <p:spPr>
          <a:xfrm>
            <a:off x="1532292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3108575"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455071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73313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3229911"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3218303"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تركيب</a:t>
            </a:r>
          </a:p>
        </p:txBody>
      </p:sp>
      <p:sp>
        <p:nvSpPr>
          <p:cNvPr id="19" name="TextBox 18"/>
          <p:cNvSpPr txBox="1"/>
          <p:nvPr/>
        </p:nvSpPr>
        <p:spPr>
          <a:xfrm>
            <a:off x="12797218"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10582872"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2025011"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220742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1070420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10692600"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خدمة التركيب</a:t>
            </a:r>
          </a:p>
        </p:txBody>
      </p:sp>
      <p:sp>
        <p:nvSpPr>
          <p:cNvPr id="25" name="TextBox 24"/>
          <p:cNvSpPr txBox="1"/>
          <p:nvPr/>
        </p:nvSpPr>
        <p:spPr>
          <a:xfrm>
            <a:off x="1027151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8057169"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949930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968172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8178505"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8166897"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في انتظار تعيين الفني</a:t>
            </a:r>
          </a:p>
        </p:txBody>
      </p:sp>
      <p:sp>
        <p:nvSpPr>
          <p:cNvPr id="31" name="TextBox 30"/>
          <p:cNvSpPr txBox="1"/>
          <p:nvPr/>
        </p:nvSpPr>
        <p:spPr>
          <a:xfrm>
            <a:off x="7745812"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5531466"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6973605"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715602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565280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5641194" y="3659359"/>
            <a:ext cx="1949631" cy="581698"/>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تنفيذ خدمة التوصيل للعميل</a:t>
            </a:r>
          </a:p>
        </p:txBody>
      </p:sp>
      <p:sp>
        <p:nvSpPr>
          <p:cNvPr id="37" name="TextBox 36"/>
          <p:cNvSpPr txBox="1"/>
          <p:nvPr/>
        </p:nvSpPr>
        <p:spPr>
          <a:xfrm>
            <a:off x="522010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8" name="Rounded Rectangle 37"/>
          <p:cNvSpPr/>
          <p:nvPr/>
        </p:nvSpPr>
        <p:spPr>
          <a:xfrm>
            <a:off x="3005763"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44790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630321"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41" name="TextBox 40"/>
          <p:cNvSpPr txBox="1"/>
          <p:nvPr/>
        </p:nvSpPr>
        <p:spPr>
          <a:xfrm>
            <a:off x="3127099"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2" name="TextBox 41"/>
          <p:cNvSpPr txBox="1"/>
          <p:nvPr/>
        </p:nvSpPr>
        <p:spPr>
          <a:xfrm>
            <a:off x="3115491"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43" name="TextBox 42"/>
          <p:cNvSpPr txBox="1"/>
          <p:nvPr/>
        </p:nvSpPr>
        <p:spPr>
          <a:xfrm>
            <a:off x="2694406"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44" name="Rounded Rectangle 43"/>
          <p:cNvSpPr/>
          <p:nvPr/>
        </p:nvSpPr>
        <p:spPr>
          <a:xfrm>
            <a:off x="480060"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922199"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210461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47" name="TextBox 46"/>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8" name="TextBox 47"/>
          <p:cNvSpPr txBox="1"/>
          <p:nvPr/>
        </p:nvSpPr>
        <p:spPr>
          <a:xfrm>
            <a:off x="589788"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 التركيب</a:t>
            </a:r>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التركيب.</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تركيب داخل نظام خدمات مابعد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طلب التركيب إلى مرحلة جدولة خدمة التركيب، وإرسال رابط الحجز وتأكيد الموعد مع العميل.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خدمة التركيب.</a:t>
            </a:r>
          </a:p>
        </p:txBody>
      </p:sp>
      <p:sp>
        <p:nvSpPr>
          <p:cNvPr id="72" name="Rounded Rectangle 71"/>
          <p:cNvSpPr/>
          <p:nvPr/>
        </p:nvSpPr>
        <p:spPr>
          <a:xfrm>
            <a:off x="617220"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87600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تنفيذ خدمة التوصيل للعميل عند ارتباط خدمة التركيب بالتوصيل، لضمان وصول البضاعة قبل تنفيذ التركيب.</a:t>
            </a:r>
          </a:p>
        </p:txBody>
      </p:sp>
      <p:sp>
        <p:nvSpPr>
          <p:cNvPr id="78" name="Rounded Rectangle 77"/>
          <p:cNvSpPr/>
          <p:nvPr/>
        </p:nvSpPr>
        <p:spPr>
          <a:xfrm>
            <a:off x="13794867"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إدارة المستودعات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يقوم الفني في موقع العميل بفتح نموذج التركيب وتنفيذ الخدمة وتوثيق بياناته.</a:t>
            </a:r>
          </a:p>
        </p:txBody>
      </p:sp>
      <p:sp>
        <p:nvSpPr>
          <p:cNvPr id="84" name="Rounded Rectangle 83"/>
          <p:cNvSpPr/>
          <p:nvPr/>
        </p:nvSpPr>
        <p:spPr>
          <a:xfrm>
            <a:off x="9402318"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إنهاء أعمال التركيب وتوثيق استلام العميل للخدمة، تنتقل المهمة إلى مرحلة تم التركيب.</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Tree>
    <p:extLst>
      <p:ext uri="{BB962C8B-B14F-4D97-AF65-F5344CB8AC3E}">
        <p14:creationId xmlns:p14="http://schemas.microsoft.com/office/powerpoint/2010/main" val="1991186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62102" y="380701"/>
            <a:ext cx="2603277"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التصميم</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843855" y="1419353"/>
            <a:ext cx="2439771"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التصميم</a:t>
            </a:r>
          </a:p>
        </p:txBody>
      </p:sp>
      <p:pic>
        <p:nvPicPr>
          <p:cNvPr id="6" name="Picture 5" descr="5.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634278"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17"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575561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5744006"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13" name="TextBox 12"/>
          <p:cNvSpPr txBox="1"/>
          <p:nvPr/>
        </p:nvSpPr>
        <p:spPr>
          <a:xfrm>
            <a:off x="1532292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3108575"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455071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73313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3229911"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3218303"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تصميم</a:t>
            </a:r>
          </a:p>
        </p:txBody>
      </p:sp>
      <p:sp>
        <p:nvSpPr>
          <p:cNvPr id="19" name="TextBox 18"/>
          <p:cNvSpPr txBox="1"/>
          <p:nvPr/>
        </p:nvSpPr>
        <p:spPr>
          <a:xfrm>
            <a:off x="12797218"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10582872"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2025011"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220742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1070420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10692600"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مُسندة لمصمم</a:t>
            </a:r>
          </a:p>
        </p:txBody>
      </p:sp>
      <p:sp>
        <p:nvSpPr>
          <p:cNvPr id="25" name="TextBox 24"/>
          <p:cNvSpPr txBox="1"/>
          <p:nvPr/>
        </p:nvSpPr>
        <p:spPr>
          <a:xfrm>
            <a:off x="1027151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8057169"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949930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968172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8178505"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8166897"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العمل على التصميم</a:t>
            </a:r>
          </a:p>
        </p:txBody>
      </p:sp>
      <p:sp>
        <p:nvSpPr>
          <p:cNvPr id="31" name="TextBox 30"/>
          <p:cNvSpPr txBox="1"/>
          <p:nvPr/>
        </p:nvSpPr>
        <p:spPr>
          <a:xfrm>
            <a:off x="7745812"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5531466"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6973605"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715602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565280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5641194"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موافقات داخلية</a:t>
            </a:r>
          </a:p>
        </p:txBody>
      </p:sp>
      <p:sp>
        <p:nvSpPr>
          <p:cNvPr id="37" name="TextBox 36"/>
          <p:cNvSpPr txBox="1"/>
          <p:nvPr/>
        </p:nvSpPr>
        <p:spPr>
          <a:xfrm>
            <a:off x="522010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8" name="Rounded Rectangle 37"/>
          <p:cNvSpPr/>
          <p:nvPr/>
        </p:nvSpPr>
        <p:spPr>
          <a:xfrm>
            <a:off x="3005763"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444790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630321"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41" name="TextBox 40"/>
          <p:cNvSpPr txBox="1"/>
          <p:nvPr/>
        </p:nvSpPr>
        <p:spPr>
          <a:xfrm>
            <a:off x="3127099"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2" name="TextBox 41"/>
          <p:cNvSpPr txBox="1"/>
          <p:nvPr/>
        </p:nvSpPr>
        <p:spPr>
          <a:xfrm>
            <a:off x="3115491" y="3814850"/>
            <a:ext cx="1949631" cy="270715"/>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بانتظار موافقة العميل</a:t>
            </a:r>
          </a:p>
        </p:txBody>
      </p:sp>
      <p:sp>
        <p:nvSpPr>
          <p:cNvPr id="43" name="TextBox 42"/>
          <p:cNvSpPr txBox="1"/>
          <p:nvPr/>
        </p:nvSpPr>
        <p:spPr>
          <a:xfrm>
            <a:off x="2694406"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44" name="Rounded Rectangle 43"/>
          <p:cNvSpPr/>
          <p:nvPr/>
        </p:nvSpPr>
        <p:spPr>
          <a:xfrm>
            <a:off x="480060" y="2400300"/>
            <a:ext cx="2169087"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922199"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210461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47" name="TextBox 46"/>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8" name="TextBox 47"/>
          <p:cNvSpPr txBox="1"/>
          <p:nvPr/>
        </p:nvSpPr>
        <p:spPr>
          <a:xfrm>
            <a:off x="589788" y="3804783"/>
            <a:ext cx="1949631"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مكتمل ومعتمد</a:t>
            </a:r>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التصميم.</a:t>
            </a:r>
          </a:p>
        </p:txBody>
      </p:sp>
      <p:sp>
        <p:nvSpPr>
          <p:cNvPr id="54" name="Rounded Rectangle 53"/>
          <p:cNvSpPr/>
          <p:nvPr/>
        </p:nvSpPr>
        <p:spPr>
          <a:xfrm>
            <a:off x="13794867"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تصميم وبدء دورة خدمة التصميم.</a:t>
            </a:r>
          </a:p>
        </p:txBody>
      </p:sp>
      <p:sp>
        <p:nvSpPr>
          <p:cNvPr id="60" name="Rounded Rectangle 59"/>
          <p:cNvSpPr/>
          <p:nvPr/>
        </p:nvSpPr>
        <p:spPr>
          <a:xfrm>
            <a:off x="9402318"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إسناد طلب التصميم إلى المصمم المسؤول عن تنفيذ الخدمة.</a:t>
            </a:r>
          </a:p>
        </p:txBody>
      </p:sp>
      <p:sp>
        <p:nvSpPr>
          <p:cNvPr id="66" name="Rounded Rectangle 65"/>
          <p:cNvSpPr/>
          <p:nvPr/>
        </p:nvSpPr>
        <p:spPr>
          <a:xfrm>
            <a:off x="5009769"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9"/>
            <a:ext cx="3706749" cy="559192"/>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يبدأ المصمم العمل على التصميم وإعداد المقترح حسب متطلبات العميل.</a:t>
            </a:r>
          </a:p>
        </p:txBody>
      </p:sp>
      <p:sp>
        <p:nvSpPr>
          <p:cNvPr id="72" name="Rounded Rectangle 71"/>
          <p:cNvSpPr/>
          <p:nvPr/>
        </p:nvSpPr>
        <p:spPr>
          <a:xfrm>
            <a:off x="617220" y="6967728"/>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استكمال المراجعات والموافقات الداخلية على التصميم.</a:t>
            </a:r>
          </a:p>
        </p:txBody>
      </p:sp>
      <p:sp>
        <p:nvSpPr>
          <p:cNvPr id="78" name="Rounded Rectangle 77"/>
          <p:cNvSpPr/>
          <p:nvPr/>
        </p:nvSpPr>
        <p:spPr>
          <a:xfrm>
            <a:off x="13794867"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إرسال أو عرض التصميم للعميل بانتظار اعتماده.</a:t>
            </a:r>
          </a:p>
        </p:txBody>
      </p:sp>
      <p:sp>
        <p:nvSpPr>
          <p:cNvPr id="84" name="Rounded Rectangle 83"/>
          <p:cNvSpPr/>
          <p:nvPr/>
        </p:nvSpPr>
        <p:spPr>
          <a:xfrm>
            <a:off x="9402318"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اعتماد التصميم، تنتقل المهمة إلى مرحلة مكتمل ومعتمد وتنتهي دورة التصميم.</a:t>
            </a:r>
          </a:p>
        </p:txBody>
      </p:sp>
      <p:sp>
        <p:nvSpPr>
          <p:cNvPr id="90" name="Rounded Rectangle 89"/>
          <p:cNvSpPr/>
          <p:nvPr/>
        </p:nvSpPr>
        <p:spPr>
          <a:xfrm>
            <a:off x="5009769" y="9381744"/>
            <a:ext cx="3871341"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التصميم</a:t>
            </a:r>
          </a:p>
        </p:txBody>
      </p:sp>
    </p:spTree>
    <p:extLst>
      <p:ext uri="{BB962C8B-B14F-4D97-AF65-F5344CB8AC3E}">
        <p14:creationId xmlns:p14="http://schemas.microsoft.com/office/powerpoint/2010/main" val="11489408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71719" y="380701"/>
            <a:ext cx="258404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التصنيع</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89591" y="1419353"/>
            <a:ext cx="314829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التصنيع / الورش</a:t>
            </a:r>
          </a:p>
        </p:txBody>
      </p:sp>
      <p:pic>
        <p:nvPicPr>
          <p:cNvPr id="6" name="Picture 5" descr="6.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4623999" y="2400300"/>
            <a:ext cx="3179369"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19"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474533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4733727" y="3804783"/>
            <a:ext cx="2959913"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13" name="TextBox 12"/>
          <p:cNvSpPr txBox="1"/>
          <p:nvPr/>
        </p:nvSpPr>
        <p:spPr>
          <a:xfrm>
            <a:off x="1431264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1088014" y="2400300"/>
            <a:ext cx="3179369"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354043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372285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1209350"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1197742" y="3804783"/>
            <a:ext cx="2959913"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خدمة تصنيع</a:t>
            </a:r>
          </a:p>
        </p:txBody>
      </p:sp>
      <p:sp>
        <p:nvSpPr>
          <p:cNvPr id="19" name="TextBox 18"/>
          <p:cNvSpPr txBox="1"/>
          <p:nvPr/>
        </p:nvSpPr>
        <p:spPr>
          <a:xfrm>
            <a:off x="10776656"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7552030" y="2400300"/>
            <a:ext cx="3179369"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0004450"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86868"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7673365"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7661758" y="3804783"/>
            <a:ext cx="2959913"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إرسال إلى ورشة التصنيع</a:t>
            </a:r>
          </a:p>
        </p:txBody>
      </p:sp>
      <p:sp>
        <p:nvSpPr>
          <p:cNvPr id="25" name="TextBox 24"/>
          <p:cNvSpPr txBox="1"/>
          <p:nvPr/>
        </p:nvSpPr>
        <p:spPr>
          <a:xfrm>
            <a:off x="7240672"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4016045" y="2400300"/>
            <a:ext cx="3179369"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6468465"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6650884"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4137381"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4125773" y="3804783"/>
            <a:ext cx="2959913"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التصنيع</a:t>
            </a:r>
          </a:p>
        </p:txBody>
      </p:sp>
      <p:sp>
        <p:nvSpPr>
          <p:cNvPr id="31" name="TextBox 30"/>
          <p:cNvSpPr txBox="1"/>
          <p:nvPr/>
        </p:nvSpPr>
        <p:spPr>
          <a:xfrm>
            <a:off x="3704687"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480061" y="2400300"/>
            <a:ext cx="3179369"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2932481"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311489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589789" y="3804783"/>
            <a:ext cx="2959913"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 الانتهاء من الخدمة</a:t>
            </a:r>
          </a:p>
        </p:txBody>
      </p:sp>
      <p:sp>
        <p:nvSpPr>
          <p:cNvPr id="37" name="TextBox 36"/>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38" name="Rounded Rectangle 37"/>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1" name="TextBox 40"/>
          <p:cNvSpPr txBox="1"/>
          <p:nvPr/>
        </p:nvSpPr>
        <p:spPr>
          <a:xfrm>
            <a:off x="12412980"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التصنيع.</a:t>
            </a:r>
          </a:p>
        </p:txBody>
      </p:sp>
      <p:sp>
        <p:nvSpPr>
          <p:cNvPr id="42" name="Rounded Rectangle 41"/>
          <p:cNvSpPr/>
          <p:nvPr/>
        </p:nvSpPr>
        <p:spPr>
          <a:xfrm>
            <a:off x="12330684"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التصنيع</a:t>
            </a:r>
          </a:p>
        </p:txBody>
      </p:sp>
      <p:sp>
        <p:nvSpPr>
          <p:cNvPr id="44" name="Rounded Rectangle 43"/>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7" name="TextBox 46"/>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خدمة تصنيع داخل نظام خدمات ما بعد البيع.</a:t>
            </a:r>
          </a:p>
        </p:txBody>
      </p:sp>
      <p:sp>
        <p:nvSpPr>
          <p:cNvPr id="48" name="Rounded Rectangle 47"/>
          <p:cNvSpPr/>
          <p:nvPr/>
        </p:nvSpPr>
        <p:spPr>
          <a:xfrm>
            <a:off x="6473952"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التصنيع</a:t>
            </a:r>
          </a:p>
        </p:txBody>
      </p:sp>
      <p:sp>
        <p:nvSpPr>
          <p:cNvPr id="50" name="Rounded Rectangle 49"/>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إرسال طلب التصنيع إلى ورشة التصنيع لبدء تنفيذ الأعمال المطلوبة.</a:t>
            </a:r>
          </a:p>
        </p:txBody>
      </p:sp>
      <p:sp>
        <p:nvSpPr>
          <p:cNvPr id="54" name="Rounded Rectangle 53"/>
          <p:cNvSpPr/>
          <p:nvPr/>
        </p:nvSpPr>
        <p:spPr>
          <a:xfrm>
            <a:off x="617220" y="6967728"/>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التصنيع</a:t>
            </a:r>
          </a:p>
        </p:txBody>
      </p:sp>
      <p:sp>
        <p:nvSpPr>
          <p:cNvPr id="56" name="Rounded Rectangle 55"/>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أعمال التصنيع ومتابعة تنفيذ الطلب حسب المواصفات المعتمدة.</a:t>
            </a:r>
          </a:p>
        </p:txBody>
      </p:sp>
      <p:sp>
        <p:nvSpPr>
          <p:cNvPr id="60" name="Rounded Rectangle 59"/>
          <p:cNvSpPr/>
          <p:nvPr/>
        </p:nvSpPr>
        <p:spPr>
          <a:xfrm>
            <a:off x="12330684" y="9381744"/>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التصنيع</a:t>
            </a:r>
          </a:p>
        </p:txBody>
      </p:sp>
      <p:sp>
        <p:nvSpPr>
          <p:cNvPr id="62" name="Rounded Rectangle 61"/>
          <p:cNvSpPr/>
          <p:nvPr/>
        </p:nvSpPr>
        <p:spPr>
          <a:xfrm>
            <a:off x="6336792"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اكتمال أعمال التصنيع، تنتقل المهمة إلى مرحلة تم الانتهاء من الخدمة.</a:t>
            </a:r>
          </a:p>
        </p:txBody>
      </p:sp>
      <p:sp>
        <p:nvSpPr>
          <p:cNvPr id="66" name="Rounded Rectangle 65"/>
          <p:cNvSpPr/>
          <p:nvPr/>
        </p:nvSpPr>
        <p:spPr>
          <a:xfrm>
            <a:off x="6473952" y="9381744"/>
            <a:ext cx="5335524" cy="548640"/>
          </a:xfrm>
          <a:prstGeom prst="roundRect">
            <a:avLst>
              <a:gd name="adj" fmla="val 50000"/>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يدوي / إدارة التصنيع</a:t>
            </a:r>
          </a:p>
        </p:txBody>
      </p:sp>
    </p:spTree>
    <p:extLst>
      <p:ext uri="{BB962C8B-B14F-4D97-AF65-F5344CB8AC3E}">
        <p14:creationId xmlns:p14="http://schemas.microsoft.com/office/powerpoint/2010/main" val="29729268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6048720" y="497620"/>
            <a:ext cx="6185988" cy="623248"/>
          </a:xfrm>
          <a:prstGeom prst="rect">
            <a:avLst/>
          </a:prstGeom>
          <a:noFill/>
        </p:spPr>
        <p:txBody>
          <a:bodyPr wrap="none" lIns="0" tIns="0" rIns="0" bIns="0" anchor="ctr">
            <a:spAutoFit/>
          </a:bodyPr>
          <a:lstStyle/>
          <a:p>
            <a:pPr algn="ctr" rtl="1">
              <a:lnSpc>
                <a:spcPct val="100000"/>
              </a:lnSpc>
            </a:pPr>
            <a:r>
              <a:rPr sz="4050" b="1">
                <a:solidFill>
                  <a:srgbClr val="1960BD"/>
                </a:solidFill>
                <a:latin typeface="Public Sans Ultra-Bold"/>
              </a:rPr>
              <a:t>كيف تصل الحالات إلى خدمة العملاء؟</a:t>
            </a:r>
          </a:p>
        </p:txBody>
      </p:sp>
      <p:sp>
        <p:nvSpPr>
          <p:cNvPr id="4" name="TextBox 3"/>
          <p:cNvSpPr txBox="1"/>
          <p:nvPr/>
        </p:nvSpPr>
        <p:spPr>
          <a:xfrm>
            <a:off x="7099489" y="1276423"/>
            <a:ext cx="4084451" cy="300082"/>
          </a:xfrm>
          <a:prstGeom prst="rect">
            <a:avLst/>
          </a:prstGeom>
          <a:noFill/>
        </p:spPr>
        <p:txBody>
          <a:bodyPr wrap="none" lIns="0" tIns="0" rIns="0" bIns="0" anchor="ctr">
            <a:spAutoFit/>
          </a:bodyPr>
          <a:lstStyle/>
          <a:p>
            <a:pPr algn="ctr" rtl="1">
              <a:lnSpc>
                <a:spcPct val="100000"/>
              </a:lnSpc>
            </a:pPr>
            <a:r>
              <a:rPr sz="1950">
                <a:solidFill>
                  <a:srgbClr val="737373"/>
                </a:solidFill>
                <a:latin typeface="Arial" panose="020B0604020202020204" pitchFamily="34" charset="0"/>
              </a:rPr>
              <a:t>ثلاثة مصادر تغذّي جهة واحدة مسؤولة عن كل حالة</a:t>
            </a:r>
          </a:p>
        </p:txBody>
      </p:sp>
      <p:sp>
        <p:nvSpPr>
          <p:cNvPr id="5" name="Rounded Rectangle 4"/>
          <p:cNvSpPr/>
          <p:nvPr/>
        </p:nvSpPr>
        <p:spPr>
          <a:xfrm>
            <a:off x="12280392"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Oval 5"/>
          <p:cNvSpPr/>
          <p:nvPr/>
        </p:nvSpPr>
        <p:spPr>
          <a:xfrm>
            <a:off x="16637508"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6702106"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8" name="TextBox 7"/>
          <p:cNvSpPr txBox="1"/>
          <p:nvPr/>
        </p:nvSpPr>
        <p:spPr>
          <a:xfrm>
            <a:off x="12609576"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الإدارات الداخلية</a:t>
            </a:r>
          </a:p>
        </p:txBody>
      </p:sp>
      <p:sp>
        <p:nvSpPr>
          <p:cNvPr id="9" name="Rectangle 8"/>
          <p:cNvSpPr/>
          <p:nvPr/>
        </p:nvSpPr>
        <p:spPr>
          <a:xfrm>
            <a:off x="12609576"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2609576"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عميل رفض التوقيع</a:t>
            </a:r>
          </a:p>
          <a:p>
            <a:pPr algn="r" rtl="1">
              <a:lnSpc>
                <a:spcPct val="150000"/>
              </a:lnSpc>
            </a:pPr>
            <a:r>
              <a:rPr sz="1950">
                <a:solidFill>
                  <a:srgbClr val="1E1E1E"/>
                </a:solidFill>
                <a:latin typeface="Arial" panose="020B0604020202020204" pitchFamily="34" charset="0"/>
              </a:rPr>
              <a:t>•  عميل غير راضٍ عن التركيب</a:t>
            </a:r>
          </a:p>
          <a:p>
            <a:pPr algn="r" rtl="1">
              <a:lnSpc>
                <a:spcPct val="150000"/>
              </a:lnSpc>
            </a:pPr>
            <a:r>
              <a:rPr sz="1950">
                <a:solidFill>
                  <a:srgbClr val="1E1E1E"/>
                </a:solidFill>
                <a:latin typeface="Arial" panose="020B0604020202020204" pitchFamily="34" charset="0"/>
              </a:rPr>
              <a:t>•  صعوبة تواصل</a:t>
            </a:r>
          </a:p>
        </p:txBody>
      </p:sp>
      <p:sp>
        <p:nvSpPr>
          <p:cNvPr id="11" name="Rounded Rectangle 10"/>
          <p:cNvSpPr/>
          <p:nvPr/>
        </p:nvSpPr>
        <p:spPr>
          <a:xfrm>
            <a:off x="6483096"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10840212"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904810"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14" name="TextBox 13"/>
          <p:cNvSpPr txBox="1"/>
          <p:nvPr/>
        </p:nvSpPr>
        <p:spPr>
          <a:xfrm>
            <a:off x="6812280"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العميل مباشرة</a:t>
            </a:r>
          </a:p>
        </p:txBody>
      </p:sp>
      <p:sp>
        <p:nvSpPr>
          <p:cNvPr id="15" name="Rectangle 14"/>
          <p:cNvSpPr/>
          <p:nvPr/>
        </p:nvSpPr>
        <p:spPr>
          <a:xfrm>
            <a:off x="6812280"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6812280" y="3429000"/>
            <a:ext cx="4658868" cy="84459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استفسار</a:t>
            </a:r>
          </a:p>
          <a:p>
            <a:pPr algn="r" rtl="1">
              <a:lnSpc>
                <a:spcPct val="150000"/>
              </a:lnSpc>
            </a:pPr>
            <a:r>
              <a:rPr sz="1950">
                <a:solidFill>
                  <a:srgbClr val="1E1E1E"/>
                </a:solidFill>
                <a:latin typeface="Arial" panose="020B0604020202020204" pitchFamily="34" charset="0"/>
              </a:rPr>
              <a:t>•  شكوى</a:t>
            </a:r>
          </a:p>
        </p:txBody>
      </p:sp>
      <p:sp>
        <p:nvSpPr>
          <p:cNvPr id="17" name="Rounded Rectangle 16"/>
          <p:cNvSpPr/>
          <p:nvPr/>
        </p:nvSpPr>
        <p:spPr>
          <a:xfrm>
            <a:off x="685800"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5042916"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5107514"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20" name="TextBox 19"/>
          <p:cNvSpPr txBox="1"/>
          <p:nvPr/>
        </p:nvSpPr>
        <p:spPr>
          <a:xfrm>
            <a:off x="1014984" y="2527228"/>
            <a:ext cx="3835908" cy="349648"/>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النظام</a:t>
            </a:r>
          </a:p>
        </p:txBody>
      </p:sp>
      <p:sp>
        <p:nvSpPr>
          <p:cNvPr id="21" name="Rectangle 20"/>
          <p:cNvSpPr/>
          <p:nvPr/>
        </p:nvSpPr>
        <p:spPr>
          <a:xfrm>
            <a:off x="1014984"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4984"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حالة عالقة</a:t>
            </a:r>
          </a:p>
          <a:p>
            <a:pPr algn="r" rtl="1">
              <a:lnSpc>
                <a:spcPct val="150000"/>
              </a:lnSpc>
            </a:pPr>
            <a:r>
              <a:rPr sz="1950">
                <a:solidFill>
                  <a:srgbClr val="1E1E1E"/>
                </a:solidFill>
                <a:latin typeface="Arial" panose="020B0604020202020204" pitchFamily="34" charset="0"/>
              </a:rPr>
              <a:t>•  عميل لم يحجز موعد</a:t>
            </a:r>
          </a:p>
          <a:p>
            <a:pPr algn="r" rtl="1">
              <a:lnSpc>
                <a:spcPct val="150000"/>
              </a:lnSpc>
            </a:pPr>
            <a:r>
              <a:rPr sz="1950">
                <a:solidFill>
                  <a:srgbClr val="1E1E1E"/>
                </a:solidFill>
                <a:latin typeface="Arial" panose="020B0604020202020204" pitchFamily="34" charset="0"/>
              </a:rPr>
              <a:t>•  تأخر في إجراء مطلوب</a:t>
            </a:r>
          </a:p>
        </p:txBody>
      </p:sp>
      <p:sp>
        <p:nvSpPr>
          <p:cNvPr id="24" name="TextBox 23"/>
          <p:cNvSpPr txBox="1"/>
          <p:nvPr/>
        </p:nvSpPr>
        <p:spPr>
          <a:xfrm>
            <a:off x="685800" y="6711303"/>
            <a:ext cx="16911828" cy="553998"/>
          </a:xfrm>
          <a:prstGeom prst="rect">
            <a:avLst/>
          </a:prstGeom>
          <a:noFill/>
        </p:spPr>
        <p:txBody>
          <a:bodyPr wrap="square" lIns="0" tIns="0" rIns="0" bIns="0" anchor="ctr">
            <a:spAutoFit/>
          </a:bodyPr>
          <a:lstStyle/>
          <a:p>
            <a:pPr algn="ctr" rtl="1">
              <a:lnSpc>
                <a:spcPct val="100000"/>
              </a:lnSpc>
            </a:pPr>
            <a:r>
              <a:rPr sz="3600" b="1">
                <a:solidFill>
                  <a:srgbClr val="FFFFFF"/>
                </a:solidFill>
                <a:latin typeface="Public Sans Ultra-Bold"/>
              </a:rPr>
              <a:t>خدمة العملاء</a:t>
            </a:r>
          </a:p>
        </p:txBody>
      </p:sp>
      <p:cxnSp>
        <p:nvCxnSpPr>
          <p:cNvPr id="25" name="Connector 24"/>
          <p:cNvCxnSpPr/>
          <p:nvPr/>
        </p:nvCxnSpPr>
        <p:spPr>
          <a:xfrm>
            <a:off x="14939010"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344418"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41714"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8140193"/>
            <a:ext cx="16911828" cy="288541"/>
          </a:xfrm>
          <a:prstGeom prst="rect">
            <a:avLst/>
          </a:prstGeom>
          <a:noFill/>
        </p:spPr>
        <p:txBody>
          <a:bodyPr wrap="square" lIns="0" tIns="0" rIns="0" bIns="0" anchor="ctr">
            <a:spAutoFit/>
          </a:bodyPr>
          <a:lstStyle/>
          <a:p>
            <a:pPr algn="ctr" rtl="1">
              <a:lnSpc>
                <a:spcPct val="100000"/>
              </a:lnSpc>
            </a:pPr>
            <a:r>
              <a:rPr sz="1875">
                <a:solidFill>
                  <a:srgbClr val="737373"/>
                </a:solidFill>
                <a:latin typeface="Arial" panose="020B0604020202020204" pitchFamily="34" charset="0"/>
              </a:rPr>
              <a:t>جميع القنوات الثلاثة تصب في جهة واحدة لإدارة الحالة ومتابعتها حتى الإغلاق.</a:t>
            </a:r>
          </a:p>
        </p:txBody>
      </p:sp>
      <p:sp>
        <p:nvSpPr>
          <p:cNvPr id="23" name="Rounded Rectangle 22"/>
          <p:cNvSpPr/>
          <p:nvPr/>
        </p:nvSpPr>
        <p:spPr>
          <a:xfrm>
            <a:off x="685800" y="6268212"/>
            <a:ext cx="16911828" cy="1440180"/>
          </a:xfrm>
          <a:prstGeom prst="roundRect">
            <a:avLst>
              <a:gd name="adj" fmla="val 50000"/>
            </a:avLst>
          </a:prstGeom>
          <a:solidFill>
            <a:srgbClr val="1960BD"/>
          </a:solidFill>
          <a:ln>
            <a:noFill/>
          </a:ln>
          <a:effectLst>
            <a:outerShdw blurRad="254000" dist="76200" dir="5400000" rotWithShape="0">
              <a:srgbClr val="00436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ectangle 28"/>
          <p:cNvSpPr/>
          <p:nvPr/>
        </p:nvSpPr>
        <p:spPr>
          <a:xfrm>
            <a:off x="6476169" y="7078070"/>
            <a:ext cx="4506363" cy="374461"/>
          </a:xfrm>
          <a:prstGeom prst="rect">
            <a:avLst/>
          </a:prstGeom>
        </p:spPr>
        <p:txBody>
          <a:bodyPr wrap="none">
            <a:spAutoFit/>
          </a:bodyPr>
          <a:lstStyle/>
          <a:p>
            <a:pPr algn="ctr">
              <a:lnSpc>
                <a:spcPts val="2183"/>
              </a:lnSpc>
            </a:pPr>
            <a:r>
              <a:rPr lang="ar-SY" sz="8000" b="1">
                <a:solidFill>
                  <a:srgbClr val="000000"/>
                </a:solidFill>
                <a:latin typeface="Arial" panose="020B0604020202020204" pitchFamily="34" charset="0"/>
                <a:ea typeface="Public Sans Bold"/>
                <a:sym typeface="Public Sans Bold"/>
                <a:rtl/>
              </a:rPr>
              <a:t>خدمة العملاء</a:t>
            </a:r>
            <a:endParaRPr lang="ar-EG" sz="8000" b="1" dirty="0">
              <a:solidFill>
                <a:srgbClr val="000000"/>
              </a:solidFill>
              <a:latin typeface="Arial" panose="020B0604020202020204" pitchFamily="34" charset="0"/>
              <a:ea typeface="Public Sans Bold"/>
              <a:sym typeface="Public Sans Bold"/>
              <a:rtl/>
            </a:endParaRPr>
          </a:p>
        </p:txBody>
      </p:sp>
    </p:spTree>
    <p:extLst>
      <p:ext uri="{BB962C8B-B14F-4D97-AF65-F5344CB8AC3E}">
        <p14:creationId xmlns:p14="http://schemas.microsoft.com/office/powerpoint/2010/main" val="35596488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8349029" y="380701"/>
            <a:ext cx="1585370"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الشكاوى</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6883884" y="1419353"/>
            <a:ext cx="4515660"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خدمة العملاء / الجهة المختصة بالمتابعة</a:t>
            </a:r>
          </a:p>
        </p:txBody>
      </p:sp>
      <p:sp>
        <p:nvSpPr>
          <p:cNvPr id="6" name="Rounded Rectangle 5"/>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Oval 6"/>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 name="TextBox 8"/>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 name="TextBox 9"/>
          <p:cNvSpPr txBox="1"/>
          <p:nvPr/>
        </p:nvSpPr>
        <p:spPr>
          <a:xfrm>
            <a:off x="1541449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شكوى العميل</a:t>
            </a:r>
          </a:p>
        </p:txBody>
      </p:sp>
      <p:sp>
        <p:nvSpPr>
          <p:cNvPr id="11" name="Isosceles Triangle 10"/>
          <p:cNvSpPr/>
          <p:nvPr/>
        </p:nvSpPr>
        <p:spPr>
          <a:xfrm rot="16200000">
            <a:off x="14955012"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Rounded Rectangle 11"/>
          <p:cNvSpPr/>
          <p:nvPr/>
        </p:nvSpPr>
        <p:spPr>
          <a:xfrm>
            <a:off x="12339828"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14042898"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4225318"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5" name="TextBox 14"/>
          <p:cNvSpPr txBox="1"/>
          <p:nvPr/>
        </p:nvSpPr>
        <p:spPr>
          <a:xfrm>
            <a:off x="1254158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6" name="TextBox 15"/>
          <p:cNvSpPr txBox="1"/>
          <p:nvPr/>
        </p:nvSpPr>
        <p:spPr>
          <a:xfrm>
            <a:off x="12449556"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تحديد النوع</a:t>
            </a:r>
          </a:p>
        </p:txBody>
      </p:sp>
      <p:sp>
        <p:nvSpPr>
          <p:cNvPr id="17" name="Isosceles Triangle 16"/>
          <p:cNvSpPr/>
          <p:nvPr/>
        </p:nvSpPr>
        <p:spPr>
          <a:xfrm rot="16200000">
            <a:off x="1199007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Rounded Rectangle 17"/>
          <p:cNvSpPr/>
          <p:nvPr/>
        </p:nvSpPr>
        <p:spPr>
          <a:xfrm>
            <a:off x="9374886"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Oval 18"/>
          <p:cNvSpPr/>
          <p:nvPr/>
        </p:nvSpPr>
        <p:spPr>
          <a:xfrm>
            <a:off x="1107795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1126037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1" name="TextBox 20"/>
          <p:cNvSpPr txBox="1"/>
          <p:nvPr/>
        </p:nvSpPr>
        <p:spPr>
          <a:xfrm>
            <a:off x="957664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22" name="TextBox 21"/>
          <p:cNvSpPr txBox="1"/>
          <p:nvPr/>
        </p:nvSpPr>
        <p:spPr>
          <a:xfrm>
            <a:off x="9484614"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إدارية /فنية</a:t>
            </a:r>
          </a:p>
        </p:txBody>
      </p:sp>
      <p:sp>
        <p:nvSpPr>
          <p:cNvPr id="23" name="Isosceles Triangle 22"/>
          <p:cNvSpPr/>
          <p:nvPr/>
        </p:nvSpPr>
        <p:spPr>
          <a:xfrm rot="16200000">
            <a:off x="902512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Rounded Rectangle 23"/>
          <p:cNvSpPr/>
          <p:nvPr/>
        </p:nvSpPr>
        <p:spPr>
          <a:xfrm>
            <a:off x="6409944"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811301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829543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7" name="TextBox 26"/>
          <p:cNvSpPr txBox="1"/>
          <p:nvPr/>
        </p:nvSpPr>
        <p:spPr>
          <a:xfrm>
            <a:off x="661170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28" name="TextBox 27"/>
          <p:cNvSpPr txBox="1"/>
          <p:nvPr/>
        </p:nvSpPr>
        <p:spPr>
          <a:xfrm>
            <a:off x="6519672"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الجهة المختصة</a:t>
            </a:r>
          </a:p>
        </p:txBody>
      </p:sp>
      <p:sp>
        <p:nvSpPr>
          <p:cNvPr id="29" name="Isosceles Triangle 28"/>
          <p:cNvSpPr/>
          <p:nvPr/>
        </p:nvSpPr>
        <p:spPr>
          <a:xfrm rot="16200000">
            <a:off x="606018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Rounded Rectangle 29"/>
          <p:cNvSpPr/>
          <p:nvPr/>
        </p:nvSpPr>
        <p:spPr>
          <a:xfrm>
            <a:off x="3445002"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514807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533049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3" name="TextBox 32"/>
          <p:cNvSpPr txBox="1"/>
          <p:nvPr/>
        </p:nvSpPr>
        <p:spPr>
          <a:xfrm>
            <a:off x="364676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34" name="TextBox 33"/>
          <p:cNvSpPr txBox="1"/>
          <p:nvPr/>
        </p:nvSpPr>
        <p:spPr>
          <a:xfrm>
            <a:off x="3554730"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متابعة</a:t>
            </a:r>
          </a:p>
        </p:txBody>
      </p:sp>
      <p:sp>
        <p:nvSpPr>
          <p:cNvPr id="35" name="Isosceles Triangle 34"/>
          <p:cNvSpPr/>
          <p:nvPr/>
        </p:nvSpPr>
        <p:spPr>
          <a:xfrm rot="16200000">
            <a:off x="309524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Rounded Rectangle 35"/>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39" name="TextBox 38"/>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40" name="TextBox 39"/>
          <p:cNvSpPr txBox="1"/>
          <p:nvPr/>
        </p:nvSpPr>
        <p:spPr>
          <a:xfrm>
            <a:off x="58978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حل أو تصعيد</a:t>
            </a:r>
          </a:p>
        </p:txBody>
      </p:sp>
      <p:sp>
        <p:nvSpPr>
          <p:cNvPr id="41" name="TextBox 40"/>
          <p:cNvSpPr txBox="1"/>
          <p:nvPr/>
        </p:nvSpPr>
        <p:spPr>
          <a:xfrm>
            <a:off x="480060" y="470692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2" name="Rounded Rectangle 41"/>
          <p:cNvSpPr/>
          <p:nvPr/>
        </p:nvSpPr>
        <p:spPr>
          <a:xfrm>
            <a:off x="12193524"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استقبال شكوى العميل وتوثيق تفاصيلها.</a:t>
            </a:r>
          </a:p>
        </p:txBody>
      </p:sp>
      <p:sp>
        <p:nvSpPr>
          <p:cNvPr id="46" name="Rounded Rectangle 45"/>
          <p:cNvSpPr/>
          <p:nvPr/>
        </p:nvSpPr>
        <p:spPr>
          <a:xfrm>
            <a:off x="6336792"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11178540"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11324620"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9" name="TextBox 48"/>
          <p:cNvSpPr txBox="1"/>
          <p:nvPr/>
        </p:nvSpPr>
        <p:spPr>
          <a:xfrm>
            <a:off x="6556248"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تحديد نوع الشكوى ومصدرها.</a:t>
            </a:r>
          </a:p>
        </p:txBody>
      </p:sp>
      <p:sp>
        <p:nvSpPr>
          <p:cNvPr id="50" name="Rounded Rectangle 49"/>
          <p:cNvSpPr/>
          <p:nvPr/>
        </p:nvSpPr>
        <p:spPr>
          <a:xfrm>
            <a:off x="480060"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350509"/>
            <a:ext cx="5170932" cy="663643"/>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تصنيف الشكوى: إدارية مشكلة مع موظف أو تعامل) أو فنية (مشكلة في منتج أو تركيب أو تنفيذ، مع توثيق التفاصيل والصور إن وجدت</a:t>
            </a:r>
          </a:p>
        </p:txBody>
      </p:sp>
      <p:sp>
        <p:nvSpPr>
          <p:cNvPr id="54" name="Rounded Rectangle 53"/>
          <p:cNvSpPr/>
          <p:nvPr/>
        </p:nvSpPr>
        <p:spPr>
          <a:xfrm>
            <a:off x="12193524"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17035272"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17181352"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7" name="TextBox 56"/>
          <p:cNvSpPr txBox="1"/>
          <p:nvPr/>
        </p:nvSpPr>
        <p:spPr>
          <a:xfrm>
            <a:off x="12412980" y="8798814"/>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تحويل الشكوى إلى الجهة المختصة بالمعالجة.</a:t>
            </a:r>
          </a:p>
        </p:txBody>
      </p:sp>
      <p:sp>
        <p:nvSpPr>
          <p:cNvPr id="58" name="Rounded Rectangle 57"/>
          <p:cNvSpPr/>
          <p:nvPr/>
        </p:nvSpPr>
        <p:spPr>
          <a:xfrm>
            <a:off x="6336792"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p:cNvSpPr/>
          <p:nvPr/>
        </p:nvSpPr>
        <p:spPr>
          <a:xfrm>
            <a:off x="11178540"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1324620"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1" name="TextBox 60"/>
          <p:cNvSpPr txBox="1"/>
          <p:nvPr/>
        </p:nvSpPr>
        <p:spPr>
          <a:xfrm>
            <a:off x="6556248" y="8798814"/>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متابعة الشكوى حتى اكتمال الإجراء.</a:t>
            </a:r>
          </a:p>
        </p:txBody>
      </p:sp>
      <p:sp>
        <p:nvSpPr>
          <p:cNvPr id="62" name="Rounded Rectangle 61"/>
          <p:cNvSpPr/>
          <p:nvPr/>
        </p:nvSpPr>
        <p:spPr>
          <a:xfrm>
            <a:off x="480060"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5321808"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5467888"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65" name="TextBox 64"/>
          <p:cNvSpPr txBox="1"/>
          <p:nvPr/>
        </p:nvSpPr>
        <p:spPr>
          <a:xfrm>
            <a:off x="699516" y="8798815"/>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الوصول إلى حل الشكوى، أو تصعيدها عند الحاجة.</a:t>
            </a:r>
          </a:p>
        </p:txBody>
      </p:sp>
    </p:spTree>
    <p:extLst>
      <p:ext uri="{BB962C8B-B14F-4D97-AF65-F5344CB8AC3E}">
        <p14:creationId xmlns:p14="http://schemas.microsoft.com/office/powerpoint/2010/main" val="31826138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816603" y="380701"/>
            <a:ext cx="2494273"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خدمة الصيانة</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4533401" y="1419353"/>
            <a:ext cx="5060681"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فريق الصيانة الميدانية / الجهة الفنية المسؤولة</a:t>
            </a:r>
          </a:p>
        </p:txBody>
      </p:sp>
      <p:pic>
        <p:nvPicPr>
          <p:cNvPr id="6" name="Picture 5" descr="1.jpg"/>
          <p:cNvPicPr>
            <a:picLocks noChangeAspect="1"/>
          </p:cNvPicPr>
          <p:nvPr/>
        </p:nvPicPr>
        <p:blipFill>
          <a:blip r:embed="rId2"/>
          <a:srcRect l="22093" r="22093"/>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Rounded Rectangle 7"/>
          <p:cNvSpPr/>
          <p:nvPr/>
        </p:nvSpPr>
        <p:spPr>
          <a:xfrm>
            <a:off x="15213330"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Oval 8"/>
          <p:cNvSpPr/>
          <p:nvPr/>
        </p:nvSpPr>
        <p:spPr>
          <a:xfrm>
            <a:off x="17076420"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725883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11" name="TextBox 10"/>
          <p:cNvSpPr txBox="1"/>
          <p:nvPr/>
        </p:nvSpPr>
        <p:spPr>
          <a:xfrm>
            <a:off x="1533466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2" name="TextBox 11"/>
          <p:cNvSpPr txBox="1"/>
          <p:nvPr/>
        </p:nvSpPr>
        <p:spPr>
          <a:xfrm>
            <a:off x="15323058"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صيانة جديد</a:t>
            </a:r>
          </a:p>
        </p:txBody>
      </p:sp>
      <p:sp>
        <p:nvSpPr>
          <p:cNvPr id="13" name="TextBox 12"/>
          <p:cNvSpPr txBox="1"/>
          <p:nvPr/>
        </p:nvSpPr>
        <p:spPr>
          <a:xfrm>
            <a:off x="14901973"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14" name="Rounded Rectangle 13"/>
          <p:cNvSpPr/>
          <p:nvPr/>
        </p:nvSpPr>
        <p:spPr>
          <a:xfrm>
            <a:off x="12266676"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Oval 14"/>
          <p:cNvSpPr/>
          <p:nvPr/>
        </p:nvSpPr>
        <p:spPr>
          <a:xfrm>
            <a:off x="14129766"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4312186"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7" name="TextBox 16"/>
          <p:cNvSpPr txBox="1"/>
          <p:nvPr/>
        </p:nvSpPr>
        <p:spPr>
          <a:xfrm>
            <a:off x="12388012"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18" name="TextBox 17"/>
          <p:cNvSpPr txBox="1"/>
          <p:nvPr/>
        </p:nvSpPr>
        <p:spPr>
          <a:xfrm>
            <a:off x="12376404"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موعد</a:t>
            </a:r>
          </a:p>
        </p:txBody>
      </p:sp>
      <p:sp>
        <p:nvSpPr>
          <p:cNvPr id="19" name="TextBox 18"/>
          <p:cNvSpPr txBox="1"/>
          <p:nvPr/>
        </p:nvSpPr>
        <p:spPr>
          <a:xfrm>
            <a:off x="11955319"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0" name="Rounded Rectangle 19"/>
          <p:cNvSpPr/>
          <p:nvPr/>
        </p:nvSpPr>
        <p:spPr>
          <a:xfrm>
            <a:off x="9320022"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Oval 20"/>
          <p:cNvSpPr/>
          <p:nvPr/>
        </p:nvSpPr>
        <p:spPr>
          <a:xfrm>
            <a:off x="11183112"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1365530"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3" name="TextBox 22"/>
          <p:cNvSpPr txBox="1"/>
          <p:nvPr/>
        </p:nvSpPr>
        <p:spPr>
          <a:xfrm>
            <a:off x="9441358"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24" name="TextBox 23"/>
          <p:cNvSpPr txBox="1"/>
          <p:nvPr/>
        </p:nvSpPr>
        <p:spPr>
          <a:xfrm>
            <a:off x="9429750"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في انتظار تعيين فني</a:t>
            </a:r>
          </a:p>
        </p:txBody>
      </p:sp>
      <p:sp>
        <p:nvSpPr>
          <p:cNvPr id="25" name="TextBox 24"/>
          <p:cNvSpPr txBox="1"/>
          <p:nvPr/>
        </p:nvSpPr>
        <p:spPr>
          <a:xfrm>
            <a:off x="9008665"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26" name="Rounded Rectangle 25"/>
          <p:cNvSpPr/>
          <p:nvPr/>
        </p:nvSpPr>
        <p:spPr>
          <a:xfrm>
            <a:off x="6373368"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Oval 26"/>
          <p:cNvSpPr/>
          <p:nvPr/>
        </p:nvSpPr>
        <p:spPr>
          <a:xfrm>
            <a:off x="8236458"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8418877"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29" name="TextBox 28"/>
          <p:cNvSpPr txBox="1"/>
          <p:nvPr/>
        </p:nvSpPr>
        <p:spPr>
          <a:xfrm>
            <a:off x="6494704"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0" name="TextBox 29"/>
          <p:cNvSpPr txBox="1"/>
          <p:nvPr/>
        </p:nvSpPr>
        <p:spPr>
          <a:xfrm>
            <a:off x="6483096"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التقرير المبدئي</a:t>
            </a:r>
          </a:p>
        </p:txBody>
      </p:sp>
      <p:sp>
        <p:nvSpPr>
          <p:cNvPr id="31" name="TextBox 30"/>
          <p:cNvSpPr txBox="1"/>
          <p:nvPr/>
        </p:nvSpPr>
        <p:spPr>
          <a:xfrm>
            <a:off x="6062011"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2" name="Rounded Rectangle 31"/>
          <p:cNvSpPr/>
          <p:nvPr/>
        </p:nvSpPr>
        <p:spPr>
          <a:xfrm>
            <a:off x="3426714"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Oval 32"/>
          <p:cNvSpPr/>
          <p:nvPr/>
        </p:nvSpPr>
        <p:spPr>
          <a:xfrm>
            <a:off x="5289804"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5472223"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5" name="TextBox 34"/>
          <p:cNvSpPr txBox="1"/>
          <p:nvPr/>
        </p:nvSpPr>
        <p:spPr>
          <a:xfrm>
            <a:off x="3548050"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36" name="TextBox 35"/>
          <p:cNvSpPr txBox="1"/>
          <p:nvPr/>
        </p:nvSpPr>
        <p:spPr>
          <a:xfrm>
            <a:off x="3536442"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في انتظار قطع الغيار</a:t>
            </a:r>
          </a:p>
        </p:txBody>
      </p:sp>
      <p:sp>
        <p:nvSpPr>
          <p:cNvPr id="37" name="TextBox 36"/>
          <p:cNvSpPr txBox="1"/>
          <p:nvPr/>
        </p:nvSpPr>
        <p:spPr>
          <a:xfrm>
            <a:off x="3115357" y="3258050"/>
            <a:ext cx="266098" cy="369332"/>
          </a:xfrm>
          <a:prstGeom prst="rect">
            <a:avLst/>
          </a:prstGeom>
          <a:noFill/>
        </p:spPr>
        <p:txBody>
          <a:bodyPr wrap="none" lIns="0" tIns="0" rIns="0" bIns="0" anchor="ctr">
            <a:spAutoFit/>
          </a:bodyPr>
          <a:lstStyle/>
          <a:p>
            <a:pPr algn="ctr">
              <a:lnSpc>
                <a:spcPct val="100000"/>
              </a:lnSpc>
            </a:pPr>
            <a:r>
              <a:rPr sz="2400" b="1">
                <a:solidFill>
                  <a:srgbClr val="004369"/>
                </a:solidFill>
                <a:latin typeface="Segoe UI"/>
              </a:rPr>
              <a:t>←</a:t>
            </a:r>
          </a:p>
        </p:txBody>
      </p:sp>
      <p:sp>
        <p:nvSpPr>
          <p:cNvPr id="38" name="Rounded Rectangle 37"/>
          <p:cNvSpPr/>
          <p:nvPr/>
        </p:nvSpPr>
        <p:spPr>
          <a:xfrm>
            <a:off x="480060" y="2400300"/>
            <a:ext cx="2590038" cy="2084832"/>
          </a:xfrm>
          <a:prstGeom prst="roundRect">
            <a:avLst>
              <a:gd name="adj" fmla="val 12000"/>
            </a:avLst>
          </a:prstGeom>
          <a:solidFill>
            <a:srgbClr val="FFFFFF"/>
          </a:solidFill>
          <a:ln w="254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2343150" y="252374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2525569" y="2694941"/>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41" name="TextBox 40"/>
          <p:cNvSpPr txBox="1"/>
          <p:nvPr/>
        </p:nvSpPr>
        <p:spPr>
          <a:xfrm>
            <a:off x="601396" y="2585298"/>
            <a:ext cx="580287" cy="507831"/>
          </a:xfrm>
          <a:prstGeom prst="rect">
            <a:avLst/>
          </a:prstGeom>
          <a:noFill/>
        </p:spPr>
        <p:txBody>
          <a:bodyPr wrap="none" lIns="0" tIns="0" rIns="0" bIns="0" anchor="ctr">
            <a:spAutoFit/>
          </a:bodyPr>
          <a:lstStyle/>
          <a:p>
            <a:pPr algn="ctr">
              <a:lnSpc>
                <a:spcPct val="100000"/>
              </a:lnSpc>
            </a:pPr>
            <a:r>
              <a:rPr sz="3300">
                <a:solidFill>
                  <a:srgbClr val="1960BD"/>
                </a:solidFill>
                <a:latin typeface="Segoe UI Emoji"/>
              </a:rPr>
              <a:t>📅</a:t>
            </a:r>
          </a:p>
        </p:txBody>
      </p:sp>
      <p:sp>
        <p:nvSpPr>
          <p:cNvPr id="42" name="TextBox 41"/>
          <p:cNvSpPr txBox="1"/>
          <p:nvPr/>
        </p:nvSpPr>
        <p:spPr>
          <a:xfrm>
            <a:off x="589788" y="3804783"/>
            <a:ext cx="237058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تحديد موعد الصيانة</a:t>
            </a:r>
          </a:p>
        </p:txBody>
      </p:sp>
      <p:sp>
        <p:nvSpPr>
          <p:cNvPr id="43" name="TextBox 42"/>
          <p:cNvSpPr txBox="1"/>
          <p:nvPr/>
        </p:nvSpPr>
        <p:spPr>
          <a:xfrm>
            <a:off x="480060" y="491266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4" name="Rounded Rectangle 43"/>
          <p:cNvSpPr/>
          <p:nvPr/>
        </p:nvSpPr>
        <p:spPr>
          <a:xfrm>
            <a:off x="12193524" y="5678424"/>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7035272" y="589788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7181352" y="603370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7" name="TextBox 46"/>
          <p:cNvSpPr txBox="1"/>
          <p:nvPr/>
        </p:nvSpPr>
        <p:spPr>
          <a:xfrm>
            <a:off x="12412980" y="6556249"/>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إنشاء طلب صيانة جديد داخل نظام خدمات ما بعد البيع.</a:t>
            </a:r>
          </a:p>
        </p:txBody>
      </p:sp>
      <p:sp>
        <p:nvSpPr>
          <p:cNvPr id="48" name="Rounded Rectangle 47"/>
          <p:cNvSpPr/>
          <p:nvPr/>
        </p:nvSpPr>
        <p:spPr>
          <a:xfrm>
            <a:off x="6336792" y="5678424"/>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1178540" y="589788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1324620" y="603370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6556248" y="6556249"/>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يتم الانتقال إلى مرحلة جدولة الموعد لتحديد موعد زيارة الصيانة.</a:t>
            </a:r>
          </a:p>
        </p:txBody>
      </p:sp>
      <p:sp>
        <p:nvSpPr>
          <p:cNvPr id="52" name="Rounded Rectangle 51"/>
          <p:cNvSpPr/>
          <p:nvPr/>
        </p:nvSpPr>
        <p:spPr>
          <a:xfrm>
            <a:off x="480060" y="5678424"/>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Oval 52"/>
          <p:cNvSpPr/>
          <p:nvPr/>
        </p:nvSpPr>
        <p:spPr>
          <a:xfrm>
            <a:off x="5321808" y="589788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5467887" y="603370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5" name="TextBox 54"/>
          <p:cNvSpPr txBox="1"/>
          <p:nvPr/>
        </p:nvSpPr>
        <p:spPr>
          <a:xfrm>
            <a:off x="699516" y="6556249"/>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يكون طلب الصيانة بانتظار تعيين الفني المسؤول عن تنفيذ الزيارة.</a:t>
            </a:r>
          </a:p>
        </p:txBody>
      </p:sp>
      <p:sp>
        <p:nvSpPr>
          <p:cNvPr id="56" name="Rounded Rectangle 55"/>
          <p:cNvSpPr/>
          <p:nvPr/>
        </p:nvSpPr>
        <p:spPr>
          <a:xfrm>
            <a:off x="12193524" y="7783830"/>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00328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13910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661655"/>
            <a:ext cx="5170932" cy="663643"/>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بعد زيارة الفني، يتم تسجيل التقرير المبدئي للحالة وتحديد الإجراء المطلوب.</a:t>
            </a:r>
          </a:p>
        </p:txBody>
      </p:sp>
      <p:sp>
        <p:nvSpPr>
          <p:cNvPr id="60" name="Rounded Rectangle 59"/>
          <p:cNvSpPr/>
          <p:nvPr/>
        </p:nvSpPr>
        <p:spPr>
          <a:xfrm>
            <a:off x="6336792" y="7783830"/>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1178540" y="800328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1324620" y="813910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3" name="TextBox 62"/>
          <p:cNvSpPr txBox="1"/>
          <p:nvPr/>
        </p:nvSpPr>
        <p:spPr>
          <a:xfrm>
            <a:off x="6556248" y="8661655"/>
            <a:ext cx="5170932" cy="663643"/>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إذا كانت الحالة تحتاج قطع غيار، تنتقل المهمة إلى مرحلة في انتظار قطع الغيار.</a:t>
            </a:r>
          </a:p>
        </p:txBody>
      </p:sp>
      <p:sp>
        <p:nvSpPr>
          <p:cNvPr id="64" name="Rounded Rectangle 63"/>
          <p:cNvSpPr/>
          <p:nvPr/>
        </p:nvSpPr>
        <p:spPr>
          <a:xfrm>
            <a:off x="480060" y="7783830"/>
            <a:ext cx="5609844" cy="18859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Oval 64"/>
          <p:cNvSpPr/>
          <p:nvPr/>
        </p:nvSpPr>
        <p:spPr>
          <a:xfrm>
            <a:off x="5321808" y="800328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6" name="TextBox 65"/>
          <p:cNvSpPr txBox="1"/>
          <p:nvPr/>
        </p:nvSpPr>
        <p:spPr>
          <a:xfrm>
            <a:off x="5467888" y="813910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67" name="TextBox 66"/>
          <p:cNvSpPr txBox="1"/>
          <p:nvPr/>
        </p:nvSpPr>
        <p:spPr>
          <a:xfrm>
            <a:off x="699516" y="8661655"/>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بعد جاهزية الحالة، يتم تحديد موعد تنفيذ أعمال الصيانة.</a:t>
            </a:r>
          </a:p>
        </p:txBody>
      </p:sp>
    </p:spTree>
    <p:extLst>
      <p:ext uri="{BB962C8B-B14F-4D97-AF65-F5344CB8AC3E}">
        <p14:creationId xmlns:p14="http://schemas.microsoft.com/office/powerpoint/2010/main" val="3635848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30202" y="956310"/>
            <a:ext cx="9027596" cy="362343"/>
          </a:xfrm>
          <a:prstGeom prst="rect">
            <a:avLst/>
          </a:prstGeom>
        </p:spPr>
        <p:txBody>
          <a:bodyPr lIns="0" tIns="0" rIns="0" bIns="0" rtlCol="0" anchor="t">
            <a:spAutoFit/>
          </a:bodyPr>
          <a:lstStyle/>
          <a:p>
            <a:pPr marL="0" lvl="0" indent="0" algn="ctr">
              <a:lnSpc>
                <a:spcPts val="3079"/>
              </a:lnSpc>
              <a:spcBef>
                <a:spcPct val="0"/>
              </a:spcBef>
            </a:pPr>
            <a:r>
              <a:rPr lang="ar-EG" sz="2199" dirty="0">
                <a:solidFill>
                  <a:srgbClr val="000000"/>
                </a:solidFill>
                <a:latin typeface="Arial" panose="020B0604020202020204" pitchFamily="34" charset="0"/>
                <a:ea typeface="DM Sans"/>
                <a:cs typeface="Arial" panose="020B0604020202020204" pitchFamily="34" charset="0"/>
                <a:sym typeface="DM Sans"/>
                <a:rtl/>
              </a:rPr>
              <a:t>مقارنة توضح أثر</a:t>
            </a:r>
            <a:r>
              <a:rPr lang="ar-EG" sz="21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على رحلة خدمات ما بعد البيع</a:t>
            </a:r>
          </a:p>
        </p:txBody>
      </p:sp>
      <p:sp>
        <p:nvSpPr>
          <p:cNvPr id="3" name="TextBox 3"/>
          <p:cNvSpPr txBox="1"/>
          <p:nvPr/>
        </p:nvSpPr>
        <p:spPr>
          <a:xfrm>
            <a:off x="4630202" y="147955"/>
            <a:ext cx="9027596" cy="620619"/>
          </a:xfrm>
          <a:prstGeom prst="rect">
            <a:avLst/>
          </a:prstGeom>
        </p:spPr>
        <p:txBody>
          <a:bodyPr lIns="0" tIns="0" rIns="0" bIns="0" rtlCol="0" anchor="t">
            <a:spAutoFit/>
          </a:bodyPr>
          <a:lstStyle/>
          <a:p>
            <a:pPr algn="ctr">
              <a:lnSpc>
                <a:spcPts val="5319"/>
              </a:lnSpc>
              <a:spcBef>
                <a:spcPct val="0"/>
              </a:spcBef>
            </a:pPr>
            <a:r>
              <a:rPr lang="ar-EG" sz="3799" b="1" dirty="0">
                <a:solidFill>
                  <a:srgbClr val="000000"/>
                </a:solidFill>
                <a:latin typeface="Arial" panose="020B0604020202020204" pitchFamily="34" charset="0"/>
                <a:ea typeface="DM Sans Bold"/>
                <a:cs typeface="Arial" panose="020B0604020202020204" pitchFamily="34" charset="0"/>
                <a:sym typeface="DM Sans Bold"/>
                <a:rtl/>
              </a:rPr>
              <a:t>قبل وبعد المشروع</a:t>
            </a:r>
          </a:p>
        </p:txBody>
      </p:sp>
      <p:sp>
        <p:nvSpPr>
          <p:cNvPr id="4" name="Freeform 4"/>
          <p:cNvSpPr/>
          <p:nvPr/>
        </p:nvSpPr>
        <p:spPr>
          <a:xfrm>
            <a:off x="2546714"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sp>
      <p:sp>
        <p:nvSpPr>
          <p:cNvPr id="5" name="Freeform 5"/>
          <p:cNvSpPr/>
          <p:nvPr/>
        </p:nvSpPr>
        <p:spPr>
          <a:xfrm>
            <a:off x="10965737"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sp>
      <p:grpSp>
        <p:nvGrpSpPr>
          <p:cNvPr id="6" name="Group 6"/>
          <p:cNvGrpSpPr/>
          <p:nvPr/>
        </p:nvGrpSpPr>
        <p:grpSpPr>
          <a:xfrm>
            <a:off x="2546714" y="2001616"/>
            <a:ext cx="4771936" cy="687686"/>
            <a:chOff x="0" y="0"/>
            <a:chExt cx="1081126" cy="155801"/>
          </a:xfrm>
        </p:grpSpPr>
        <p:sp>
          <p:nvSpPr>
            <p:cNvPr id="7" name="Freeform 7"/>
            <p:cNvSpPr/>
            <p:nvPr/>
          </p:nvSpPr>
          <p:spPr>
            <a:xfrm>
              <a:off x="0" y="0"/>
              <a:ext cx="1081126" cy="155801"/>
            </a:xfrm>
            <a:custGeom>
              <a:avLst/>
              <a:gdLst/>
              <a:ahLst/>
              <a:cxnLst/>
              <a:rect l="l" t="t" r="r" b="b"/>
              <a:pathLst>
                <a:path w="1081126" h="155801">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E0E0E0"/>
            </a:solidFill>
          </p:spPr>
        </p:sp>
        <p:sp>
          <p:nvSpPr>
            <p:cNvPr id="8" name="TextBox 8"/>
            <p:cNvSpPr txBox="1"/>
            <p:nvPr/>
          </p:nvSpPr>
          <p:spPr>
            <a:xfrm>
              <a:off x="0" y="-47625"/>
              <a:ext cx="1081126"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قبل المشروع</a:t>
              </a:r>
            </a:p>
          </p:txBody>
        </p:sp>
      </p:grpSp>
      <p:grpSp>
        <p:nvGrpSpPr>
          <p:cNvPr id="9" name="Group 9"/>
          <p:cNvGrpSpPr/>
          <p:nvPr/>
        </p:nvGrpSpPr>
        <p:grpSpPr>
          <a:xfrm>
            <a:off x="7616533" y="2028186"/>
            <a:ext cx="3053929" cy="634547"/>
            <a:chOff x="0" y="0"/>
            <a:chExt cx="2567133" cy="533400"/>
          </a:xfrm>
        </p:grpSpPr>
        <p:sp>
          <p:nvSpPr>
            <p:cNvPr id="10" name="Freeform 10"/>
            <p:cNvSpPr/>
            <p:nvPr/>
          </p:nvSpPr>
          <p:spPr>
            <a:xfrm>
              <a:off x="0" y="0"/>
              <a:ext cx="2567133" cy="533400"/>
            </a:xfrm>
            <a:custGeom>
              <a:avLst/>
              <a:gdLst/>
              <a:ahLst/>
              <a:cxnLst/>
              <a:rect l="l" t="t" r="r" b="b"/>
              <a:pathLst>
                <a:path w="2567133" h="533400">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id="11" name="TextBox 11"/>
            <p:cNvSpPr txBox="1"/>
            <p:nvPr/>
          </p:nvSpPr>
          <p:spPr>
            <a:xfrm>
              <a:off x="101600" y="101600"/>
              <a:ext cx="2363933" cy="292100"/>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65438" y="2001616"/>
            <a:ext cx="4774544" cy="687686"/>
            <a:chOff x="0" y="0"/>
            <a:chExt cx="1081717" cy="155801"/>
          </a:xfrm>
        </p:grpSpPr>
        <p:sp>
          <p:nvSpPr>
            <p:cNvPr id="13" name="Freeform 13"/>
            <p:cNvSpPr/>
            <p:nvPr/>
          </p:nvSpPr>
          <p:spPr>
            <a:xfrm>
              <a:off x="0" y="0"/>
              <a:ext cx="1081717" cy="155801"/>
            </a:xfrm>
            <a:custGeom>
              <a:avLst/>
              <a:gdLst/>
              <a:ahLst/>
              <a:cxnLst/>
              <a:rect l="l" t="t" r="r" b="b"/>
              <a:pathLst>
                <a:path w="1081717" h="155801">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E0E0E0"/>
            </a:solidFill>
          </p:spPr>
        </p:sp>
        <p:sp>
          <p:nvSpPr>
            <p:cNvPr id="14" name="TextBox 14"/>
            <p:cNvSpPr txBox="1"/>
            <p:nvPr/>
          </p:nvSpPr>
          <p:spPr>
            <a:xfrm>
              <a:off x="0" y="-47625"/>
              <a:ext cx="1081717"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بعد المشروع</a:t>
              </a:r>
            </a:p>
          </p:txBody>
        </p:sp>
      </p:grpSp>
      <p:sp>
        <p:nvSpPr>
          <p:cNvPr id="15" name="Freeform 15"/>
          <p:cNvSpPr/>
          <p:nvPr/>
        </p:nvSpPr>
        <p:spPr>
          <a:xfrm>
            <a:off x="8741091" y="200025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sp>
      <p:grpSp>
        <p:nvGrpSpPr>
          <p:cNvPr id="16" name="Group 16"/>
          <p:cNvGrpSpPr/>
          <p:nvPr/>
        </p:nvGrpSpPr>
        <p:grpSpPr>
          <a:xfrm>
            <a:off x="8798288" y="2000250"/>
            <a:ext cx="690418" cy="6904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VS</a:t>
              </a:r>
            </a:p>
          </p:txBody>
        </p:sp>
      </p:grpSp>
      <p:sp>
        <p:nvSpPr>
          <p:cNvPr id="19" name="Freeform 19"/>
          <p:cNvSpPr/>
          <p:nvPr/>
        </p:nvSpPr>
        <p:spPr>
          <a:xfrm rot="5400000">
            <a:off x="7966950" y="2976688"/>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0" name="Freeform 20"/>
          <p:cNvSpPr/>
          <p:nvPr/>
        </p:nvSpPr>
        <p:spPr>
          <a:xfrm rot="5400000" flipV="1">
            <a:off x="9009460" y="2976688"/>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1" name="Freeform 21"/>
          <p:cNvSpPr/>
          <p:nvPr/>
        </p:nvSpPr>
        <p:spPr>
          <a:xfrm>
            <a:off x="8741091" y="3306702"/>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sp>
      <p:grpSp>
        <p:nvGrpSpPr>
          <p:cNvPr id="22" name="Group 22"/>
          <p:cNvGrpSpPr/>
          <p:nvPr/>
        </p:nvGrpSpPr>
        <p:grpSpPr>
          <a:xfrm>
            <a:off x="8869504" y="3434727"/>
            <a:ext cx="547756" cy="54775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01</a:t>
              </a:r>
            </a:p>
          </p:txBody>
        </p:sp>
      </p:grpSp>
      <p:sp>
        <p:nvSpPr>
          <p:cNvPr id="25" name="Freeform 25"/>
          <p:cNvSpPr/>
          <p:nvPr/>
        </p:nvSpPr>
        <p:spPr>
          <a:xfrm rot="5400000">
            <a:off x="7966950" y="4474806"/>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6" name="Freeform 26"/>
          <p:cNvSpPr/>
          <p:nvPr/>
        </p:nvSpPr>
        <p:spPr>
          <a:xfrm>
            <a:off x="8741091" y="4804819"/>
            <a:ext cx="804812" cy="803806"/>
          </a:xfrm>
          <a:custGeom>
            <a:avLst/>
            <a:gdLst/>
            <a:ahLst/>
            <a:cxnLst/>
            <a:rect l="l" t="t" r="r" b="b"/>
            <a:pathLst>
              <a:path w="804812" h="803806">
                <a:moveTo>
                  <a:pt x="0" y="0"/>
                </a:moveTo>
                <a:lnTo>
                  <a:pt x="804812" y="0"/>
                </a:lnTo>
                <a:lnTo>
                  <a:pt x="804812" y="803807"/>
                </a:lnTo>
                <a:lnTo>
                  <a:pt x="0" y="803807"/>
                </a:lnTo>
                <a:lnTo>
                  <a:pt x="0" y="0"/>
                </a:lnTo>
                <a:close/>
              </a:path>
            </a:pathLst>
          </a:custGeom>
          <a:blipFill>
            <a:blip r:embed="rId3"/>
            <a:stretch>
              <a:fillRect/>
            </a:stretch>
          </a:blipFill>
        </p:spPr>
      </p:sp>
      <p:sp>
        <p:nvSpPr>
          <p:cNvPr id="27" name="Freeform 27"/>
          <p:cNvSpPr/>
          <p:nvPr/>
        </p:nvSpPr>
        <p:spPr>
          <a:xfrm rot="5400000" flipV="1">
            <a:off x="9009460" y="4474806"/>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28" name="Group 28"/>
          <p:cNvGrpSpPr/>
          <p:nvPr/>
        </p:nvGrpSpPr>
        <p:grpSpPr>
          <a:xfrm>
            <a:off x="8869504" y="4932844"/>
            <a:ext cx="547756" cy="54775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sp>
        <p:nvSpPr>
          <p:cNvPr id="31" name="Freeform 31"/>
          <p:cNvSpPr/>
          <p:nvPr/>
        </p:nvSpPr>
        <p:spPr>
          <a:xfrm rot="5400000">
            <a:off x="7966950" y="5972924"/>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2" name="Freeform 32"/>
          <p:cNvSpPr/>
          <p:nvPr/>
        </p:nvSpPr>
        <p:spPr>
          <a:xfrm>
            <a:off x="8741091" y="630549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sp>
      <p:sp>
        <p:nvSpPr>
          <p:cNvPr id="33" name="Freeform 33"/>
          <p:cNvSpPr/>
          <p:nvPr/>
        </p:nvSpPr>
        <p:spPr>
          <a:xfrm rot="5400000" flipV="1">
            <a:off x="9009460" y="5972924"/>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34" name="Group 34"/>
          <p:cNvGrpSpPr/>
          <p:nvPr/>
        </p:nvGrpSpPr>
        <p:grpSpPr>
          <a:xfrm>
            <a:off x="8869504" y="6433515"/>
            <a:ext cx="547756" cy="54775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sp>
        <p:nvSpPr>
          <p:cNvPr id="37" name="Freeform 37"/>
          <p:cNvSpPr/>
          <p:nvPr/>
        </p:nvSpPr>
        <p:spPr>
          <a:xfrm rot="5400000">
            <a:off x="7966950" y="7471041"/>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8" name="Freeform 38"/>
          <p:cNvSpPr/>
          <p:nvPr/>
        </p:nvSpPr>
        <p:spPr>
          <a:xfrm rot="5400000" flipV="1">
            <a:off x="9009460" y="7471041"/>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9" name="Freeform 39"/>
          <p:cNvSpPr/>
          <p:nvPr/>
        </p:nvSpPr>
        <p:spPr>
          <a:xfrm>
            <a:off x="8741091" y="780616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sp>
      <p:grpSp>
        <p:nvGrpSpPr>
          <p:cNvPr id="40" name="Group 40"/>
          <p:cNvGrpSpPr/>
          <p:nvPr/>
        </p:nvGrpSpPr>
        <p:grpSpPr>
          <a:xfrm>
            <a:off x="8869504" y="7929080"/>
            <a:ext cx="547756" cy="547756"/>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sp>
        <p:nvSpPr>
          <p:cNvPr id="43" name="TextBox 43"/>
          <p:cNvSpPr txBox="1"/>
          <p:nvPr/>
        </p:nvSpPr>
        <p:spPr>
          <a:xfrm>
            <a:off x="2315682" y="3501912"/>
            <a:ext cx="4774544" cy="340221"/>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موزعة ومنفصلة</a:t>
            </a:r>
          </a:p>
        </p:txBody>
      </p:sp>
      <p:sp>
        <p:nvSpPr>
          <p:cNvPr id="44" name="TextBox 44"/>
          <p:cNvSpPr txBox="1"/>
          <p:nvPr/>
        </p:nvSpPr>
        <p:spPr>
          <a:xfrm>
            <a:off x="10250753" y="348193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ضمن رحلة موحدة</a:t>
            </a:r>
          </a:p>
        </p:txBody>
      </p:sp>
      <p:sp>
        <p:nvSpPr>
          <p:cNvPr id="45" name="TextBox 45"/>
          <p:cNvSpPr txBox="1"/>
          <p:nvPr/>
        </p:nvSpPr>
        <p:spPr>
          <a:xfrm>
            <a:off x="2315682" y="5000030"/>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يدوية</a:t>
            </a:r>
          </a:p>
        </p:txBody>
      </p:sp>
      <p:sp>
        <p:nvSpPr>
          <p:cNvPr id="46" name="TextBox 46"/>
          <p:cNvSpPr txBox="1"/>
          <p:nvPr/>
        </p:nvSpPr>
        <p:spPr>
          <a:xfrm>
            <a:off x="10250753" y="499798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واضحة داخل النظام</a:t>
            </a:r>
          </a:p>
        </p:txBody>
      </p:sp>
      <p:sp>
        <p:nvSpPr>
          <p:cNvPr id="47" name="TextBox 47"/>
          <p:cNvSpPr txBox="1"/>
          <p:nvPr/>
        </p:nvSpPr>
        <p:spPr>
          <a:xfrm>
            <a:off x="2315682" y="6498148"/>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معرفة حالة الطلب</a:t>
            </a:r>
          </a:p>
        </p:txBody>
      </p:sp>
      <p:sp>
        <p:nvSpPr>
          <p:cNvPr id="48" name="TextBox 48"/>
          <p:cNvSpPr txBox="1"/>
          <p:nvPr/>
        </p:nvSpPr>
        <p:spPr>
          <a:xfrm>
            <a:off x="10250753" y="649814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معرفة المرحلة والخدمة المتأثرة</a:t>
            </a:r>
          </a:p>
        </p:txBody>
      </p:sp>
      <p:sp>
        <p:nvSpPr>
          <p:cNvPr id="49" name="TextBox 49"/>
          <p:cNvSpPr txBox="1"/>
          <p:nvPr/>
        </p:nvSpPr>
        <p:spPr>
          <a:xfrm>
            <a:off x="2315682" y="7996265"/>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المحاسبة والمتابعة</a:t>
            </a:r>
          </a:p>
        </p:txBody>
      </p:sp>
      <p:sp>
        <p:nvSpPr>
          <p:cNvPr id="50" name="TextBox 50"/>
          <p:cNvSpPr txBox="1"/>
          <p:nvPr/>
        </p:nvSpPr>
        <p:spPr>
          <a:xfrm>
            <a:off x="10250753" y="7996265"/>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وضوح أكبر في المسؤوليات والمتابعة</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04165" y="1588132"/>
            <a:ext cx="4930585" cy="564776"/>
          </a:xfrm>
          <a:custGeom>
            <a:avLst/>
            <a:gdLst/>
            <a:ahLst/>
            <a:cxnLst/>
            <a:rect l="l" t="t" r="r" b="b"/>
            <a:pathLst>
              <a:path w="4930585" h="564776">
                <a:moveTo>
                  <a:pt x="0" y="0"/>
                </a:moveTo>
                <a:lnTo>
                  <a:pt x="4930585" y="0"/>
                </a:lnTo>
                <a:lnTo>
                  <a:pt x="4930585" y="564777"/>
                </a:lnTo>
                <a:lnTo>
                  <a:pt x="0" y="564777"/>
                </a:lnTo>
                <a:lnTo>
                  <a:pt x="0" y="0"/>
                </a:lnTo>
                <a:close/>
              </a:path>
            </a:pathLst>
          </a:custGeom>
          <a:blipFill>
            <a:blip r:embed="rId2">
              <a:alphaModFix amt="54000"/>
            </a:blip>
            <a:stretch>
              <a:fillRect/>
            </a:stretch>
          </a:blipFill>
        </p:spPr>
      </p:sp>
      <p:sp>
        <p:nvSpPr>
          <p:cNvPr id="3" name="Freeform 3"/>
          <p:cNvSpPr/>
          <p:nvPr/>
        </p:nvSpPr>
        <p:spPr>
          <a:xfrm>
            <a:off x="6404165" y="3092183"/>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sp>
      <p:sp>
        <p:nvSpPr>
          <p:cNvPr id="4" name="Freeform 4"/>
          <p:cNvSpPr/>
          <p:nvPr/>
        </p:nvSpPr>
        <p:spPr>
          <a:xfrm>
            <a:off x="6404165" y="4593078"/>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sp>
      <p:sp>
        <p:nvSpPr>
          <p:cNvPr id="5" name="Freeform 5"/>
          <p:cNvSpPr/>
          <p:nvPr/>
        </p:nvSpPr>
        <p:spPr>
          <a:xfrm>
            <a:off x="6404165" y="6096000"/>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sp>
      <p:sp>
        <p:nvSpPr>
          <p:cNvPr id="6" name="Freeform 6"/>
          <p:cNvSpPr/>
          <p:nvPr/>
        </p:nvSpPr>
        <p:spPr>
          <a:xfrm>
            <a:off x="6404165" y="7650747"/>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sp>
      <p:sp>
        <p:nvSpPr>
          <p:cNvPr id="7" name="Freeform 7"/>
          <p:cNvSpPr/>
          <p:nvPr/>
        </p:nvSpPr>
        <p:spPr>
          <a:xfrm>
            <a:off x="6404165" y="9098861"/>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sp>
      <p:grpSp>
        <p:nvGrpSpPr>
          <p:cNvPr id="8" name="Group 8"/>
          <p:cNvGrpSpPr/>
          <p:nvPr/>
        </p:nvGrpSpPr>
        <p:grpSpPr>
          <a:xfrm>
            <a:off x="6404165" y="809228"/>
            <a:ext cx="4930585" cy="1164072"/>
            <a:chOff x="0" y="0"/>
            <a:chExt cx="1298590" cy="306587"/>
          </a:xfrm>
        </p:grpSpPr>
        <p:sp>
          <p:nvSpPr>
            <p:cNvPr id="9" name="Freeform 9"/>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10" name="TextBox 10"/>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403879" y="1588132"/>
            <a:ext cx="4750701" cy="544171"/>
          </a:xfrm>
          <a:custGeom>
            <a:avLst/>
            <a:gdLst/>
            <a:ahLst/>
            <a:cxnLst/>
            <a:rect l="l" t="t" r="r" b="b"/>
            <a:pathLst>
              <a:path w="4750701" h="544171">
                <a:moveTo>
                  <a:pt x="0" y="0"/>
                </a:moveTo>
                <a:lnTo>
                  <a:pt x="4750701" y="0"/>
                </a:lnTo>
                <a:lnTo>
                  <a:pt x="4750701" y="544172"/>
                </a:lnTo>
                <a:lnTo>
                  <a:pt x="0" y="544172"/>
                </a:lnTo>
                <a:lnTo>
                  <a:pt x="0" y="0"/>
                </a:lnTo>
                <a:close/>
              </a:path>
            </a:pathLst>
          </a:custGeom>
          <a:blipFill>
            <a:blip r:embed="rId2">
              <a:alphaModFix amt="28000"/>
            </a:blip>
            <a:stretch>
              <a:fillRect/>
            </a:stretch>
          </a:blipFill>
        </p:spPr>
      </p:sp>
      <p:sp>
        <p:nvSpPr>
          <p:cNvPr id="12" name="Freeform 12"/>
          <p:cNvSpPr/>
          <p:nvPr/>
        </p:nvSpPr>
        <p:spPr>
          <a:xfrm>
            <a:off x="1403879" y="3090278"/>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sp>
      <p:sp>
        <p:nvSpPr>
          <p:cNvPr id="13" name="Freeform 13"/>
          <p:cNvSpPr/>
          <p:nvPr/>
        </p:nvSpPr>
        <p:spPr>
          <a:xfrm>
            <a:off x="1403879" y="4592424"/>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sp>
      <p:sp>
        <p:nvSpPr>
          <p:cNvPr id="14" name="Freeform 14"/>
          <p:cNvSpPr/>
          <p:nvPr/>
        </p:nvSpPr>
        <p:spPr>
          <a:xfrm>
            <a:off x="1403879" y="6094570"/>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sp>
      <p:sp>
        <p:nvSpPr>
          <p:cNvPr id="15" name="Freeform 15"/>
          <p:cNvSpPr/>
          <p:nvPr/>
        </p:nvSpPr>
        <p:spPr>
          <a:xfrm>
            <a:off x="1403879" y="7596716"/>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sp>
      <p:sp>
        <p:nvSpPr>
          <p:cNvPr id="16" name="Freeform 16"/>
          <p:cNvSpPr/>
          <p:nvPr/>
        </p:nvSpPr>
        <p:spPr>
          <a:xfrm>
            <a:off x="1403879" y="9098861"/>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sp>
      <p:sp>
        <p:nvSpPr>
          <p:cNvPr id="17" name="Freeform 17"/>
          <p:cNvSpPr/>
          <p:nvPr/>
        </p:nvSpPr>
        <p:spPr>
          <a:xfrm>
            <a:off x="906716" y="809228"/>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8" name="AutoShape 18"/>
          <p:cNvSpPr/>
          <p:nvPr/>
        </p:nvSpPr>
        <p:spPr>
          <a:xfrm>
            <a:off x="5893504" y="1391264"/>
            <a:ext cx="771736" cy="0"/>
          </a:xfrm>
          <a:prstGeom prst="line">
            <a:avLst/>
          </a:prstGeom>
          <a:ln w="38100" cap="flat">
            <a:solidFill>
              <a:srgbClr val="7678ED"/>
            </a:solidFill>
            <a:prstDash val="solid"/>
            <a:headEnd type="oval" w="lg" len="lg"/>
            <a:tailEnd type="oval" w="lg" len="lg"/>
          </a:ln>
        </p:spPr>
      </p:sp>
      <p:grpSp>
        <p:nvGrpSpPr>
          <p:cNvPr id="19" name="Group 19"/>
          <p:cNvGrpSpPr/>
          <p:nvPr/>
        </p:nvGrpSpPr>
        <p:grpSpPr>
          <a:xfrm>
            <a:off x="6404165" y="2310122"/>
            <a:ext cx="4930585" cy="1164072"/>
            <a:chOff x="0" y="0"/>
            <a:chExt cx="1298590" cy="306587"/>
          </a:xfrm>
        </p:grpSpPr>
        <p:sp>
          <p:nvSpPr>
            <p:cNvPr id="20" name="Freeform 2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1" name="TextBox 2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2" name="Freeform 22"/>
          <p:cNvSpPr/>
          <p:nvPr/>
        </p:nvSpPr>
        <p:spPr>
          <a:xfrm>
            <a:off x="906716" y="2310122"/>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3" name="AutoShape 23"/>
          <p:cNvSpPr/>
          <p:nvPr/>
        </p:nvSpPr>
        <p:spPr>
          <a:xfrm>
            <a:off x="5893504" y="2892158"/>
            <a:ext cx="771736" cy="0"/>
          </a:xfrm>
          <a:prstGeom prst="line">
            <a:avLst/>
          </a:prstGeom>
          <a:ln w="38100" cap="flat">
            <a:solidFill>
              <a:srgbClr val="538EFA"/>
            </a:solidFill>
            <a:prstDash val="solid"/>
            <a:headEnd type="oval" w="lg" len="lg"/>
            <a:tailEnd type="oval" w="lg" len="lg"/>
          </a:ln>
        </p:spPr>
      </p:sp>
      <p:grpSp>
        <p:nvGrpSpPr>
          <p:cNvPr id="24" name="Group 24"/>
          <p:cNvGrpSpPr/>
          <p:nvPr/>
        </p:nvGrpSpPr>
        <p:grpSpPr>
          <a:xfrm>
            <a:off x="6404165" y="3811017"/>
            <a:ext cx="4930585" cy="1164072"/>
            <a:chOff x="0" y="0"/>
            <a:chExt cx="1298590" cy="306587"/>
          </a:xfrm>
        </p:grpSpPr>
        <p:sp>
          <p:nvSpPr>
            <p:cNvPr id="25" name="Freeform 2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6" name="TextBox 2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7" name="Freeform 27"/>
          <p:cNvSpPr/>
          <p:nvPr/>
        </p:nvSpPr>
        <p:spPr>
          <a:xfrm>
            <a:off x="906716" y="3811017"/>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8" name="AutoShape 28"/>
          <p:cNvSpPr/>
          <p:nvPr/>
        </p:nvSpPr>
        <p:spPr>
          <a:xfrm>
            <a:off x="5893504" y="4393053"/>
            <a:ext cx="771736" cy="0"/>
          </a:xfrm>
          <a:prstGeom prst="line">
            <a:avLst/>
          </a:prstGeom>
          <a:ln w="38100" cap="flat">
            <a:solidFill>
              <a:srgbClr val="02B2E4"/>
            </a:solidFill>
            <a:prstDash val="solid"/>
            <a:headEnd type="oval" w="lg" len="lg"/>
            <a:tailEnd type="oval" w="lg" len="lg"/>
          </a:ln>
        </p:spPr>
      </p:sp>
      <p:grpSp>
        <p:nvGrpSpPr>
          <p:cNvPr id="29" name="Group 29"/>
          <p:cNvGrpSpPr/>
          <p:nvPr/>
        </p:nvGrpSpPr>
        <p:grpSpPr>
          <a:xfrm>
            <a:off x="6404165" y="5311911"/>
            <a:ext cx="4930585" cy="1164072"/>
            <a:chOff x="0" y="0"/>
            <a:chExt cx="1298590" cy="306587"/>
          </a:xfrm>
        </p:grpSpPr>
        <p:sp>
          <p:nvSpPr>
            <p:cNvPr id="30" name="Freeform 3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1" name="TextBox 3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2" name="Freeform 32"/>
          <p:cNvSpPr/>
          <p:nvPr/>
        </p:nvSpPr>
        <p:spPr>
          <a:xfrm>
            <a:off x="906716" y="5311911"/>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33" name="AutoShape 33"/>
          <p:cNvSpPr/>
          <p:nvPr/>
        </p:nvSpPr>
        <p:spPr>
          <a:xfrm>
            <a:off x="5893504" y="5893947"/>
            <a:ext cx="771736" cy="0"/>
          </a:xfrm>
          <a:prstGeom prst="line">
            <a:avLst/>
          </a:prstGeom>
          <a:ln w="38100" cap="flat">
            <a:solidFill>
              <a:srgbClr val="00CCBC"/>
            </a:solidFill>
            <a:prstDash val="solid"/>
            <a:headEnd type="oval" w="lg" len="lg"/>
            <a:tailEnd type="oval" w="lg" len="lg"/>
          </a:ln>
        </p:spPr>
      </p:sp>
      <p:grpSp>
        <p:nvGrpSpPr>
          <p:cNvPr id="34" name="Group 34"/>
          <p:cNvGrpSpPr/>
          <p:nvPr/>
        </p:nvGrpSpPr>
        <p:grpSpPr>
          <a:xfrm>
            <a:off x="6404165" y="6812806"/>
            <a:ext cx="4930585" cy="1164072"/>
            <a:chOff x="0" y="0"/>
            <a:chExt cx="1298590" cy="306587"/>
          </a:xfrm>
        </p:grpSpPr>
        <p:sp>
          <p:nvSpPr>
            <p:cNvPr id="35" name="Freeform 3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6" name="TextBox 3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7" name="Freeform 37"/>
          <p:cNvSpPr/>
          <p:nvPr/>
        </p:nvSpPr>
        <p:spPr>
          <a:xfrm>
            <a:off x="906716" y="6812806"/>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38" name="AutoShape 38"/>
          <p:cNvSpPr/>
          <p:nvPr/>
        </p:nvSpPr>
        <p:spPr>
          <a:xfrm>
            <a:off x="5893504" y="7394842"/>
            <a:ext cx="771736" cy="0"/>
          </a:xfrm>
          <a:prstGeom prst="line">
            <a:avLst/>
          </a:prstGeom>
          <a:ln w="38100" cap="flat">
            <a:solidFill>
              <a:srgbClr val="00D89D"/>
            </a:solidFill>
            <a:prstDash val="solid"/>
            <a:headEnd type="oval" w="lg" len="lg"/>
            <a:tailEnd type="oval" w="lg" len="lg"/>
          </a:ln>
        </p:spPr>
      </p:sp>
      <p:grpSp>
        <p:nvGrpSpPr>
          <p:cNvPr id="39" name="Group 39"/>
          <p:cNvGrpSpPr/>
          <p:nvPr/>
        </p:nvGrpSpPr>
        <p:grpSpPr>
          <a:xfrm>
            <a:off x="6404165" y="8313701"/>
            <a:ext cx="4930585" cy="1164072"/>
            <a:chOff x="0" y="0"/>
            <a:chExt cx="1298590" cy="306587"/>
          </a:xfrm>
        </p:grpSpPr>
        <p:sp>
          <p:nvSpPr>
            <p:cNvPr id="40" name="Freeform 4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41" name="TextBox 4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42" name="Freeform 42"/>
          <p:cNvSpPr/>
          <p:nvPr/>
        </p:nvSpPr>
        <p:spPr>
          <a:xfrm>
            <a:off x="906716" y="8313701"/>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sp>
        <p:nvSpPr>
          <p:cNvPr id="43" name="AutoShape 43"/>
          <p:cNvSpPr/>
          <p:nvPr/>
        </p:nvSpPr>
        <p:spPr>
          <a:xfrm>
            <a:off x="5893504" y="8895736"/>
            <a:ext cx="771736" cy="0"/>
          </a:xfrm>
          <a:prstGeom prst="line">
            <a:avLst/>
          </a:prstGeom>
          <a:ln w="38100" cap="flat">
            <a:solidFill>
              <a:srgbClr val="5DDB78"/>
            </a:solidFill>
            <a:prstDash val="solid"/>
            <a:headEnd type="oval" w="lg" len="lg"/>
            <a:tailEnd type="oval" w="lg" len="lg"/>
          </a:ln>
        </p:spPr>
      </p:sp>
      <p:sp>
        <p:nvSpPr>
          <p:cNvPr id="44" name="Freeform 44"/>
          <p:cNvSpPr/>
          <p:nvPr/>
        </p:nvSpPr>
        <p:spPr>
          <a:xfrm>
            <a:off x="1268423" y="1110832"/>
            <a:ext cx="440658" cy="561023"/>
          </a:xfrm>
          <a:custGeom>
            <a:avLst/>
            <a:gdLst/>
            <a:ahLst/>
            <a:cxnLst/>
            <a:rect l="l" t="t" r="r" b="b"/>
            <a:pathLst>
              <a:path w="440658" h="561023">
                <a:moveTo>
                  <a:pt x="0" y="0"/>
                </a:moveTo>
                <a:lnTo>
                  <a:pt x="440657" y="0"/>
                </a:lnTo>
                <a:lnTo>
                  <a:pt x="440657" y="561022"/>
                </a:lnTo>
                <a:lnTo>
                  <a:pt x="0" y="561022"/>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45" name="Freeform 45"/>
          <p:cNvSpPr/>
          <p:nvPr/>
        </p:nvSpPr>
        <p:spPr>
          <a:xfrm>
            <a:off x="1208240" y="2611568"/>
            <a:ext cx="561023" cy="561023"/>
          </a:xfrm>
          <a:custGeom>
            <a:avLst/>
            <a:gdLst/>
            <a:ahLst/>
            <a:cxnLst/>
            <a:rect l="l" t="t" r="r" b="b"/>
            <a:pathLst>
              <a:path w="561023" h="561023">
                <a:moveTo>
                  <a:pt x="0" y="0"/>
                </a:moveTo>
                <a:lnTo>
                  <a:pt x="561023" y="0"/>
                </a:lnTo>
                <a:lnTo>
                  <a:pt x="561023" y="561022"/>
                </a:lnTo>
                <a:lnTo>
                  <a:pt x="0" y="561022"/>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sp>
        <p:nvSpPr>
          <p:cNvPr id="46" name="Freeform 46"/>
          <p:cNvSpPr/>
          <p:nvPr/>
        </p:nvSpPr>
        <p:spPr>
          <a:xfrm>
            <a:off x="1255162" y="5613515"/>
            <a:ext cx="467179" cy="561023"/>
          </a:xfrm>
          <a:custGeom>
            <a:avLst/>
            <a:gdLst/>
            <a:ahLst/>
            <a:cxnLst/>
            <a:rect l="l" t="t" r="r" b="b"/>
            <a:pathLst>
              <a:path w="467179" h="561023">
                <a:moveTo>
                  <a:pt x="0" y="0"/>
                </a:moveTo>
                <a:lnTo>
                  <a:pt x="467179" y="0"/>
                </a:lnTo>
                <a:lnTo>
                  <a:pt x="467179" y="561023"/>
                </a:lnTo>
                <a:lnTo>
                  <a:pt x="0" y="561023"/>
                </a:lnTo>
                <a:lnTo>
                  <a:pt x="0" y="0"/>
                </a:lnTo>
                <a:close/>
              </a:path>
            </a:pathLst>
          </a:custGeom>
          <a:blipFill>
            <a:blip r:embed="rId19">
              <a:extLst>
                <a:ext uri="{96DAC541-7B7A-43D3-8B79-37D633B846F1}">
                  <asvg:svgBlip xmlns:asvg="http://schemas.microsoft.com/office/drawing/2016/SVG/main" xmlns="" r:embed="rId20"/>
                </a:ext>
              </a:extLst>
            </a:blip>
            <a:stretch>
              <a:fillRect/>
            </a:stretch>
          </a:blipFill>
        </p:spPr>
      </p:sp>
      <p:sp>
        <p:nvSpPr>
          <p:cNvPr id="47" name="Freeform 47"/>
          <p:cNvSpPr/>
          <p:nvPr/>
        </p:nvSpPr>
        <p:spPr>
          <a:xfrm>
            <a:off x="1264853" y="4112621"/>
            <a:ext cx="447798" cy="561023"/>
          </a:xfrm>
          <a:custGeom>
            <a:avLst/>
            <a:gdLst/>
            <a:ahLst/>
            <a:cxnLst/>
            <a:rect l="l" t="t" r="r" b="b"/>
            <a:pathLst>
              <a:path w="447798" h="561023">
                <a:moveTo>
                  <a:pt x="0" y="0"/>
                </a:moveTo>
                <a:lnTo>
                  <a:pt x="447798" y="0"/>
                </a:lnTo>
                <a:lnTo>
                  <a:pt x="447798" y="561022"/>
                </a:lnTo>
                <a:lnTo>
                  <a:pt x="0" y="561022"/>
                </a:lnTo>
                <a:lnTo>
                  <a:pt x="0" y="0"/>
                </a:lnTo>
                <a:close/>
              </a:path>
            </a:pathLst>
          </a:custGeom>
          <a:blipFill>
            <a:blip r:embed="rId21">
              <a:extLst>
                <a:ext uri="{96DAC541-7B7A-43D3-8B79-37D633B846F1}">
                  <asvg:svgBlip xmlns:asvg="http://schemas.microsoft.com/office/drawing/2016/SVG/main" xmlns="" r:embed="rId22"/>
                </a:ext>
              </a:extLst>
            </a:blip>
            <a:stretch>
              <a:fillRect/>
            </a:stretch>
          </a:blipFill>
        </p:spPr>
      </p:sp>
      <p:sp>
        <p:nvSpPr>
          <p:cNvPr id="48" name="Freeform 48"/>
          <p:cNvSpPr/>
          <p:nvPr/>
        </p:nvSpPr>
        <p:spPr>
          <a:xfrm>
            <a:off x="1224561" y="8615146"/>
            <a:ext cx="528381" cy="561022"/>
          </a:xfrm>
          <a:custGeom>
            <a:avLst/>
            <a:gdLst/>
            <a:ahLst/>
            <a:cxnLst/>
            <a:rect l="l" t="t" r="r" b="b"/>
            <a:pathLst>
              <a:path w="528381" h="561022">
                <a:moveTo>
                  <a:pt x="0" y="0"/>
                </a:moveTo>
                <a:lnTo>
                  <a:pt x="528381" y="0"/>
                </a:lnTo>
                <a:lnTo>
                  <a:pt x="528381" y="561022"/>
                </a:lnTo>
                <a:lnTo>
                  <a:pt x="0" y="561022"/>
                </a:lnTo>
                <a:lnTo>
                  <a:pt x="0" y="0"/>
                </a:lnTo>
                <a:close/>
              </a:path>
            </a:pathLst>
          </a:custGeom>
          <a:blipFill>
            <a:blip r:embed="rId23">
              <a:extLst>
                <a:ext uri="{96DAC541-7B7A-43D3-8B79-37D633B846F1}">
                  <asvg:svgBlip xmlns:asvg="http://schemas.microsoft.com/office/drawing/2016/SVG/main" xmlns="" r:embed="rId24"/>
                </a:ext>
              </a:extLst>
            </a:blip>
            <a:stretch>
              <a:fillRect/>
            </a:stretch>
          </a:blipFill>
        </p:spPr>
      </p:sp>
      <p:sp>
        <p:nvSpPr>
          <p:cNvPr id="49" name="Freeform 49"/>
          <p:cNvSpPr/>
          <p:nvPr/>
        </p:nvSpPr>
        <p:spPr>
          <a:xfrm>
            <a:off x="1208240" y="7114410"/>
            <a:ext cx="561023" cy="561022"/>
          </a:xfrm>
          <a:custGeom>
            <a:avLst/>
            <a:gdLst/>
            <a:ahLst/>
            <a:cxnLst/>
            <a:rect l="l" t="t" r="r" b="b"/>
            <a:pathLst>
              <a:path w="561023" h="561022">
                <a:moveTo>
                  <a:pt x="0" y="0"/>
                </a:moveTo>
                <a:lnTo>
                  <a:pt x="561023" y="0"/>
                </a:lnTo>
                <a:lnTo>
                  <a:pt x="561023" y="561022"/>
                </a:lnTo>
                <a:lnTo>
                  <a:pt x="0" y="561022"/>
                </a:lnTo>
                <a:lnTo>
                  <a:pt x="0" y="0"/>
                </a:lnTo>
                <a:close/>
              </a:path>
            </a:pathLst>
          </a:custGeom>
          <a:blipFill>
            <a:blip r:embed="rId25">
              <a:extLst>
                <a:ext uri="{96DAC541-7B7A-43D3-8B79-37D633B846F1}">
                  <asvg:svgBlip xmlns:asvg="http://schemas.microsoft.com/office/drawing/2016/SVG/main" xmlns="" r:embed="rId26"/>
                </a:ext>
              </a:extLst>
            </a:blip>
            <a:stretch>
              <a:fillRect/>
            </a:stretch>
          </a:blipFill>
        </p:spPr>
      </p:sp>
      <p:sp>
        <p:nvSpPr>
          <p:cNvPr id="50" name="TextBox 50"/>
          <p:cNvSpPr txBox="1"/>
          <p:nvPr/>
        </p:nvSpPr>
        <p:spPr>
          <a:xfrm>
            <a:off x="12849130" y="8275601"/>
            <a:ext cx="4621078" cy="1731243"/>
          </a:xfrm>
          <a:prstGeom prst="rect">
            <a:avLst/>
          </a:prstGeom>
        </p:spPr>
        <p:txBody>
          <a:bodyPr lIns="0" tIns="0" rIns="0" bIns="0" rtlCol="0" anchor="t">
            <a:spAutoFit/>
          </a:bodyPr>
          <a:lstStyle/>
          <a:p>
            <a:pPr marL="0" lvl="0" indent="0" algn="r" rtl="1">
              <a:lnSpc>
                <a:spcPts val="2659"/>
              </a:lnSpc>
              <a:spcBef>
                <a:spcPct val="0"/>
              </a:spcBef>
            </a:pPr>
            <a:r>
              <a:rPr lang="ar-EG" sz="1899" dirty="0">
                <a:solidFill>
                  <a:srgbClr val="000000"/>
                </a:solidFill>
                <a:latin typeface="Arial" panose="020B0604020202020204" pitchFamily="34" charset="0"/>
                <a:ea typeface="DM Sans"/>
                <a:cs typeface="Arial" panose="020B0604020202020204" pitchFamily="34" charset="0"/>
                <a:sym typeface="DM Sans"/>
                <a:rtl/>
              </a:rPr>
              <a:t>"ساهم</a:t>
            </a:r>
            <a:r>
              <a:rPr lang="ar-EG" sz="18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في تحسين كفاءة التشغيل، ورفع مستوى المتابعة، وتوحيد طريقة العمل بين الفرق المختلفة ضمن خدمات ما بعد البيع."</a:t>
            </a: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51" name="TextBox 51"/>
          <p:cNvSpPr txBox="1"/>
          <p:nvPr/>
        </p:nvSpPr>
        <p:spPr>
          <a:xfrm>
            <a:off x="13083120" y="1104879"/>
            <a:ext cx="4387089" cy="641201"/>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الفائدة على الشركة</a:t>
            </a:r>
          </a:p>
        </p:txBody>
      </p:sp>
      <p:sp>
        <p:nvSpPr>
          <p:cNvPr id="52" name="TextBox 52"/>
          <p:cNvSpPr txBox="1"/>
          <p:nvPr/>
        </p:nvSpPr>
        <p:spPr>
          <a:xfrm>
            <a:off x="2577873" y="1181079"/>
            <a:ext cx="3115606" cy="374911"/>
          </a:xfrm>
          <a:prstGeom prst="rect">
            <a:avLst/>
          </a:prstGeom>
        </p:spPr>
        <p:txBody>
          <a:bodyPr lIns="0" tIns="0" rIns="0" bIns="0" rtlCol="0" anchor="t">
            <a:spAutoFit/>
          </a:bodyPr>
          <a:lstStyle/>
          <a:p>
            <a:pPr marL="0" lvl="0" indent="0" algn="l">
              <a:lnSpc>
                <a:spcPts val="3220"/>
              </a:lnSpc>
              <a:spcBef>
                <a:spcPct val="0"/>
              </a:spcBef>
            </a:pPr>
            <a:r>
              <a:rPr lang="en-US" sz="2300" b="1" dirty="0">
                <a:solidFill>
                  <a:srgbClr val="000000"/>
                </a:solidFill>
                <a:latin typeface="Arial" panose="020B0604020202020204" pitchFamily="34" charset="0"/>
                <a:ea typeface="DM Sans Bold"/>
                <a:cs typeface="Arial" panose="020B0604020202020204" pitchFamily="34" charset="0"/>
                <a:sym typeface="DM Sans Bold"/>
              </a:rPr>
              <a:t> </a:t>
            </a:r>
            <a:r>
              <a:rPr lang="ar-EG" sz="2300" b="1" dirty="0">
                <a:solidFill>
                  <a:srgbClr val="000000"/>
                </a:solidFill>
                <a:latin typeface="Arial" panose="020B0604020202020204" pitchFamily="34" charset="0"/>
                <a:ea typeface="DM Sans Bold"/>
                <a:cs typeface="Arial" panose="020B0604020202020204" pitchFamily="34" charset="0"/>
                <a:sym typeface="DM Sans Bold"/>
                <a:rtl/>
              </a:rPr>
              <a:t>وضوح أهداف الخدمة</a:t>
            </a:r>
          </a:p>
        </p:txBody>
      </p:sp>
      <p:sp>
        <p:nvSpPr>
          <p:cNvPr id="53" name="TextBox 53"/>
          <p:cNvSpPr txBox="1"/>
          <p:nvPr/>
        </p:nvSpPr>
        <p:spPr>
          <a:xfrm>
            <a:off x="6930780" y="1097259"/>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توحيد</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رحلة خدمات ما بعد البيع وتحديد مسار واضح لكل خدمة.</a:t>
            </a:r>
          </a:p>
        </p:txBody>
      </p:sp>
      <p:sp>
        <p:nvSpPr>
          <p:cNvPr id="54" name="TextBox 54"/>
          <p:cNvSpPr txBox="1"/>
          <p:nvPr/>
        </p:nvSpPr>
        <p:spPr>
          <a:xfrm>
            <a:off x="2792219" y="2665463"/>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تنظيم العمليات</a:t>
            </a:r>
          </a:p>
        </p:txBody>
      </p:sp>
      <p:sp>
        <p:nvSpPr>
          <p:cNvPr id="55" name="TextBox 55"/>
          <p:cNvSpPr txBox="1"/>
          <p:nvPr/>
        </p:nvSpPr>
        <p:spPr>
          <a:xfrm>
            <a:off x="6930780" y="2598153"/>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المراحل والإجراءات وتحديد ما يجب تنفيذه في كل خطوة.</a:t>
            </a:r>
          </a:p>
        </p:txBody>
      </p:sp>
      <p:sp>
        <p:nvSpPr>
          <p:cNvPr id="56" name="TextBox 56"/>
          <p:cNvSpPr txBox="1"/>
          <p:nvPr/>
        </p:nvSpPr>
        <p:spPr>
          <a:xfrm>
            <a:off x="2577873" y="4166358"/>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رفع الكفاءة التشغيلية</a:t>
            </a:r>
          </a:p>
        </p:txBody>
      </p:sp>
      <p:sp>
        <p:nvSpPr>
          <p:cNvPr id="57" name="TextBox 57"/>
          <p:cNvSpPr txBox="1"/>
          <p:nvPr/>
        </p:nvSpPr>
        <p:spPr>
          <a:xfrm>
            <a:off x="6930780" y="4099048"/>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تقليل</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الهدر والأخطاء وتحسين استخدام الوقت والموارد.</a:t>
            </a:r>
          </a:p>
        </p:txBody>
      </p:sp>
      <p:sp>
        <p:nvSpPr>
          <p:cNvPr id="58" name="TextBox 58"/>
          <p:cNvSpPr txBox="1"/>
          <p:nvPr/>
        </p:nvSpPr>
        <p:spPr>
          <a:xfrm>
            <a:off x="2329958" y="5688805"/>
            <a:ext cx="3466590" cy="397032"/>
          </a:xfrm>
          <a:prstGeom prst="rect">
            <a:avLst/>
          </a:prstGeom>
        </p:spPr>
        <p:txBody>
          <a:bodyPr lIns="0" tIns="0" rIns="0" bIns="0" rtlCol="0" anchor="t">
            <a:spAutoFit/>
          </a:bodyPr>
          <a:lstStyle/>
          <a:p>
            <a:pPr marL="0" lvl="0" indent="0" algn="l">
              <a:lnSpc>
                <a:spcPts val="3359"/>
              </a:lnSpc>
              <a:spcBef>
                <a:spcPct val="0"/>
              </a:spcBef>
            </a:pPr>
            <a:r>
              <a:rPr lang="en-US" sz="2400" b="1" dirty="0">
                <a:solidFill>
                  <a:srgbClr val="000000"/>
                </a:solidFill>
                <a:latin typeface="Arial" panose="020B0604020202020204" pitchFamily="34" charset="0"/>
                <a:ea typeface="DM Sans Bold"/>
                <a:cs typeface="Arial" panose="020B0604020202020204" pitchFamily="34" charset="0"/>
                <a:sym typeface="DM Sans Bold"/>
              </a:rPr>
              <a:t> </a:t>
            </a: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الالتزام بالمواعيد</a:t>
            </a:r>
          </a:p>
        </p:txBody>
      </p:sp>
      <p:sp>
        <p:nvSpPr>
          <p:cNvPr id="59" name="TextBox 59"/>
          <p:cNvSpPr txBox="1"/>
          <p:nvPr/>
        </p:nvSpPr>
        <p:spPr>
          <a:xfrm>
            <a:off x="6930780" y="5599942"/>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الجدولة ومتابعة تنفيذ الخدمات في الوقت المحدد.</a:t>
            </a:r>
          </a:p>
        </p:txBody>
      </p:sp>
      <p:sp>
        <p:nvSpPr>
          <p:cNvPr id="60" name="TextBox 60"/>
          <p:cNvSpPr txBox="1"/>
          <p:nvPr/>
        </p:nvSpPr>
        <p:spPr>
          <a:xfrm>
            <a:off x="2577873" y="7168147"/>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وضوح ومتابعة أفضل</a:t>
            </a:r>
          </a:p>
        </p:txBody>
      </p:sp>
      <p:sp>
        <p:nvSpPr>
          <p:cNvPr id="61" name="TextBox 61"/>
          <p:cNvSpPr txBox="1"/>
          <p:nvPr/>
        </p:nvSpPr>
        <p:spPr>
          <a:xfrm>
            <a:off x="6930780" y="7100837"/>
            <a:ext cx="3877354" cy="1282402"/>
          </a:xfrm>
          <a:prstGeom prst="rect">
            <a:avLst/>
          </a:prstGeom>
        </p:spPr>
        <p:txBody>
          <a:bodyPr lIns="0" tIns="0" rIns="0" bIns="0" rtlCol="0" anchor="t">
            <a:spAutoFit/>
          </a:bodyPr>
          <a:lstStyle/>
          <a:p>
            <a:pPr algn="r" rtl="1">
              <a:lnSpc>
                <a:spcPts val="2519"/>
              </a:lnSpc>
            </a:pPr>
            <a:r>
              <a:rPr lang="ar-EG" sz="1799" dirty="0">
                <a:solidFill>
                  <a:srgbClr val="000000"/>
                </a:solidFill>
                <a:latin typeface="Arial" panose="020B0604020202020204" pitchFamily="34" charset="0"/>
                <a:ea typeface="DM Sans"/>
                <a:cs typeface="Arial" panose="020B0604020202020204" pitchFamily="34" charset="0"/>
                <a:sym typeface="DM Sans"/>
                <a:rtl/>
              </a:rPr>
              <a:t>معرفة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حالة الطلب ومكان توقف الخدمة ومصدر المشكلة بسهولة.</a:t>
            </a: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62" name="TextBox 62"/>
          <p:cNvSpPr txBox="1"/>
          <p:nvPr/>
        </p:nvSpPr>
        <p:spPr>
          <a:xfrm>
            <a:off x="2577873" y="8669041"/>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جودة الخدمة</a:t>
            </a:r>
          </a:p>
        </p:txBody>
      </p:sp>
      <p:sp>
        <p:nvSpPr>
          <p:cNvPr id="63" name="TextBox 63"/>
          <p:cNvSpPr txBox="1"/>
          <p:nvPr/>
        </p:nvSpPr>
        <p:spPr>
          <a:xfrm>
            <a:off x="6930780" y="8601731"/>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رفع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مستوى الالتزام بالإجراءات وتحسين تجربة العميل حتى إغلاق الخدمة.</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52500" y="2356485"/>
            <a:ext cx="3384916" cy="1471493"/>
          </a:xfrm>
          <a:prstGeom prst="rect">
            <a:avLst/>
          </a:prstGeom>
        </p:spPr>
        <p:txBody>
          <a:bodyPr lIns="0" tIns="0" rIns="0" bIns="0" rtlCol="0" anchor="t">
            <a:spAutoFit/>
          </a:bodyPr>
          <a:lstStyle/>
          <a:p>
            <a:pPr marL="0" lvl="0" indent="0" algn="r" rtl="1">
              <a:lnSpc>
                <a:spcPts val="2939"/>
              </a:lnSpc>
              <a:spcBef>
                <a:spcPct val="0"/>
              </a:spcBef>
            </a:pPr>
            <a:r>
              <a:rPr lang="ar-EG" sz="2099" dirty="0">
                <a:solidFill>
                  <a:srgbClr val="000000"/>
                </a:solidFill>
                <a:latin typeface="Arial" panose="020B0604020202020204" pitchFamily="34" charset="0"/>
                <a:ea typeface="DM Sans"/>
                <a:cs typeface="Arial" panose="020B0604020202020204" pitchFamily="34" charset="0"/>
                <a:sym typeface="DM Sans"/>
                <a:rtl/>
              </a:rPr>
              <a:t>بعد تنظيم العمليات وتوحيد رحلة الخدمة،</a:t>
            </a:r>
            <a:r>
              <a:rPr lang="ar-EG" sz="2099" u="none" strike="noStrike" dirty="0">
                <a:solidFill>
                  <a:srgbClr val="000000"/>
                </a:solidFill>
                <a:latin typeface="Arial" panose="020B0604020202020204" pitchFamily="34" charset="0"/>
                <a:ea typeface="DM Sans"/>
                <a:cs typeface="Arial" panose="020B0604020202020204" pitchFamily="34" charset="0"/>
                <a:sym typeface="DM Sans"/>
                <a:rtl/>
              </a:rPr>
              <a:t> تأتي المرحلة التالية للاستفادة من البيانات والذكاء الاصطناعي لرفع الكفاءة ودعم القرار.</a:t>
            </a:r>
          </a:p>
        </p:txBody>
      </p:sp>
      <p:sp>
        <p:nvSpPr>
          <p:cNvPr id="3" name="Freeform 3"/>
          <p:cNvSpPr/>
          <p:nvPr/>
        </p:nvSpPr>
        <p:spPr>
          <a:xfrm>
            <a:off x="4337416" y="2941701"/>
            <a:ext cx="7950801" cy="6259449"/>
          </a:xfrm>
          <a:custGeom>
            <a:avLst/>
            <a:gdLst/>
            <a:ahLst/>
            <a:cxnLst/>
            <a:rect l="l" t="t" r="r" b="b"/>
            <a:pathLst>
              <a:path w="7950801" h="6259449">
                <a:moveTo>
                  <a:pt x="0" y="0"/>
                </a:moveTo>
                <a:lnTo>
                  <a:pt x="7950802" y="0"/>
                </a:lnTo>
                <a:lnTo>
                  <a:pt x="7950802" y="6259449"/>
                </a:lnTo>
                <a:lnTo>
                  <a:pt x="0" y="625944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8433412" y="3475148"/>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sp>
      <p:grpSp>
        <p:nvGrpSpPr>
          <p:cNvPr id="5" name="Group 5"/>
          <p:cNvGrpSpPr/>
          <p:nvPr/>
        </p:nvGrpSpPr>
        <p:grpSpPr>
          <a:xfrm>
            <a:off x="7231022" y="2609850"/>
            <a:ext cx="596393" cy="59639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dirty="0">
                  <a:solidFill>
                    <a:srgbClr val="000000"/>
                  </a:solidFill>
                  <a:latin typeface="Arial" panose="020B0604020202020204" pitchFamily="34" charset="0"/>
                  <a:ea typeface="DM Sans Bold"/>
                  <a:cs typeface="Arial" panose="020B0604020202020204" pitchFamily="34" charset="0"/>
                  <a:sym typeface="DM Sans Bold"/>
                </a:rPr>
                <a:t>01</a:t>
              </a:r>
            </a:p>
          </p:txBody>
        </p:sp>
      </p:grpSp>
      <p:grpSp>
        <p:nvGrpSpPr>
          <p:cNvPr id="8" name="Group 8"/>
          <p:cNvGrpSpPr/>
          <p:nvPr/>
        </p:nvGrpSpPr>
        <p:grpSpPr>
          <a:xfrm>
            <a:off x="6388777" y="3920618"/>
            <a:ext cx="596393" cy="59639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grpSp>
        <p:nvGrpSpPr>
          <p:cNvPr id="11" name="Group 11"/>
          <p:cNvGrpSpPr/>
          <p:nvPr/>
        </p:nvGrpSpPr>
        <p:grpSpPr>
          <a:xfrm>
            <a:off x="5546532" y="5231386"/>
            <a:ext cx="596393" cy="5963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grpSp>
        <p:nvGrpSpPr>
          <p:cNvPr id="14" name="Group 14"/>
          <p:cNvGrpSpPr/>
          <p:nvPr/>
        </p:nvGrpSpPr>
        <p:grpSpPr>
          <a:xfrm>
            <a:off x="4704287" y="6542155"/>
            <a:ext cx="596393" cy="59639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grpSp>
        <p:nvGrpSpPr>
          <p:cNvPr id="17" name="Group 17"/>
          <p:cNvGrpSpPr/>
          <p:nvPr/>
        </p:nvGrpSpPr>
        <p:grpSpPr>
          <a:xfrm>
            <a:off x="8312817" y="3070021"/>
            <a:ext cx="3599338" cy="604364"/>
            <a:chOff x="0" y="0"/>
            <a:chExt cx="2420348" cy="406400"/>
          </a:xfrm>
        </p:grpSpPr>
        <p:sp>
          <p:nvSpPr>
            <p:cNvPr id="18" name="Freeform 18"/>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19" name="TextBox 19"/>
            <p:cNvSpPr txBox="1"/>
            <p:nvPr/>
          </p:nvSpPr>
          <p:spPr>
            <a:xfrm>
              <a:off x="0" y="-47625"/>
              <a:ext cx="2420348" cy="454025"/>
            </a:xfrm>
            <a:prstGeom prst="rect">
              <a:avLst/>
            </a:prstGeom>
          </p:spPr>
          <p:txBody>
            <a:bodyPr lIns="50800" tIns="50800" rIns="50800" bIns="50800" rtlCol="0" anchor="ctr"/>
            <a:lstStyle/>
            <a:p>
              <a:pPr marL="0" lvl="0" indent="0" algn="ctr">
                <a:lnSpc>
                  <a:spcPts val="2939"/>
                </a:lnSpc>
                <a:spcBef>
                  <a:spcPct val="0"/>
                </a:spcBef>
              </a:pPr>
              <a:r>
                <a:rPr lang="ar-EG" sz="2099" b="1" dirty="0">
                  <a:solidFill>
                    <a:srgbClr val="000000"/>
                  </a:solidFill>
                  <a:latin typeface="Arial" panose="020B0604020202020204" pitchFamily="34" charset="0"/>
                  <a:ea typeface="DM Sans Bold"/>
                  <a:cs typeface="Arial" panose="020B0604020202020204" pitchFamily="34" charset="0"/>
                  <a:sym typeface="DM Sans Bold"/>
                  <a:rtl/>
                </a:rPr>
                <a:t>تطوير التقارير ومؤشرات</a:t>
              </a:r>
              <a:r>
                <a:rPr lang="ar-EG" sz="20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الأداء</a:t>
              </a:r>
            </a:p>
          </p:txBody>
        </p:sp>
      </p:grpSp>
      <p:sp>
        <p:nvSpPr>
          <p:cNvPr id="20" name="Freeform 20"/>
          <p:cNvSpPr/>
          <p:nvPr/>
        </p:nvSpPr>
        <p:spPr>
          <a:xfrm>
            <a:off x="8433412" y="4872030"/>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sp>
      <p:grpSp>
        <p:nvGrpSpPr>
          <p:cNvPr id="21" name="Group 21"/>
          <p:cNvGrpSpPr/>
          <p:nvPr/>
        </p:nvGrpSpPr>
        <p:grpSpPr>
          <a:xfrm>
            <a:off x="8312817" y="4466903"/>
            <a:ext cx="3599338" cy="604364"/>
            <a:chOff x="0" y="0"/>
            <a:chExt cx="2420348" cy="406400"/>
          </a:xfrm>
        </p:grpSpPr>
        <p:sp>
          <p:nvSpPr>
            <p:cNvPr id="22" name="Freeform 22"/>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3" name="TextBox 23"/>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en-US" sz="2299" b="1" dirty="0">
                  <a:solidFill>
                    <a:srgbClr val="000000"/>
                  </a:solidFill>
                  <a:latin typeface="Arial" panose="020B0604020202020204" pitchFamily="34" charset="0"/>
                  <a:ea typeface="DM Sans Bold"/>
                  <a:cs typeface="Arial" panose="020B0604020202020204" pitchFamily="34" charset="0"/>
                  <a:sym typeface="DM Sans Bold"/>
                </a:rPr>
                <a:t> </a:t>
              </a: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أتمتة وتطوير العمليات</a:t>
              </a:r>
            </a:p>
          </p:txBody>
        </p:sp>
      </p:grpSp>
      <p:sp>
        <p:nvSpPr>
          <p:cNvPr id="24" name="Freeform 24"/>
          <p:cNvSpPr/>
          <p:nvPr/>
        </p:nvSpPr>
        <p:spPr>
          <a:xfrm>
            <a:off x="8433412" y="6268912"/>
            <a:ext cx="3478743" cy="398474"/>
          </a:xfrm>
          <a:custGeom>
            <a:avLst/>
            <a:gdLst/>
            <a:ahLst/>
            <a:cxnLst/>
            <a:rect l="l" t="t" r="r" b="b"/>
            <a:pathLst>
              <a:path w="3478743" h="398474">
                <a:moveTo>
                  <a:pt x="0" y="0"/>
                </a:moveTo>
                <a:lnTo>
                  <a:pt x="3478742" y="0"/>
                </a:lnTo>
                <a:lnTo>
                  <a:pt x="3478742" y="398475"/>
                </a:lnTo>
                <a:lnTo>
                  <a:pt x="0" y="398475"/>
                </a:lnTo>
                <a:lnTo>
                  <a:pt x="0" y="0"/>
                </a:lnTo>
                <a:close/>
              </a:path>
            </a:pathLst>
          </a:custGeom>
          <a:blipFill>
            <a:blip r:embed="rId4">
              <a:alphaModFix amt="46000"/>
            </a:blip>
            <a:stretch>
              <a:fillRect/>
            </a:stretch>
          </a:blipFill>
        </p:spPr>
      </p:sp>
      <p:grpSp>
        <p:nvGrpSpPr>
          <p:cNvPr id="25" name="Group 25"/>
          <p:cNvGrpSpPr/>
          <p:nvPr/>
        </p:nvGrpSpPr>
        <p:grpSpPr>
          <a:xfrm>
            <a:off x="8312817" y="5863786"/>
            <a:ext cx="3599338" cy="604364"/>
            <a:chOff x="0" y="0"/>
            <a:chExt cx="2420348" cy="406400"/>
          </a:xfrm>
        </p:grpSpPr>
        <p:sp>
          <p:nvSpPr>
            <p:cNvPr id="26" name="Freeform 26"/>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7" name="TextBox 27"/>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تحسين</a:t>
              </a:r>
              <a:r>
                <a:rPr lang="ar-EG" sz="2299" b="1" u="none" strike="noStrike" dirty="0">
                  <a:solidFill>
                    <a:srgbClr val="000000"/>
                  </a:solidFill>
                  <a:latin typeface="Arial" panose="020B0604020202020204" pitchFamily="34" charset="0"/>
                  <a:ea typeface="DM Sans Bold"/>
                  <a:cs typeface="Arial" panose="020B0604020202020204" pitchFamily="34" charset="0"/>
                  <a:sym typeface="DM Sans Bold"/>
                  <a:rtl/>
                </a:rPr>
                <a:t> تجربة العميل</a:t>
              </a:r>
            </a:p>
          </p:txBody>
        </p:sp>
      </p:grpSp>
      <p:sp>
        <p:nvSpPr>
          <p:cNvPr id="28" name="Freeform 28"/>
          <p:cNvSpPr/>
          <p:nvPr/>
        </p:nvSpPr>
        <p:spPr>
          <a:xfrm>
            <a:off x="8433412" y="7665795"/>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sp>
      <p:grpSp>
        <p:nvGrpSpPr>
          <p:cNvPr id="29" name="Group 29"/>
          <p:cNvGrpSpPr/>
          <p:nvPr/>
        </p:nvGrpSpPr>
        <p:grpSpPr>
          <a:xfrm>
            <a:off x="8312817" y="7260668"/>
            <a:ext cx="3599338" cy="604364"/>
            <a:chOff x="0" y="0"/>
            <a:chExt cx="2420348" cy="406400"/>
          </a:xfrm>
        </p:grpSpPr>
        <p:sp>
          <p:nvSpPr>
            <p:cNvPr id="30" name="Freeform 30"/>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31" name="TextBox 31"/>
            <p:cNvSpPr txBox="1"/>
            <p:nvPr/>
          </p:nvSpPr>
          <p:spPr>
            <a:xfrm>
              <a:off x="0" y="-38100"/>
              <a:ext cx="2420348" cy="444500"/>
            </a:xfrm>
            <a:prstGeom prst="rect">
              <a:avLst/>
            </a:prstGeom>
          </p:spPr>
          <p:txBody>
            <a:bodyPr lIns="50800" tIns="50800" rIns="50800" bIns="50800" rtlCol="0" anchor="ctr"/>
            <a:lstStyle/>
            <a:p>
              <a:pPr marL="0" lvl="0" indent="0" algn="ctr">
                <a:lnSpc>
                  <a:spcPts val="2659"/>
                </a:lnSpc>
                <a:spcBef>
                  <a:spcPct val="0"/>
                </a:spcBef>
              </a:pPr>
              <a:r>
                <a:rPr lang="ar-EG" sz="1899" b="1" dirty="0">
                  <a:solidFill>
                    <a:srgbClr val="000000"/>
                  </a:solidFill>
                  <a:latin typeface="Arial" panose="020B0604020202020204" pitchFamily="34" charset="0"/>
                  <a:ea typeface="DM Sans Bold"/>
                  <a:cs typeface="Arial" panose="020B0604020202020204" pitchFamily="34" charset="0"/>
                  <a:sym typeface="DM Sans Bold"/>
                  <a:rtl/>
                </a:rPr>
                <a:t>الذكاء الاصطناعي والمساعد</a:t>
              </a:r>
              <a:r>
                <a:rPr lang="ar-EG" sz="18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الذكي</a:t>
              </a:r>
            </a:p>
          </p:txBody>
        </p:sp>
      </p:grpSp>
      <p:sp>
        <p:nvSpPr>
          <p:cNvPr id="32" name="TextBox 32"/>
          <p:cNvSpPr txBox="1"/>
          <p:nvPr/>
        </p:nvSpPr>
        <p:spPr>
          <a:xfrm>
            <a:off x="12409456" y="3078198"/>
            <a:ext cx="4327587"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بناء</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تقارير أوضح و</a:t>
            </a:r>
            <a:r>
              <a:rPr lang="en-US" sz="1799" u="none" strike="noStrike" dirty="0">
                <a:solidFill>
                  <a:srgbClr val="000000"/>
                </a:solidFill>
                <a:latin typeface="Arial" panose="020B0604020202020204" pitchFamily="34" charset="0"/>
                <a:ea typeface="DM Sans"/>
                <a:cs typeface="Arial" panose="020B0604020202020204" pitchFamily="34" charset="0"/>
                <a:sym typeface="DM Sans"/>
              </a:rPr>
              <a:t>KPIs</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تساعد الإدارة على متابعة أداء الخدمات والفرق واتخاذ القرار بسرعة أكبر.</a:t>
            </a:r>
          </a:p>
        </p:txBody>
      </p:sp>
      <p:sp>
        <p:nvSpPr>
          <p:cNvPr id="33" name="TextBox 33"/>
          <p:cNvSpPr txBox="1"/>
          <p:nvPr/>
        </p:nvSpPr>
        <p:spPr>
          <a:xfrm>
            <a:off x="12409456" y="4475080"/>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أتمتة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مراحل إضافية، استكمال تطوير باقي خدمات ما بعد البيع، وتحسين متابعة تنفيذ الطلبات.</a:t>
            </a:r>
          </a:p>
        </p:txBody>
      </p:sp>
      <p:sp>
        <p:nvSpPr>
          <p:cNvPr id="34" name="TextBox 34"/>
          <p:cNvSpPr txBox="1"/>
          <p:nvPr/>
        </p:nvSpPr>
        <p:spPr>
          <a:xfrm>
            <a:off x="12409456" y="5871963"/>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تطوير</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تقييم العملاء، تحسين تجربة الحجز والمتابعة، والاستفادة من ملاحظات العملاء في تحسين الخدمة.</a:t>
            </a:r>
          </a:p>
        </p:txBody>
      </p:sp>
      <p:sp>
        <p:nvSpPr>
          <p:cNvPr id="35" name="TextBox 35"/>
          <p:cNvSpPr txBox="1"/>
          <p:nvPr/>
        </p:nvSpPr>
        <p:spPr>
          <a:xfrm>
            <a:off x="12409456" y="7268845"/>
            <a:ext cx="4327587" cy="1268168"/>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توسيع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المساعد الذكي الحالي ليستفيد من بيانات الخدمات والتذاكر والمحادثات، ويساعد الموظف في معرفة الإجراء المناسب، تلخيص الحالات، واكتشاف الأنماط والمشاكل المتكررة.</a:t>
            </a:r>
          </a:p>
        </p:txBody>
      </p:sp>
      <p:sp>
        <p:nvSpPr>
          <p:cNvPr id="36" name="TextBox 36"/>
          <p:cNvSpPr txBox="1"/>
          <p:nvPr/>
        </p:nvSpPr>
        <p:spPr>
          <a:xfrm>
            <a:off x="13083120" y="688657"/>
            <a:ext cx="4387089" cy="585930"/>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المرحلة القادمة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1974</Words>
  <Application>Microsoft Office PowerPoint</Application>
  <PresentationFormat>Custom</PresentationFormat>
  <Paragraphs>471</Paragraphs>
  <Slides>16</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16</vt:i4>
      </vt:variant>
    </vt:vector>
  </HeadingPairs>
  <TitlesOfParts>
    <vt:vector size="31" baseType="lpstr">
      <vt:lpstr>Glacial Indifference</vt:lpstr>
      <vt:lpstr>Poppins Semi-Bold</vt:lpstr>
      <vt:lpstr>DM Sans Bold</vt:lpstr>
      <vt:lpstr>Poppins Medium</vt:lpstr>
      <vt:lpstr>Segoe UI Emoji</vt:lpstr>
      <vt:lpstr>Glacial Indifference Bold</vt:lpstr>
      <vt:lpstr>Segoe UI</vt:lpstr>
      <vt:lpstr>Public Sans Ultra-Bold</vt:lpstr>
      <vt:lpstr>Public Sans</vt:lpstr>
      <vt:lpstr>Poppins</vt:lpstr>
      <vt:lpstr>Public Sans Bold</vt:lpstr>
      <vt:lpstr>Calibri</vt: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Company Profile Presentation</dc:title>
  <cp:lastModifiedBy>admin</cp:lastModifiedBy>
  <cp:revision>13</cp:revision>
  <dcterms:created xsi:type="dcterms:W3CDTF">2006-08-16T00:00:00Z</dcterms:created>
  <dcterms:modified xsi:type="dcterms:W3CDTF">2026-09-26T08:38:58Z</dcterms:modified>
  <dc:identifier>DAHVPV6N8Pk</dc:identifier>
</cp:coreProperties>
</file>