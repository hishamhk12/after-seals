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77824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خدمة التوصيل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إدارة المستودعات / التوصيل</a:t>
            </a:r>
          </a:p>
        </p:txBody>
      </p:sp>
      <p:pic>
        <p:nvPicPr>
          <p:cNvPr id="6" name="Picture 5" descr="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47020" y="114300"/>
            <a:ext cx="1325880" cy="1325880"/>
          </a:xfrm>
          <a:prstGeom prst="ellipse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447020" y="114300"/>
            <a:ext cx="1325880" cy="1325880"/>
          </a:xfrm>
          <a:prstGeom prst="ellipse">
            <a:avLst/>
          </a:prstGeom>
          <a:noFill/>
          <a:ln w="381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22852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8427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7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8686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6004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فاتورة من SAP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510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9050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0047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047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305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2202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طلب توصيل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1306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5248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6674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67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925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8400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جدولة التوصيل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7504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1446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32872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287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545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4598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ربط الخدمة بالسائق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3702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7644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4907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907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165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0796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ملء النموذج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9900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03842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6526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6526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6785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6994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جاري التوصيل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6609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8146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146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استلام الخدمة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310896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05138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356848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56848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1442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وصول فاتورة من SAP تحتوي على خدمة التوصيل.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96578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51442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6772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28482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28482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3076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إنشاء طلب التوصيل داخل نظام خدمات ما بعد البيع.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8212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3076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48406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500116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0116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94710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انتقال الطلب إلى مرحلة جدولة التوصيل، وإرسال رابط الحجز للعميل لتحديد الموعد وموقع التسليم.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39846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94710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0040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571750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71750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ربط الخدمة بالسائق المسؤول عن التنفيذ.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1480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4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مسؤول التحميل / إدارة المستودعات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05138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356848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356848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51442" y="5888736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تعبئة نموذج سند التحميل وتجهيز بيانات الرحلة.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196578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51442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مسؤول التحميل / إدارة المستودعات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76772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428482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28482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23076" y="5888736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بدء رحلة التوصيل وتوثيق تنفيذ الخدمة.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68212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23076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السائق / إدارة المستودعات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48406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500116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00116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94710" y="5888736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استلام العميل للخدمة وإغلاق دورة التوصيل.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339846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94710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548872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خدمة التحويلات الداخلية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25596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25596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إدارة المستودعات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2220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428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8428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622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15372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استلام طلب التحويل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4476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7784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9844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984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79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0936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طلب تحويل داخلي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0040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3348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5540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540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735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جاري النقل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5604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8912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90972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097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292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2064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التحقق من الجاهزية وحجز الموعد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116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4476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2653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653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4848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7628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تسجيل النقل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6732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56210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6210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تأكيد الاستلام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310896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9016" y="3694176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356848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356848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279392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نشوء الحاجة لنقل بضاعة بين المستودعات، وفتح طلب استلام التحويل لدعم تنفيذ الخدمة.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0456" y="4645152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4645152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المستودعات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24528" y="3694176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52360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832" y="4279392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فتح طلب تحويل داخلي ضمن مرحلة «طلب تحويل».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15968" y="4645152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0832" y="4645152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المستودعات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0040" y="3694176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547872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47872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" y="4279392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انتقال الطلب إلى مرحلة «جاري النقل»، ونقل البضاعة إلى مستودع التجمع أثناء تحركها.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" y="4645152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" y="4645152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المستودعات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29016" y="5303520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356848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56848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5888736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التحقق من جاهزية البضاعة وحجز الموعد المناسب.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0456" y="6254496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6254496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المستودعات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24528" y="5303520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52360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52360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0832" y="5888736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تسجيل عملية النقل عبر خطوة Record Transfer.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15968" y="6254496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70832" y="6254496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المستودعات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" y="5303520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547872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47872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4" y="5888736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تأكيد الاستلام (Confirm Receipt) عند وصول البضاعة وإغلاق دورة التحويل الداخلي.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6254496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6344" y="6254496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المستودعات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77824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خدمة رفع المقاسات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فريق رفع المقاسات / الفنيون</a:t>
            </a:r>
          </a:p>
        </p:txBody>
      </p:sp>
      <p:pic>
        <p:nvPicPr>
          <p:cNvPr id="6" name="Picture 5" descr="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47020" y="114300"/>
            <a:ext cx="1325880" cy="1325880"/>
          </a:xfrm>
          <a:prstGeom prst="ellipse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447020" y="114300"/>
            <a:ext cx="1325880" cy="1325880"/>
          </a:xfrm>
          <a:prstGeom prst="ellipse">
            <a:avLst/>
          </a:prstGeom>
          <a:noFill/>
          <a:ln w="381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22852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8427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7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8686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6004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فاتورة من SAP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510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9050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0047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047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305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2202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طلب رفع مقاسات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1306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5248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6674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67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925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8400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التحقق من الجاهزية وحجز الموعد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7504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1446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32872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287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545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4598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تم تعيين الفني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3702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7644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4907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907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165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0796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ملئ النموذج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9900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03842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6526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6526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6785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6994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رفع القياسات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6609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8146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146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تمت الخدمة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310896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05138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356848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56848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1442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وصول فاتورة من SAP تحتوي على خدمة رفع المقاسات.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96578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51442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6772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28482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28482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3076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إنشاء طلب رفع مقاسات داخل نظام خدمات ما بعد البيع.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8212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3076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خدمة العملاء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48406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500116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0116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94710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انتقال الطلب إلى مرحلة التحقق من الجاهزية وحجز الموعد وإرسال رابط الحجز للعميل.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39846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94710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0040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571750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71750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يتم تعيين الفني المسؤول عن تنفيذ الزيارة.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1480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4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إدارة التركيبات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05138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356848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356848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51442" y="5888736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فتح نموذج رفع المقاسات وبدء تنفيذ الخدمة في موقع العميل.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196578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51442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الفني / إدارة التركيبات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76772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428482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28482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23076" y="5888736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تسجيل الغرف والمقاسات ورفع الصور والملاحظات المطلوبة.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68212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23076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الفني / إدارة التركيبات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48406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500116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00116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94710" y="5888736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توثيق استلام العميل للخدمة واعتماد التنفيذ، وانتقال المهمة إلى مرحلة تمت الخدمة.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339846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94710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77824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خدمة التصميم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إدارة التصميم</a:t>
            </a:r>
          </a:p>
        </p:txBody>
      </p:sp>
      <p:pic>
        <p:nvPicPr>
          <p:cNvPr id="6" name="Picture 5" descr="5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47020" y="114300"/>
            <a:ext cx="1325880" cy="1325880"/>
          </a:xfrm>
          <a:prstGeom prst="ellipse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447020" y="114300"/>
            <a:ext cx="1325880" cy="1325880"/>
          </a:xfrm>
          <a:prstGeom prst="ellipse">
            <a:avLst/>
          </a:prstGeom>
          <a:noFill/>
          <a:ln w="381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22852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8427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7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8686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6004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فاتورة من SAP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510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9050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0047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047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305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2202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طلب تصميم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1306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5248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6674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67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925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8400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مُسندة لمصمم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7504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1446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32872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287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545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4598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جاري العمل على التصميم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3702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7644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4907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907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165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0796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موافقات داخلية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9900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03842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6526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6526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6785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6994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بانتظار موافقة العميل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6609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8146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146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مكتمل ومعتمد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310896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05138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356848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56848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1442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وصول فاتورة من SAP تحتوي على خدمة التصميم.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96578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51442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التصميم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6772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28482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28482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3076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إنشاء طلب تصميم وبدء دورة خدمة التصميم.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8212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3076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التصميم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48406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500116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0116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94710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إسناد طلب التصميم إلى المصمم المسؤول عن تنفيذ الخدمة.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39846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94710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التصميم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0040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571750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71750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" y="4279392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يبدأ المصمم العمل على التصميم وإعداد المقترح حسب متطلبات العميل.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1480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4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التصميم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05138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356848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356848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51442" y="5888736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يتم استكمال المراجعات والموافقات الداخلية على التصميم.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196578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51442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التصميم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76772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428482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28482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23076" y="5888736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يتم إرسال أو عرض التصميم للعميل بانتظار اعتماده.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68212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23076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التصميم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48406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500116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00116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94710" y="5888736"/>
            <a:ext cx="2471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بعد اعتماد التصميم، تنتقل المهمة إلى مرحلة مكتمل ومعتمد وتنتهي دورة التصميم.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339846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94710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التصميم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77824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خدمة التصنيع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إدارة التصنيع / الورش</a:t>
            </a:r>
          </a:p>
        </p:txBody>
      </p:sp>
      <p:pic>
        <p:nvPicPr>
          <p:cNvPr id="6" name="Picture 5" descr="6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47020" y="114300"/>
            <a:ext cx="1325880" cy="1325880"/>
          </a:xfrm>
          <a:prstGeom prst="ellipse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447020" y="114300"/>
            <a:ext cx="1325880" cy="1325880"/>
          </a:xfrm>
          <a:prstGeom prst="ellipse">
            <a:avLst/>
          </a:prstGeom>
          <a:noFill/>
          <a:ln w="381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49332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84279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79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334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2484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فاتورة من SAP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1158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2009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2695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695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5161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طلب خدمة تصنيع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4265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4686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69633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9633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869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7838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إرسال إلى ورشة التصنيع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6942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77363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1231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231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1371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50515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جاري التصنيع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9619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54987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54987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تم الانتهاء من الخدمة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310896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9016" y="3694176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356848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56848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279392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وصول فاتورة من SAP تحتوي على خدمة التصنيع.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0456" y="4645152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645152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التصنيع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24528" y="3694176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52360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60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2" y="4279392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إنشاء طلب خدمة تصنيع داخل نظام خدمات ما بعد البيع.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15968" y="4645152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70832" y="4645152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التصنيع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" y="3694176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547872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47872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" y="4279392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إرسال طلب التصنيع إلى ورشة التصنيع لبدء تنفيذ الأعمال المطلوبة.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4645152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" y="4645152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التصنيع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29016" y="5303520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356848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356848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5888736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بدء أعمال التصنيع ومتابعة تنفيذ الطلب حسب المواصفات المعتمدة.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0456" y="6254496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6254496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التصنيع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24528" y="5303520"/>
            <a:ext cx="3739896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452360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52360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0832" y="5888736"/>
            <a:ext cx="3447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بعد اكتمال أعمال التصنيع، تنتقل المهمة إلى مرحلة تم الانتهاء من الخدمة.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15968" y="6254496"/>
            <a:ext cx="3557016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70832" y="6254496"/>
            <a:ext cx="34472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التصنيع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77824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خدمة التركيب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إدارة التركيبات / الفنيون</a:t>
            </a:r>
          </a:p>
        </p:txBody>
      </p:sp>
      <p:pic>
        <p:nvPicPr>
          <p:cNvPr id="6" name="Picture 5" descr="4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47020" y="114300"/>
            <a:ext cx="1325880" cy="1325880"/>
          </a:xfrm>
          <a:prstGeom prst="ellipse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447020" y="114300"/>
            <a:ext cx="1325880" cy="1325880"/>
          </a:xfrm>
          <a:prstGeom prst="ellipse">
            <a:avLst/>
          </a:prstGeom>
          <a:noFill/>
          <a:ln w="381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22852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8427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7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8686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6004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فاتورة من SAP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510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9050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0047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047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305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2202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طلب تركيب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1306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5248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6674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67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925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8400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جدولة خدمة التركيب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7504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1446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32872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287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545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4598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في انتظار تعيين الفني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3702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7644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4907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907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165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0796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تنفيذ خدمة التوصيل للعميل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9900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03842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6526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6526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6785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6994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ملئ النموذج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6609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1600200"/>
            <a:ext cx="144605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8146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146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2331720"/>
            <a:ext cx="129975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تم التركيب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310896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05138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356848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56848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1442" y="4279392"/>
            <a:ext cx="24711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وصول فاتورة من SAP تحتوي على خدمة التركيب.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96578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51442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6772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28482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28482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3076" y="4279392"/>
            <a:ext cx="24711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إنشاء طلب تركيب داخل نظام خدمات مابعد البيع.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8212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3076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48406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500116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0116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94710" y="4279392"/>
            <a:ext cx="24711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انتقال طلب التركيب إلى مرحلة جدولة خدمة التركيب، وإرسال رابط الحجز وتأكيد الموعد مع العميل.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39846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94710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0040" y="3694176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571750" y="384048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71750" y="384048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" y="4279392"/>
            <a:ext cx="24711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يتم تعيين الفني المسؤول عن تنفيذ خدمة التركيب.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1480" y="4645152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4" y="4645152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/ إدارة التركيبات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05138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356848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356848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51442" y="5888736"/>
            <a:ext cx="24711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يتم تنفيذ خدمة التوصيل للعميل عند ارتباط خدمة التركيب بالتوصيل، لضمان وصول البضاعة قبل تنفيذ التركيب.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196578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51442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إدارة المستودعات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76772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428482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28482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23076" y="5888736"/>
            <a:ext cx="24711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يقوم الفني في موقع العميل بفتح نموذج التركيب وتنفيذ الخدمة وتوثيق بياناته.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68212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23076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يدوي الفني / إدارة التركيبات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48406" y="5303520"/>
            <a:ext cx="2763774" cy="146304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500116" y="54498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00116" y="54498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94710" y="5888736"/>
            <a:ext cx="24711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1E1E"/>
                </a:solidFill>
                <a:latin typeface="Public Sans"/>
              </a:rPr>
              <a:t>بعد إنهاء أعمال التركيب وتوثيق استلام العميل للخدمة، تنتقل المهمة إلى مرحلة تم التركيب.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339846" y="6254496"/>
            <a:ext cx="2580894" cy="36576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94710" y="6254496"/>
            <a:ext cx="2471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Public Sans Bold"/>
              </a:rPr>
              <a:t>آلي من خلال النظام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700" b="1" i="0">
                <a:solidFill>
                  <a:srgbClr val="1960BD"/>
                </a:solidFill>
                <a:latin typeface="Public Sans Ultra-Bold"/>
              </a:rPr>
              <a:t>كيف تصل الحالات إلى خدمة العملاء؟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5488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300" b="0" i="0">
                <a:solidFill>
                  <a:srgbClr val="737373"/>
                </a:solidFill>
                <a:latin typeface="Public Sans"/>
              </a:rPr>
              <a:t>ثلاثة مصادر تغذّي جهة واحدة مسؤولة عن كل حالة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6928" y="1371600"/>
            <a:ext cx="3544824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203200" dist="63500" dir="5400000" rotWithShape="0">
              <a:srgbClr val="004369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159105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1672" y="159105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Segoe UI Emoji"/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6384" y="1591056"/>
            <a:ext cx="255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50" b="1" i="0">
                <a:solidFill>
                  <a:srgbClr val="004369"/>
                </a:solidFill>
                <a:latin typeface="Public Sans Bold"/>
              </a:rPr>
              <a:t>من الإدارات الداخلية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6384" y="2139696"/>
            <a:ext cx="3105912" cy="2011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06384" y="2286000"/>
            <a:ext cx="3105912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300" b="0" i="0">
                <a:solidFill>
                  <a:srgbClr val="1E1E1E"/>
                </a:solidFill>
                <a:latin typeface="Public Sans"/>
              </a:rPr>
              <a:t>•  عميل رفض التوقيع</a:t>
            </a:r>
          </a:p>
          <a:p>
            <a:pPr algn="r" rtl="1">
              <a:lnSpc>
                <a:spcPct val="150000"/>
              </a:lnSpc>
            </a:pPr>
            <a:r>
              <a:rPr sz="1300" b="0" i="0">
                <a:solidFill>
                  <a:srgbClr val="1E1E1E"/>
                </a:solidFill>
                <a:latin typeface="Public Sans"/>
              </a:rPr>
              <a:t>•  عميل غير راضٍ عن التركيب</a:t>
            </a:r>
          </a:p>
          <a:p>
            <a:pPr algn="r" rtl="1">
              <a:lnSpc>
                <a:spcPct val="150000"/>
              </a:lnSpc>
            </a:pPr>
            <a:r>
              <a:rPr sz="1300" b="0" i="0">
                <a:solidFill>
                  <a:srgbClr val="1E1E1E"/>
                </a:solidFill>
                <a:latin typeface="Public Sans"/>
              </a:rPr>
              <a:t>•  صعوبة تواصل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064" y="1371600"/>
            <a:ext cx="3544824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203200" dist="63500" dir="5400000" rotWithShape="0">
              <a:srgbClr val="004369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6808" y="159105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6808" y="159105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520" y="1591056"/>
            <a:ext cx="255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50" b="1" i="0">
                <a:solidFill>
                  <a:srgbClr val="004369"/>
                </a:solidFill>
                <a:latin typeface="Public Sans Bold"/>
              </a:rPr>
              <a:t>من العميل مباشرة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1520" y="2139696"/>
            <a:ext cx="3105912" cy="2011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86000"/>
            <a:ext cx="3105912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300" b="0" i="0">
                <a:solidFill>
                  <a:srgbClr val="1E1E1E"/>
                </a:solidFill>
                <a:latin typeface="Public Sans"/>
              </a:rPr>
              <a:t>•  استفسار</a:t>
            </a:r>
          </a:p>
          <a:p>
            <a:pPr algn="r" rtl="1">
              <a:lnSpc>
                <a:spcPct val="150000"/>
              </a:lnSpc>
            </a:pPr>
            <a:r>
              <a:rPr sz="1300" b="0" i="0">
                <a:solidFill>
                  <a:srgbClr val="1E1E1E"/>
                </a:solidFill>
                <a:latin typeface="Public Sans"/>
              </a:rPr>
              <a:t>•  شكوى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371600"/>
            <a:ext cx="3544824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203200" dist="63500" dir="5400000" rotWithShape="0">
              <a:srgbClr val="004369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61944" y="159105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1944" y="159105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Segoe UI Emoji"/>
              </a:rPr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1591056"/>
            <a:ext cx="255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550" b="1" i="0">
                <a:solidFill>
                  <a:srgbClr val="004369"/>
                </a:solidFill>
                <a:latin typeface="Public Sans Bold"/>
              </a:rPr>
              <a:t>من النظام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2139696"/>
            <a:ext cx="3105912" cy="2011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286000"/>
            <a:ext cx="3105912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300" b="0" i="0">
                <a:solidFill>
                  <a:srgbClr val="1E1E1E"/>
                </a:solidFill>
                <a:latin typeface="Public Sans"/>
              </a:rPr>
              <a:t>•  حالة عالقة</a:t>
            </a:r>
          </a:p>
          <a:p>
            <a:pPr algn="r" rtl="1">
              <a:lnSpc>
                <a:spcPct val="150000"/>
              </a:lnSpc>
            </a:pPr>
            <a:r>
              <a:rPr sz="1300" b="0" i="0">
                <a:solidFill>
                  <a:srgbClr val="1E1E1E"/>
                </a:solidFill>
                <a:latin typeface="Public Sans"/>
              </a:rPr>
              <a:t>•  عميل لم يحجز موعد</a:t>
            </a:r>
          </a:p>
          <a:p>
            <a:pPr algn="r" rtl="1">
              <a:lnSpc>
                <a:spcPct val="150000"/>
              </a:lnSpc>
            </a:pPr>
            <a:r>
              <a:rPr sz="1300" b="0" i="0">
                <a:solidFill>
                  <a:srgbClr val="1E1E1E"/>
                </a:solidFill>
                <a:latin typeface="Public Sans"/>
              </a:rPr>
              <a:t>•  تأخر في إجراء مطلوب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78808"/>
            <a:ext cx="11274552" cy="960120"/>
          </a:xfrm>
          <a:prstGeom prst="roundRect">
            <a:avLst>
              <a:gd name="adj" fmla="val 50000"/>
            </a:avLst>
          </a:prstGeom>
          <a:solidFill>
            <a:srgbClr val="1960BD"/>
          </a:solidFill>
          <a:ln>
            <a:noFill/>
          </a:ln>
          <a:effectLst>
            <a:outerShdw blurRad="254000" dist="76200" dir="5400000" rotWithShape="0">
              <a:srgbClr val="004369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78808"/>
            <a:ext cx="112745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Public Sans Ultra-Bold"/>
              </a:rPr>
              <a:t>خدمة العملاء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59340" y="3611880"/>
            <a:ext cx="0" cy="621792"/>
          </a:xfrm>
          <a:prstGeom prst="line">
            <a:avLst/>
          </a:prstGeom>
          <a:ln w="22225">
            <a:solidFill>
              <a:srgbClr val="004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4476" y="3611880"/>
            <a:ext cx="0" cy="621792"/>
          </a:xfrm>
          <a:prstGeom prst="line">
            <a:avLst/>
          </a:prstGeom>
          <a:ln w="22225">
            <a:solidFill>
              <a:srgbClr val="004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29612" y="3611880"/>
            <a:ext cx="0" cy="621792"/>
          </a:xfrm>
          <a:prstGeom prst="line">
            <a:avLst/>
          </a:prstGeom>
          <a:ln w="22225">
            <a:solidFill>
              <a:srgbClr val="004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5340096"/>
            <a:ext cx="11274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0" i="0">
                <a:solidFill>
                  <a:srgbClr val="737373"/>
                </a:solidFill>
                <a:latin typeface="Public Sans"/>
              </a:rPr>
              <a:t>جميع القنوات الثلاثة تصب في جهة واحدة لإدارة الحالة ومتابعتها حتى الإغلاق.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77824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دورة معالجة الحالة في خدمة العملاء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إدارة خدمة العملاء</a:t>
            </a:r>
          </a:p>
        </p:txBody>
      </p:sp>
      <p:pic>
        <p:nvPicPr>
          <p:cNvPr id="6" name="Picture 5" descr="7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47020" y="114300"/>
            <a:ext cx="1325880" cy="1325880"/>
          </a:xfrm>
          <a:prstGeom prst="ellipse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447020" y="114300"/>
            <a:ext cx="1325880" cy="1325880"/>
          </a:xfrm>
          <a:prstGeom prst="ellipse">
            <a:avLst/>
          </a:prstGeom>
          <a:noFill/>
          <a:ln w="381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97337" y="1600200"/>
            <a:ext cx="1171575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0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0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8777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0489" y="2276856"/>
            <a:ext cx="102527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استلام الحالة</a:t>
            </a:r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0464165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14866" y="1600200"/>
            <a:ext cx="1171575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56089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6089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6306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018" y="2276856"/>
            <a:ext cx="102527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التواصل مع العميل</a:t>
            </a:r>
          </a:p>
        </p:txBody>
      </p:sp>
      <p:sp>
        <p:nvSpPr>
          <p:cNvPr id="19" name="Isosceles Triangle 18"/>
          <p:cNvSpPr/>
          <p:nvPr/>
        </p:nvSpPr>
        <p:spPr>
          <a:xfrm rot="16200000">
            <a:off x="8981694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32395" y="1600200"/>
            <a:ext cx="1171575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73618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3618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3835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5547" y="2276856"/>
            <a:ext cx="102527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فهم وتصنيف الحالة</a:t>
            </a:r>
          </a:p>
        </p:txBody>
      </p:sp>
      <p:sp>
        <p:nvSpPr>
          <p:cNvPr id="25" name="Isosceles Triangle 24"/>
          <p:cNvSpPr/>
          <p:nvPr/>
        </p:nvSpPr>
        <p:spPr>
          <a:xfrm rot="16200000">
            <a:off x="7499223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49924" y="1600200"/>
            <a:ext cx="1171575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91147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1147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1364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3076" y="2276856"/>
            <a:ext cx="102527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فتح/متابعة التذكرة</a:t>
            </a:r>
          </a:p>
        </p:txBody>
      </p:sp>
      <p:sp>
        <p:nvSpPr>
          <p:cNvPr id="31" name="Isosceles Triangle 30"/>
          <p:cNvSpPr/>
          <p:nvPr/>
        </p:nvSpPr>
        <p:spPr>
          <a:xfrm rot="16200000">
            <a:off x="6016752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67453" y="1600200"/>
            <a:ext cx="1171575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08676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8676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8893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0605" y="2276856"/>
            <a:ext cx="102527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تحويل للجهة المختصة</a:t>
            </a:r>
          </a:p>
        </p:txBody>
      </p:sp>
      <p:sp>
        <p:nvSpPr>
          <p:cNvPr id="37" name="Isosceles Triangle 36"/>
          <p:cNvSpPr/>
          <p:nvPr/>
        </p:nvSpPr>
        <p:spPr>
          <a:xfrm rot="16200000">
            <a:off x="4534281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84982" y="1600200"/>
            <a:ext cx="1171575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926205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26205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6422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8134" y="2276856"/>
            <a:ext cx="102527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متابعة الحل</a:t>
            </a:r>
          </a:p>
        </p:txBody>
      </p:sp>
      <p:sp>
        <p:nvSpPr>
          <p:cNvPr id="43" name="Isosceles Triangle 42"/>
          <p:cNvSpPr/>
          <p:nvPr/>
        </p:nvSpPr>
        <p:spPr>
          <a:xfrm rot="16200000">
            <a:off x="3051810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802511" y="1600200"/>
            <a:ext cx="1171575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443734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43734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93951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75663" y="2276856"/>
            <a:ext cx="102527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إبلاغ العميل أو الإدارة</a:t>
            </a:r>
          </a:p>
        </p:txBody>
      </p:sp>
      <p:sp>
        <p:nvSpPr>
          <p:cNvPr id="49" name="Isosceles Triangle 48"/>
          <p:cNvSpPr/>
          <p:nvPr/>
        </p:nvSpPr>
        <p:spPr>
          <a:xfrm rot="16200000">
            <a:off x="1569339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20040" y="1600200"/>
            <a:ext cx="1171575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61263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1263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" y="2276856"/>
            <a:ext cx="102527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إغلاق الحالة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324612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05138" y="3831336"/>
            <a:ext cx="2763774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356848" y="397764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356848" y="397764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51442" y="4416552"/>
            <a:ext cx="2471166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استلام الحالة الواردة من العميل أو الإدارات أو النظام.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6772" y="3831336"/>
            <a:ext cx="2763774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428482" y="397764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28482" y="397764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23076" y="4416552"/>
            <a:ext cx="2471166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التواصل مع العميل لفهم تفاصيل الحالة.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48406" y="3831336"/>
            <a:ext cx="2763774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500116" y="397764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00116" y="397764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94710" y="4416552"/>
            <a:ext cx="2471166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فهم الحالة وتصنيفها حسب نوعها ومصدرها.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0040" y="3831336"/>
            <a:ext cx="2763774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571750" y="397764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71750" y="397764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" y="4416552"/>
            <a:ext cx="2471166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فتح تذكرة جديدة أو متابعة تذكرة قائمة.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05138" y="5234940"/>
            <a:ext cx="2763774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356848" y="538124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356848" y="538124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51442" y="5820156"/>
            <a:ext cx="2471166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تحويل الحالة إلى الجهة المختصة بالتنفيذ.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76772" y="5234940"/>
            <a:ext cx="2763774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8482" y="538124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28482" y="538124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23076" y="5820156"/>
            <a:ext cx="2471166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متابعة الجهة المختصة حتى الوصول إلى الحل.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48406" y="5234940"/>
            <a:ext cx="2763774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500116" y="538124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00116" y="538124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94710" y="5820156"/>
            <a:ext cx="2471166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إبلاغ العميل أو الإدارة المعنية بنتيجة المتابعة.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0040" y="5234940"/>
            <a:ext cx="2763774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571750" y="538124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71750" y="538124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344" y="5820156"/>
            <a:ext cx="2471166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إغلاق الحالة بعد التأكد من اكتمالها.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548872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الشكاوى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25596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25596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خدمة العملاء / الجهة المختصة بالمتابعة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03180" y="1600200"/>
            <a:ext cx="1665732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94620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6332" y="2276856"/>
            <a:ext cx="15194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شكوى العميل</a:t>
            </a: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9970008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6552" y="1600200"/>
            <a:ext cx="1665732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61932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1932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7992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9704" y="2276856"/>
            <a:ext cx="15194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تحديد النوع</a:t>
            </a:r>
          </a:p>
        </p:txBody>
      </p:sp>
      <p:sp>
        <p:nvSpPr>
          <p:cNvPr id="17" name="Isosceles Triangle 16"/>
          <p:cNvSpPr/>
          <p:nvPr/>
        </p:nvSpPr>
        <p:spPr>
          <a:xfrm rot="16200000">
            <a:off x="7993380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9924" y="1600200"/>
            <a:ext cx="1665732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85304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5304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3076" y="2276856"/>
            <a:ext cx="15194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إدارية / فنية</a:t>
            </a:r>
          </a:p>
        </p:txBody>
      </p:sp>
      <p:sp>
        <p:nvSpPr>
          <p:cNvPr id="23" name="Isosceles Triangle 22"/>
          <p:cNvSpPr/>
          <p:nvPr/>
        </p:nvSpPr>
        <p:spPr>
          <a:xfrm rot="16200000">
            <a:off x="6016752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73296" y="1600200"/>
            <a:ext cx="1665732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08676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8676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4736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6448" y="2276856"/>
            <a:ext cx="15194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الجهة المختصة</a:t>
            </a:r>
          </a:p>
        </p:txBody>
      </p:sp>
      <p:sp>
        <p:nvSpPr>
          <p:cNvPr id="29" name="Isosceles Triangle 28"/>
          <p:cNvSpPr/>
          <p:nvPr/>
        </p:nvSpPr>
        <p:spPr>
          <a:xfrm rot="16200000">
            <a:off x="4040124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296668" y="1600200"/>
            <a:ext cx="1665732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32048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32048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8108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9820" y="2276856"/>
            <a:ext cx="15194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متابعة</a:t>
            </a:r>
          </a:p>
        </p:txBody>
      </p:sp>
      <p:sp>
        <p:nvSpPr>
          <p:cNvPr id="35" name="Isosceles Triangle 34"/>
          <p:cNvSpPr/>
          <p:nvPr/>
        </p:nvSpPr>
        <p:spPr>
          <a:xfrm rot="16200000">
            <a:off x="2063496" y="2231136"/>
            <a:ext cx="155448" cy="155448"/>
          </a:xfrm>
          <a:prstGeom prst="triangle">
            <a:avLst/>
          </a:prstGeom>
          <a:solidFill>
            <a:srgbClr val="004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20040" y="1600200"/>
            <a:ext cx="1665732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165100" dist="50800" dir="5400000" rotWithShape="0">
              <a:srgbClr val="004369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55420" y="1709928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55420" y="1709928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1719072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960BD"/>
                </a:solidFill>
                <a:latin typeface="Segoe UI Emoji"/>
              </a:rP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" y="2276856"/>
            <a:ext cx="15194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حل أو تصعيد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306324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9016" y="3648456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356848" y="379476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356848" y="379476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233672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استقبال شكوى العميل وتوثيق تفاصيلها.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4528" y="3648456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52360" y="379476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379476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0832" y="4233672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تحديد نوع الشكوى ومصدرها.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" y="3648456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547872" y="379476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47872" y="379476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" y="4233672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تصنيف الشكوى: إدارية (مشكلة مع موظف أو تعامل) أو فنية (مشكلة في منتج أو تركيب أو تنفيذ، مع توثيق التفاصيل والصور إن وجدت).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29016" y="5280660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356848" y="542696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356848" y="542696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5865876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تحويل الشكوى إلى الجهة المختصة بالمعالجة.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24528" y="5280660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452360" y="542696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542696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0832" y="5865876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متابعة الشكوى حتى اكتمال الإجراء.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0040" y="5280660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547872" y="542696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47872" y="542696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6344" y="5865876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الوصول إلى حل الشكوى، أو تصعيدها عند الحاجة.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548872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الصيانة والتذاكر الفنية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25596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25596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إدارة خدمة العملاء + الجهة الفنية المختصة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49332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4279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84279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34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2484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استقبال المشكلة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1158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2009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2695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695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5161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فتح تذكرة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4265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4686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69633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9633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869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7838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تحديد القسم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6942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77363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1231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231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1371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50515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تحويل للمسؤول المختص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9619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1600200"/>
            <a:ext cx="2119579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54987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54987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" y="2331720"/>
            <a:ext cx="197327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متابعة الحالة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06324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9016" y="3648456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56848" y="379476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56848" y="379476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233672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استقبال المشكلة أو طلب الصيانة من العميل.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24528" y="3648456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52360" y="379476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379476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0832" y="4233672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فتح تذكرة لتوثيق الطلب داخل النظام.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3648456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47872" y="379476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7872" y="379476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" y="4233672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تحديد القسم حسب نوع المشكلة: مطابخ، صيانة مطابخ، باركيه، ألمنيوم، أدوات صحية، مواد إكساء، رخام، مالية، مشاريع، جملة.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29016" y="5280660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356848" y="542696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356848" y="542696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5865876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تحويل التذكرة إلى المسؤول المختص بالتنفيذ.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24528" y="5280660"/>
            <a:ext cx="3739896" cy="14859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52360" y="542696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542696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2" y="5865876"/>
            <a:ext cx="3447288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متابعة الحالة حتى معالجتها بالكامل.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77824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i="0">
                <a:solidFill>
                  <a:srgbClr val="1960BD"/>
                </a:solidFill>
                <a:latin typeface="Public Sans Ultra-Bold"/>
              </a:rPr>
              <a:t>خدمة الصيانة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841248"/>
            <a:ext cx="4937760" cy="40233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841248"/>
            <a:ext cx="4937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50" b="1" i="0">
                <a:solidFill>
                  <a:srgbClr val="000000"/>
                </a:solidFill>
                <a:latin typeface="Public Sans Bold"/>
              </a:rPr>
              <a:t>الجهة المسؤولة: فريق الصيانة الميدانية / الجهة الفنية المسؤولة</a:t>
            </a:r>
          </a:p>
        </p:txBody>
      </p:sp>
      <p:pic>
        <p:nvPicPr>
          <p:cNvPr id="6" name="Picture 5" descr="1.jpg"/>
          <p:cNvPicPr>
            <a:picLocks noChangeAspect="1"/>
          </p:cNvPicPr>
          <p:nvPr/>
        </p:nvPicPr>
        <p:blipFill>
          <a:blip r:embed="rId2"/>
          <a:srcRect l="22093" r="22093"/>
          <a:stretch>
            <a:fillRect/>
          </a:stretch>
        </p:blipFill>
        <p:spPr>
          <a:xfrm>
            <a:off x="10447020" y="114300"/>
            <a:ext cx="1325880" cy="1325880"/>
          </a:xfrm>
          <a:prstGeom prst="ellipse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447020" y="114300"/>
            <a:ext cx="1325880" cy="1325880"/>
          </a:xfrm>
          <a:prstGeom prst="ellipse">
            <a:avLst/>
          </a:prstGeom>
          <a:noFill/>
          <a:ln w="381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42220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8428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0622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15372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طلب صيانة جديد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4476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7784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9844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984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179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0936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جدولة موعد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0040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3348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55408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540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في انتظار تعيين فني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5604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8912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90972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0972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292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2064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التقرير المبدئي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11168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4476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26536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6536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8484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7628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في انتظار قطع الغيار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6732" y="2148840"/>
            <a:ext cx="23774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4369"/>
                </a:solidFill>
                <a:latin typeface="Segoe UI"/>
              </a:rPr>
              <a:t>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1600200"/>
            <a:ext cx="17266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9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562100" y="1682496"/>
            <a:ext cx="420624" cy="420624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62100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168249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960BD"/>
                </a:solidFill>
                <a:latin typeface="Segoe UI Emoji"/>
              </a:rPr>
              <a:t>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2331720"/>
            <a:ext cx="15803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Public Sans Bold"/>
              </a:rPr>
              <a:t>تحديد موعد الصيانة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3200400"/>
            <a:ext cx="115488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2000" b="1" i="0">
                <a:solidFill>
                  <a:srgbClr val="1960BD"/>
                </a:solidFill>
                <a:latin typeface="Public Sans Ultra-Bold"/>
              </a:rPr>
              <a:t>ملخص الدورة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29016" y="3785616"/>
            <a:ext cx="3739896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356848" y="393192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56848" y="393192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370832"/>
            <a:ext cx="3447288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إنشاء طلب صيانة جديد داخل نظام خدمات ما بعد البيع.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24528" y="3785616"/>
            <a:ext cx="3739896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52360" y="393192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393192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832" y="4370832"/>
            <a:ext cx="3447288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يتم الانتقال إلى مرحلة جدولة الموعد لتحديد موعد زيارة الصيانة.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" y="3785616"/>
            <a:ext cx="3739896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547872" y="3931920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47872" y="3931920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" y="4370832"/>
            <a:ext cx="3447288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يكون طلب الصيانة بانتظار تعيين الفني المسؤول عن تنفيذ الزيارة.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29016" y="5189220"/>
            <a:ext cx="3739896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356848" y="53355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356848" y="53355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5774436"/>
            <a:ext cx="3447288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بعد زيارة الفني، يتم تسجيل التقرير المبدئي للحالة وتحديد الإجراء المطلوب.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24528" y="5189220"/>
            <a:ext cx="3739896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452360" y="53355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52360" y="53355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0832" y="5774436"/>
            <a:ext cx="3447288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إذا كانت الحالة تحتاج قطع غيار، تنتقل المهمة إلى مرحلة في انتظار قطع الغيار.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" y="5189220"/>
            <a:ext cx="3739896" cy="1257300"/>
          </a:xfrm>
          <a:prstGeom prst="roundRect">
            <a:avLst>
              <a:gd name="adj" fmla="val 14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547872" y="5335524"/>
            <a:ext cx="365760" cy="365760"/>
          </a:xfrm>
          <a:prstGeom prst="ellipse">
            <a:avLst/>
          </a:prstGeom>
          <a:solidFill>
            <a:srgbClr val="196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47872" y="5335524"/>
            <a:ext cx="3657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ublic Sans Bold"/>
              </a:rPr>
              <a:t>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" y="5774436"/>
            <a:ext cx="3447288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50" b="0" i="0">
                <a:solidFill>
                  <a:srgbClr val="1E1E1E"/>
                </a:solidFill>
                <a:latin typeface="Public Sans"/>
              </a:rPr>
              <a:t>بعد جاهزية الحالة، يتم تحديد موعد تنفيذ أعمال الصيانة.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200" b="1" i="0">
                <a:solidFill>
                  <a:srgbClr val="0C2A55"/>
                </a:solidFill>
                <a:latin typeface="Cairo"/>
              </a:rPr>
              <a:t>من التوثيق إلى المساعدة الذكية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024128"/>
            <a:ext cx="1371600" cy="45720"/>
          </a:xfrm>
          <a:prstGeom prst="rect">
            <a:avLst/>
          </a:prstGeom>
          <a:solidFill>
            <a:srgbClr val="2FA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6309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6309360" cy="310896"/>
          </a:xfrm>
          <a:prstGeom prst="roundRect">
            <a:avLst>
              <a:gd name="adj" fmla="val 2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6082" y="1451610"/>
            <a:ext cx="59436" cy="5943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8962" y="1451610"/>
            <a:ext cx="59436" cy="5943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1842" y="1451610"/>
            <a:ext cx="59436" cy="5943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60350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000" b="0" i="0">
                <a:solidFill>
                  <a:srgbClr val="6B7A99"/>
                </a:solidFill>
                <a:latin typeface="Segoe UI"/>
              </a:rPr>
              <a:t>الموقع التعليمي لخدمات ما بعد البيع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73936"/>
            <a:ext cx="2331720" cy="4306824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98848" y="1865376"/>
            <a:ext cx="457200" cy="457200"/>
          </a:xfrm>
          <a:prstGeom prst="ellipse">
            <a:avLst/>
          </a:prstGeom>
          <a:solidFill>
            <a:srgbClr val="0C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47672"/>
            <a:ext cx="45720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2938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250" b="1" i="0">
                <a:solidFill>
                  <a:srgbClr val="0C2A55"/>
                </a:solidFill>
                <a:latin typeface="Segoe UI"/>
              </a:rPr>
              <a:t>المساعد الذكي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2596896"/>
            <a:ext cx="205740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670048"/>
            <a:ext cx="187452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000" b="0" i="0">
                <a:solidFill>
                  <a:srgbClr val="334E76"/>
                </a:solidFill>
                <a:latin typeface="Segoe UI"/>
              </a:rPr>
              <a:t>كيف أبدأ خدمة تركيب؟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3511296"/>
            <a:ext cx="2057400" cy="777240"/>
          </a:xfrm>
          <a:prstGeom prst="roundRect">
            <a:avLst>
              <a:gd name="adj" fmla="val 18000"/>
            </a:avLst>
          </a:prstGeom>
          <a:solidFill>
            <a:srgbClr val="E9F4FC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84448"/>
            <a:ext cx="187452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000" b="0" i="0">
                <a:solidFill>
                  <a:srgbClr val="334E76"/>
                </a:solidFill>
                <a:latin typeface="Segoe UI"/>
              </a:rPr>
              <a:t>اطّلع على مراحل التركيب الست بالترتيب ابتداءً من طلب التركيب.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7393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00" b="1" i="0">
                <a:solidFill>
                  <a:srgbClr val="0C2A55"/>
                </a:solidFill>
                <a:latin typeface="Segoe UI"/>
              </a:rPr>
              <a:t>دليل خدمات ما بعد البيع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322576"/>
            <a:ext cx="3044952" cy="146304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2706624"/>
            <a:ext cx="2774289" cy="146304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090672"/>
            <a:ext cx="2503627" cy="146304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474720"/>
            <a:ext cx="2232964" cy="146304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014216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14216"/>
            <a:ext cx="338328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B7A99"/>
                </a:solidFill>
                <a:latin typeface="Segoe UI"/>
              </a:rPr>
              <a:t>📷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B7A99"/>
                </a:solidFill>
                <a:latin typeface="Segoe UI"/>
              </a:rPr>
              <a:t>مساحة لقطة شاشة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B7A99"/>
                </a:solidFill>
                <a:latin typeface="Segoe UI"/>
              </a:rPr>
              <a:t>من الموقع التعليمي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1417320"/>
            <a:ext cx="4617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00" b="0" i="0">
                <a:solidFill>
                  <a:srgbClr val="334E76"/>
                </a:solidFill>
                <a:latin typeface="Segoe UI"/>
              </a:rPr>
              <a:t>تم تطوير موقع تعليمي يشرح دورات عمل خدمات ما بعد البيع بصورة بصرية ومبسطة، كما تم تطوير مساعد ذكي يساعد الموظف على فهم الإجراءات والوصول إلى المعلومة المناسبة حسب الخدمة والحالة.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788920"/>
            <a:ext cx="4617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00" b="0" i="0">
                <a:solidFill>
                  <a:srgbClr val="334E76"/>
                </a:solidFill>
                <a:latin typeface="Segoe UI"/>
              </a:rPr>
              <a:t>العمل مستمر على تطوير المساعد الذكي وتوسيع معرفته وربطه بالمزيد من سيناريوهات العمل والبيانات التشغيلية، بهدف مساعدة الموظفين بشكل أسرع وتحسين جودة المتابعة واتخاذ القرار.</a:t>
            </a:r>
          </a:p>
        </p:txBody>
      </p:sp>
      <p:sp>
        <p:nvSpPr>
          <p:cNvPr id="28" name="Oval 27"/>
          <p:cNvSpPr/>
          <p:nvPr/>
        </p:nvSpPr>
        <p:spPr>
          <a:xfrm>
            <a:off x="11475720" y="4123944"/>
            <a:ext cx="219456" cy="219456"/>
          </a:xfrm>
          <a:prstGeom prst="ellipse">
            <a:avLst/>
          </a:prstGeom>
          <a:solidFill>
            <a:srgbClr val="1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75720" y="4114800"/>
            <a:ext cx="21945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096512"/>
            <a:ext cx="4206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200" b="0" i="0">
                <a:solidFill>
                  <a:srgbClr val="334E76"/>
                </a:solidFill>
                <a:latin typeface="Segoe UI"/>
              </a:rPr>
              <a:t>شرح دورات العمل بصورة تفاعلية وواضحة</a:t>
            </a:r>
          </a:p>
        </p:txBody>
      </p:sp>
      <p:sp>
        <p:nvSpPr>
          <p:cNvPr id="31" name="Oval 30"/>
          <p:cNvSpPr/>
          <p:nvPr/>
        </p:nvSpPr>
        <p:spPr>
          <a:xfrm>
            <a:off x="11475720" y="4526280"/>
            <a:ext cx="219456" cy="219456"/>
          </a:xfrm>
          <a:prstGeom prst="ellipse">
            <a:avLst/>
          </a:prstGeom>
          <a:solidFill>
            <a:srgbClr val="2FA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75720" y="4517136"/>
            <a:ext cx="21945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498848"/>
            <a:ext cx="4206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200" b="0" i="0">
                <a:solidFill>
                  <a:srgbClr val="334E76"/>
                </a:solidFill>
                <a:latin typeface="Segoe UI"/>
              </a:rPr>
              <a:t>مرجع دائم للموظف أثناء تنفيذ الخدمة</a:t>
            </a:r>
          </a:p>
        </p:txBody>
      </p:sp>
      <p:sp>
        <p:nvSpPr>
          <p:cNvPr id="34" name="Oval 33"/>
          <p:cNvSpPr/>
          <p:nvPr/>
        </p:nvSpPr>
        <p:spPr>
          <a:xfrm>
            <a:off x="11475720" y="4928616"/>
            <a:ext cx="219456" cy="219456"/>
          </a:xfrm>
          <a:prstGeom prst="ellipse">
            <a:avLst/>
          </a:prstGeom>
          <a:solidFill>
            <a:srgbClr val="1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75720" y="4919472"/>
            <a:ext cx="21945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901184"/>
            <a:ext cx="4206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200" b="0" i="0">
                <a:solidFill>
                  <a:srgbClr val="334E76"/>
                </a:solidFill>
                <a:latin typeface="Segoe UI"/>
              </a:rPr>
              <a:t>مساعد ذكي للإجابة عن أسئلة خدمات ما بعد البيع</a:t>
            </a:r>
          </a:p>
        </p:txBody>
      </p:sp>
      <p:sp>
        <p:nvSpPr>
          <p:cNvPr id="37" name="Oval 36"/>
          <p:cNvSpPr/>
          <p:nvPr/>
        </p:nvSpPr>
        <p:spPr>
          <a:xfrm>
            <a:off x="11475720" y="5330952"/>
            <a:ext cx="219456" cy="219456"/>
          </a:xfrm>
          <a:prstGeom prst="ellipse">
            <a:avLst/>
          </a:prstGeom>
          <a:solidFill>
            <a:srgbClr val="2FA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75720" y="5321808"/>
            <a:ext cx="21945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5303520"/>
            <a:ext cx="4206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200" b="0" i="0">
                <a:solidFill>
                  <a:srgbClr val="334E76"/>
                </a:solidFill>
                <a:latin typeface="Segoe UI"/>
              </a:rPr>
              <a:t>معرفة الخطوة التالية حسب حالة الطلب</a:t>
            </a:r>
          </a:p>
        </p:txBody>
      </p:sp>
      <p:sp>
        <p:nvSpPr>
          <p:cNvPr id="40" name="Oval 39"/>
          <p:cNvSpPr/>
          <p:nvPr/>
        </p:nvSpPr>
        <p:spPr>
          <a:xfrm>
            <a:off x="11475720" y="5733288"/>
            <a:ext cx="219456" cy="219456"/>
          </a:xfrm>
          <a:prstGeom prst="ellipse">
            <a:avLst/>
          </a:prstGeom>
          <a:solidFill>
            <a:srgbClr val="1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75720" y="5724144"/>
            <a:ext cx="21945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705856"/>
            <a:ext cx="4206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200" b="0" i="0">
                <a:solidFill>
                  <a:srgbClr val="334E76"/>
                </a:solidFill>
                <a:latin typeface="Segoe UI"/>
              </a:rPr>
              <a:t>تطوير مستمر لقدرات الـ AI وربطه بمزيد من البيانات والسيناريوهات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86600" y="62636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8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6263640"/>
            <a:ext cx="19202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00" b="1" i="0">
                <a:solidFill>
                  <a:srgbClr val="2FAF86"/>
                </a:solidFill>
                <a:latin typeface="Segoe UI"/>
              </a:rPr>
              <a:t>● متاح الآن للموظفين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528816"/>
            <a:ext cx="5029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1">
              <a:lnSpc>
                <a:spcPct val="100000"/>
              </a:lnSpc>
            </a:pPr>
            <a:r>
              <a:rPr sz="1000" b="0" i="0">
                <a:solidFill>
                  <a:srgbClr val="6B7A99"/>
                </a:solidFill>
                <a:latin typeface="Segoe UI"/>
              </a:rPr>
              <a:t>خدمات ما بعد البيع  ›  المساعد الذكي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6528816"/>
            <a:ext cx="491947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000" b="0" i="0">
                <a:solidFill>
                  <a:srgbClr val="6B7A99"/>
                </a:solidFill>
                <a:latin typeface="Segoe UI"/>
              </a:rPr>
              <a:t>خدمات أكثر .. لعملاء أسعد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1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01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Cairo"/>
              </a:rPr>
              <a:t>من تنظيم الخدمة… إلى بناء منظومة ذكية لما بعد البيع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97480"/>
            <a:ext cx="85313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00" b="0" i="0">
                <a:solidFill>
                  <a:srgbClr val="CFDDF0"/>
                </a:solidFill>
                <a:latin typeface="Segoe UI"/>
              </a:rPr>
              <a:t>رحلة تطوير مستمرة تهدف إلى رفع كفاءة التشغيل، تحسين تجربة العميل، توحيد المعرفة، والاستفادة من البيانات والذكاء الاصطناعي لبناء خدمات ما بعد بيع أكثر وضوحًا وكفاءة.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47" y="41605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95347" y="4160520"/>
            <a:ext cx="14173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Odoo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2667" y="4160520"/>
            <a:ext cx="2286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FB4D1"/>
                </a:solidFill>
                <a:latin typeface="Segoe UI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1267" y="41605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2FA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1267" y="4160520"/>
            <a:ext cx="14173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8587" y="4160520"/>
            <a:ext cx="2286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FB4D1"/>
                </a:solidFill>
                <a:latin typeface="Segoe UI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7187" y="41605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7187" y="4160520"/>
            <a:ext cx="14173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4507" y="4160520"/>
            <a:ext cx="2286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FB4D1"/>
                </a:solidFill>
                <a:latin typeface="Segoe UI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33107" y="41605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2FA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3107" y="4160520"/>
            <a:ext cx="14173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0427" y="4160520"/>
            <a:ext cx="2286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FB4D1"/>
                </a:solidFill>
                <a:latin typeface="Segoe UI"/>
              </a:rP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79027" y="41605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9027" y="4160520"/>
            <a:ext cx="14173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pic>
        <p:nvPicPr>
          <p:cNvPr id="20" name="Picture 19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067" y="5074920"/>
            <a:ext cx="1051560" cy="1082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